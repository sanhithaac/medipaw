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7" r:id="rId1"/>
    <p:sldMasterId id="2147483689" r:id="rId2"/>
    <p:sldMasterId id="2147483690" r:id="rId3"/>
    <p:sldMasterId id="2147483691" r:id="rId4"/>
  </p:sldMasterIdLst>
  <p:notesMasterIdLst>
    <p:notesMasterId r:id="rId19"/>
  </p:notesMasterIdLst>
  <p:sldIdLst>
    <p:sldId id="268" r:id="rId5"/>
    <p:sldId id="256" r:id="rId6"/>
    <p:sldId id="269" r:id="rId7"/>
    <p:sldId id="271" r:id="rId8"/>
    <p:sldId id="272" r:id="rId9"/>
    <p:sldId id="273" r:id="rId10"/>
    <p:sldId id="277" r:id="rId11"/>
    <p:sldId id="279" r:id="rId12"/>
    <p:sldId id="311" r:id="rId13"/>
    <p:sldId id="280" r:id="rId14"/>
    <p:sldId id="312" r:id="rId15"/>
    <p:sldId id="276" r:id="rId16"/>
    <p:sldId id="284" r:id="rId17"/>
    <p:sldId id="310"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11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505ECB-B5DA-7F81-7C3D-789B27D03BF5}" v="55" dt="2026-03-09T21:01:15.700"/>
  </p1510:revLst>
</p1510:revInfo>
</file>

<file path=ppt/tableStyles.xml><?xml version="1.0" encoding="utf-8"?>
<a:tblStyleLst xmlns:a="http://schemas.openxmlformats.org/drawingml/2006/main" def="{B229F12B-DD2F-434A-8BDD-88915C9BCD54}">
  <a:tblStyle styleId="{B229F12B-DD2F-434A-8BDD-88915C9BCD54}"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46"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AMPATI CHENCHU SANHITHA REDDY-[CB.SC.U4CSE23206]" userId="S::cb.sc.u4cse23206@cb.students.amrita.edu::172d3c24-b5a0-4aa5-a5ef-c1bc35de19c6" providerId="AD" clId="Web-{BB505ECB-B5DA-7F81-7C3D-789B27D03BF5}"/>
    <pc:docChg chg="modSld">
      <pc:chgData name="ALLAMPATI CHENCHU SANHITHA REDDY-[CB.SC.U4CSE23206]" userId="S::cb.sc.u4cse23206@cb.students.amrita.edu::172d3c24-b5a0-4aa5-a5ef-c1bc35de19c6" providerId="AD" clId="Web-{BB505ECB-B5DA-7F81-7C3D-789B27D03BF5}" dt="2026-03-09T21:01:15.700" v="46" actId="1076"/>
      <pc:docMkLst>
        <pc:docMk/>
      </pc:docMkLst>
      <pc:sldChg chg="addSp delSp modSp">
        <pc:chgData name="ALLAMPATI CHENCHU SANHITHA REDDY-[CB.SC.U4CSE23206]" userId="S::cb.sc.u4cse23206@cb.students.amrita.edu::172d3c24-b5a0-4aa5-a5ef-c1bc35de19c6" providerId="AD" clId="Web-{BB505ECB-B5DA-7F81-7C3D-789B27D03BF5}" dt="2026-03-09T21:01:15.700" v="46" actId="1076"/>
        <pc:sldMkLst>
          <pc:docMk/>
          <pc:sldMk cId="1069087875" sldId="307"/>
        </pc:sldMkLst>
        <pc:picChg chg="add mod">
          <ac:chgData name="ALLAMPATI CHENCHU SANHITHA REDDY-[CB.SC.U4CSE23206]" userId="S::cb.sc.u4cse23206@cb.students.amrita.edu::172d3c24-b5a0-4aa5-a5ef-c1bc35de19c6" providerId="AD" clId="Web-{BB505ECB-B5DA-7F81-7C3D-789B27D03BF5}" dt="2026-03-09T21:01:10.279" v="44" actId="1076"/>
          <ac:picMkLst>
            <pc:docMk/>
            <pc:sldMk cId="1069087875" sldId="307"/>
            <ac:picMk id="3" creationId="{21C15D3C-0AD7-B830-59B0-A0BF63AB2453}"/>
          </ac:picMkLst>
        </pc:picChg>
        <pc:picChg chg="add mod">
          <ac:chgData name="ALLAMPATI CHENCHU SANHITHA REDDY-[CB.SC.U4CSE23206]" userId="S::cb.sc.u4cse23206@cb.students.amrita.edu::172d3c24-b5a0-4aa5-a5ef-c1bc35de19c6" providerId="AD" clId="Web-{BB505ECB-B5DA-7F81-7C3D-789B27D03BF5}" dt="2026-03-09T21:01:15.700" v="46" actId="1076"/>
          <ac:picMkLst>
            <pc:docMk/>
            <pc:sldMk cId="1069087875" sldId="307"/>
            <ac:picMk id="4" creationId="{AAADDEDB-C741-1671-464A-084D38803B78}"/>
          </ac:picMkLst>
        </pc:picChg>
        <pc:picChg chg="del">
          <ac:chgData name="ALLAMPATI CHENCHU SANHITHA REDDY-[CB.SC.U4CSE23206]" userId="S::cb.sc.u4cse23206@cb.students.amrita.edu::172d3c24-b5a0-4aa5-a5ef-c1bc35de19c6" providerId="AD" clId="Web-{BB505ECB-B5DA-7F81-7C3D-789B27D03BF5}" dt="2026-03-09T20:59:55.726" v="31"/>
          <ac:picMkLst>
            <pc:docMk/>
            <pc:sldMk cId="1069087875" sldId="307"/>
            <ac:picMk id="23" creationId="{0A62750B-716F-EB7B-DEE4-A95CD8CF058E}"/>
          </ac:picMkLst>
        </pc:picChg>
        <pc:picChg chg="del">
          <ac:chgData name="ALLAMPATI CHENCHU SANHITHA REDDY-[CB.SC.U4CSE23206]" userId="S::cb.sc.u4cse23206@cb.students.amrita.edu::172d3c24-b5a0-4aa5-a5ef-c1bc35de19c6" providerId="AD" clId="Web-{BB505ECB-B5DA-7F81-7C3D-789B27D03BF5}" dt="2026-03-09T21:00:46.122" v="35"/>
          <ac:picMkLst>
            <pc:docMk/>
            <pc:sldMk cId="1069087875" sldId="307"/>
            <ac:picMk id="27" creationId="{A521D1F8-A67A-697D-E9C1-18EF242B93D3}"/>
          </ac:picMkLst>
        </pc:picChg>
      </pc:sldChg>
      <pc:sldChg chg="addSp delSp modSp">
        <pc:chgData name="ALLAMPATI CHENCHU SANHITHA REDDY-[CB.SC.U4CSE23206]" userId="S::cb.sc.u4cse23206@cb.students.amrita.edu::172d3c24-b5a0-4aa5-a5ef-c1bc35de19c6" providerId="AD" clId="Web-{BB505ECB-B5DA-7F81-7C3D-789B27D03BF5}" dt="2026-03-09T20:58:35.491" v="22" actId="14100"/>
        <pc:sldMkLst>
          <pc:docMk/>
          <pc:sldMk cId="78043914" sldId="308"/>
        </pc:sldMkLst>
        <pc:picChg chg="add mod">
          <ac:chgData name="ALLAMPATI CHENCHU SANHITHA REDDY-[CB.SC.U4CSE23206]" userId="S::cb.sc.u4cse23206@cb.students.amrita.edu::172d3c24-b5a0-4aa5-a5ef-c1bc35de19c6" providerId="AD" clId="Web-{BB505ECB-B5DA-7F81-7C3D-789B27D03BF5}" dt="2026-03-09T20:56:33.302" v="4" actId="14100"/>
          <ac:picMkLst>
            <pc:docMk/>
            <pc:sldMk cId="78043914" sldId="308"/>
            <ac:picMk id="3" creationId="{B8511C67-4B69-99DC-8688-8E81BF767BD2}"/>
          </ac:picMkLst>
        </pc:picChg>
        <pc:picChg chg="del">
          <ac:chgData name="ALLAMPATI CHENCHU SANHITHA REDDY-[CB.SC.U4CSE23206]" userId="S::cb.sc.u4cse23206@cb.students.amrita.edu::172d3c24-b5a0-4aa5-a5ef-c1bc35de19c6" providerId="AD" clId="Web-{BB505ECB-B5DA-7F81-7C3D-789B27D03BF5}" dt="2026-03-09T20:58:24.037" v="18"/>
          <ac:picMkLst>
            <pc:docMk/>
            <pc:sldMk cId="78043914" sldId="308"/>
            <ac:picMk id="4" creationId="{FA7BC889-AD60-908B-9287-1E165911D441}"/>
          </ac:picMkLst>
        </pc:picChg>
        <pc:picChg chg="add mod">
          <ac:chgData name="ALLAMPATI CHENCHU SANHITHA REDDY-[CB.SC.U4CSE23206]" userId="S::cb.sc.u4cse23206@cb.students.amrita.edu::172d3c24-b5a0-4aa5-a5ef-c1bc35de19c6" providerId="AD" clId="Web-{BB505ECB-B5DA-7F81-7C3D-789B27D03BF5}" dt="2026-03-09T20:57:48.350" v="17" actId="14100"/>
          <ac:picMkLst>
            <pc:docMk/>
            <pc:sldMk cId="78043914" sldId="308"/>
            <ac:picMk id="5" creationId="{F8DF05B7-14E3-8858-7496-4056F07302D4}"/>
          </ac:picMkLst>
        </pc:picChg>
        <pc:picChg chg="del">
          <ac:chgData name="ALLAMPATI CHENCHU SANHITHA REDDY-[CB.SC.U4CSE23206]" userId="S::cb.sc.u4cse23206@cb.students.amrita.edu::172d3c24-b5a0-4aa5-a5ef-c1bc35de19c6" providerId="AD" clId="Web-{BB505ECB-B5DA-7F81-7C3D-789B27D03BF5}" dt="2026-03-09T20:56:37.989" v="5"/>
          <ac:picMkLst>
            <pc:docMk/>
            <pc:sldMk cId="78043914" sldId="308"/>
            <ac:picMk id="6" creationId="{4981A15C-DA02-7856-9AD1-0A981766BA37}"/>
          </ac:picMkLst>
        </pc:picChg>
        <pc:picChg chg="add mod">
          <ac:chgData name="ALLAMPATI CHENCHU SANHITHA REDDY-[CB.SC.U4CSE23206]" userId="S::cb.sc.u4cse23206@cb.students.amrita.edu::172d3c24-b5a0-4aa5-a5ef-c1bc35de19c6" providerId="AD" clId="Web-{BB505ECB-B5DA-7F81-7C3D-789B27D03BF5}" dt="2026-03-09T20:57:44.725" v="16" actId="14100"/>
          <ac:picMkLst>
            <pc:docMk/>
            <pc:sldMk cId="78043914" sldId="308"/>
            <ac:picMk id="7" creationId="{D700BEEB-5F09-3AF8-1EB0-06A7929AC4B3}"/>
          </ac:picMkLst>
        </pc:picChg>
        <pc:picChg chg="del">
          <ac:chgData name="ALLAMPATI CHENCHU SANHITHA REDDY-[CB.SC.U4CSE23206]" userId="S::cb.sc.u4cse23206@cb.students.amrita.edu::172d3c24-b5a0-4aa5-a5ef-c1bc35de19c6" providerId="AD" clId="Web-{BB505ECB-B5DA-7F81-7C3D-789B27D03BF5}" dt="2026-03-09T20:55:47.098" v="0"/>
          <ac:picMkLst>
            <pc:docMk/>
            <pc:sldMk cId="78043914" sldId="308"/>
            <ac:picMk id="8" creationId="{89966FCA-CA25-2A72-FB50-6D8CACA11068}"/>
          </ac:picMkLst>
        </pc:picChg>
        <pc:picChg chg="add mod">
          <ac:chgData name="ALLAMPATI CHENCHU SANHITHA REDDY-[CB.SC.U4CSE23206]" userId="S::cb.sc.u4cse23206@cb.students.amrita.edu::172d3c24-b5a0-4aa5-a5ef-c1bc35de19c6" providerId="AD" clId="Web-{BB505ECB-B5DA-7F81-7C3D-789B27D03BF5}" dt="2026-03-09T20:58:35.491" v="22" actId="14100"/>
          <ac:picMkLst>
            <pc:docMk/>
            <pc:sldMk cId="78043914" sldId="308"/>
            <ac:picMk id="9" creationId="{9F2A2164-652E-B2C6-3F77-C37FE22E191D}"/>
          </ac:picMkLst>
        </pc:picChg>
        <pc:picChg chg="del">
          <ac:chgData name="ALLAMPATI CHENCHU SANHITHA REDDY-[CB.SC.U4CSE23206]" userId="S::cb.sc.u4cse23206@cb.students.amrita.edu::172d3c24-b5a0-4aa5-a5ef-c1bc35de19c6" providerId="AD" clId="Web-{BB505ECB-B5DA-7F81-7C3D-789B27D03BF5}" dt="2026-03-09T20:57:19.021" v="11"/>
          <ac:picMkLst>
            <pc:docMk/>
            <pc:sldMk cId="78043914" sldId="308"/>
            <ac:picMk id="10" creationId="{CEC49145-DC6A-8200-A8CD-D4C68A35E360}"/>
          </ac:picMkLst>
        </pc:picChg>
      </pc:sldChg>
      <pc:sldChg chg="addSp delSp modSp">
        <pc:chgData name="ALLAMPATI CHENCHU SANHITHA REDDY-[CB.SC.U4CSE23206]" userId="S::cb.sc.u4cse23206@cb.students.amrita.edu::172d3c24-b5a0-4aa5-a5ef-c1bc35de19c6" providerId="AD" clId="Web-{BB505ECB-B5DA-7F81-7C3D-789B27D03BF5}" dt="2026-03-09T20:59:49.288" v="30" actId="1076"/>
        <pc:sldMkLst>
          <pc:docMk/>
          <pc:sldMk cId="2096054965" sldId="309"/>
        </pc:sldMkLst>
        <pc:picChg chg="add mod">
          <ac:chgData name="ALLAMPATI CHENCHU SANHITHA REDDY-[CB.SC.U4CSE23206]" userId="S::cb.sc.u4cse23206@cb.students.amrita.edu::172d3c24-b5a0-4aa5-a5ef-c1bc35de19c6" providerId="AD" clId="Web-{BB505ECB-B5DA-7F81-7C3D-789B27D03BF5}" dt="2026-03-09T20:59:16.288" v="26" actId="1076"/>
          <ac:picMkLst>
            <pc:docMk/>
            <pc:sldMk cId="2096054965" sldId="309"/>
            <ac:picMk id="3" creationId="{56077C63-C732-60BE-D57B-2EFFA8699977}"/>
          </ac:picMkLst>
        </pc:picChg>
        <pc:picChg chg="add mod">
          <ac:chgData name="ALLAMPATI CHENCHU SANHITHA REDDY-[CB.SC.U4CSE23206]" userId="S::cb.sc.u4cse23206@cb.students.amrita.edu::172d3c24-b5a0-4aa5-a5ef-c1bc35de19c6" providerId="AD" clId="Web-{BB505ECB-B5DA-7F81-7C3D-789B27D03BF5}" dt="2026-03-09T20:59:49.288" v="30" actId="1076"/>
          <ac:picMkLst>
            <pc:docMk/>
            <pc:sldMk cId="2096054965" sldId="309"/>
            <ac:picMk id="4" creationId="{BAB43737-548C-ABB8-527D-4AC3495A3B22}"/>
          </ac:picMkLst>
        </pc:picChg>
        <pc:picChg chg="del">
          <ac:chgData name="ALLAMPATI CHENCHU SANHITHA REDDY-[CB.SC.U4CSE23206]" userId="S::cb.sc.u4cse23206@cb.students.amrita.edu::172d3c24-b5a0-4aa5-a5ef-c1bc35de19c6" providerId="AD" clId="Web-{BB505ECB-B5DA-7F81-7C3D-789B27D03BF5}" dt="2026-03-09T20:59:41.179" v="27"/>
          <ac:picMkLst>
            <pc:docMk/>
            <pc:sldMk cId="2096054965" sldId="309"/>
            <ac:picMk id="5" creationId="{78E9AFDA-D213-66A5-D773-7EFFEE1EB864}"/>
          </ac:picMkLst>
        </pc:picChg>
        <pc:picChg chg="del">
          <ac:chgData name="ALLAMPATI CHENCHU SANHITHA REDDY-[CB.SC.U4CSE23206]" userId="S::cb.sc.u4cse23206@cb.students.amrita.edu::172d3c24-b5a0-4aa5-a5ef-c1bc35de19c6" providerId="AD" clId="Web-{BB505ECB-B5DA-7F81-7C3D-789B27D03BF5}" dt="2026-03-09T20:58:49.881" v="23"/>
          <ac:picMkLst>
            <pc:docMk/>
            <pc:sldMk cId="2096054965" sldId="309"/>
            <ac:picMk id="9" creationId="{07249561-8385-D1B1-BCFB-C44D41896F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4"/>
        <p:cNvGrpSpPr/>
        <p:nvPr/>
      </p:nvGrpSpPr>
      <p:grpSpPr>
        <a:xfrm>
          <a:off x="0" y="0"/>
          <a:ext cx="0" cy="0"/>
          <a:chOff x="0" y="0"/>
          <a:chExt cx="0" cy="0"/>
        </a:xfrm>
      </p:grpSpPr>
      <p:sp>
        <p:nvSpPr>
          <p:cNvPr id="745" name="Google Shape;745;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6" name="Google Shape;746;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7" name="Google Shape;747;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748" name="Google Shape;748;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49" name="Google Shape;749;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0" name="Google Shape;750;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5" name="Google Shape;102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60"/>
        <p:cNvGrpSpPr/>
        <p:nvPr/>
      </p:nvGrpSpPr>
      <p:grpSpPr>
        <a:xfrm>
          <a:off x="0" y="0"/>
          <a:ext cx="0" cy="0"/>
          <a:chOff x="0" y="0"/>
          <a:chExt cx="0" cy="0"/>
        </a:xfrm>
      </p:grpSpPr>
      <p:sp>
        <p:nvSpPr>
          <p:cNvPr id="761" name="Google Shape;761;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2" name="Google Shape;76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63" name="Google Shape;763;p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4" name="Google Shape;764;p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5" name="Google Shape;765;p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2" name="Google Shape;812;p10"/>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19"/>
        <p:cNvGrpSpPr/>
        <p:nvPr/>
      </p:nvGrpSpPr>
      <p:grpSpPr>
        <a:xfrm>
          <a:off x="0" y="0"/>
          <a:ext cx="0" cy="0"/>
          <a:chOff x="0" y="0"/>
          <a:chExt cx="0" cy="0"/>
        </a:xfrm>
      </p:grpSpPr>
      <p:sp>
        <p:nvSpPr>
          <p:cNvPr id="920" name="Google Shape;920;p28"/>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33"/>
        <p:cNvGrpSpPr/>
        <p:nvPr/>
      </p:nvGrpSpPr>
      <p:grpSpPr>
        <a:xfrm>
          <a:off x="0" y="0"/>
          <a:ext cx="0" cy="0"/>
          <a:chOff x="0" y="0"/>
          <a:chExt cx="0" cy="0"/>
        </a:xfrm>
      </p:grpSpPr>
      <p:sp>
        <p:nvSpPr>
          <p:cNvPr id="934" name="Google Shape;934;p30"/>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935"/>
        <p:cNvGrpSpPr/>
        <p:nvPr/>
      </p:nvGrpSpPr>
      <p:grpSpPr>
        <a:xfrm>
          <a:off x="0" y="0"/>
          <a:ext cx="0" cy="0"/>
          <a:chOff x="0" y="0"/>
          <a:chExt cx="0" cy="0"/>
        </a:xfrm>
      </p:grpSpPr>
      <p:sp>
        <p:nvSpPr>
          <p:cNvPr id="936" name="Google Shape;936;p3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7" name="Google Shape;937;p3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938" name="Google Shape;938;p3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9" name="Google Shape;939;p3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40" name="Google Shape;940;p3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50"/>
        <p:cNvGrpSpPr/>
        <p:nvPr/>
      </p:nvGrpSpPr>
      <p:grpSpPr>
        <a:xfrm>
          <a:off x="0" y="0"/>
          <a:ext cx="0" cy="0"/>
          <a:chOff x="0" y="0"/>
          <a:chExt cx="0" cy="0"/>
        </a:xfrm>
      </p:grpSpPr>
      <p:sp>
        <p:nvSpPr>
          <p:cNvPr id="951" name="Google Shape;951;p3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2" name="Google Shape;952;p3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953" name="Google Shape;953;p3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4" name="Google Shape;954;p3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5" name="Google Shape;955;p3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56"/>
        <p:cNvGrpSpPr/>
        <p:nvPr/>
      </p:nvGrpSpPr>
      <p:grpSpPr>
        <a:xfrm>
          <a:off x="0" y="0"/>
          <a:ext cx="0" cy="0"/>
          <a:chOff x="0" y="0"/>
          <a:chExt cx="0" cy="0"/>
        </a:xfrm>
      </p:grpSpPr>
      <p:sp>
        <p:nvSpPr>
          <p:cNvPr id="957" name="Google Shape;957;p34"/>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8" name="Google Shape;958;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59" name="Google Shape;959;p3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0" name="Google Shape;960;p3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1" name="Google Shape;961;p3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62"/>
        <p:cNvGrpSpPr/>
        <p:nvPr/>
      </p:nvGrpSpPr>
      <p:grpSpPr>
        <a:xfrm>
          <a:off x="0" y="0"/>
          <a:ext cx="0" cy="0"/>
          <a:chOff x="0" y="0"/>
          <a:chExt cx="0" cy="0"/>
        </a:xfrm>
      </p:grpSpPr>
      <p:sp>
        <p:nvSpPr>
          <p:cNvPr id="963" name="Google Shape;963;p35"/>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64" name="Google Shape;964;p35"/>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65" name="Google Shape;965;p3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6" name="Google Shape;966;p3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7" name="Google Shape;967;p3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68"/>
        <p:cNvGrpSpPr/>
        <p:nvPr/>
      </p:nvGrpSpPr>
      <p:grpSpPr>
        <a:xfrm>
          <a:off x="0" y="0"/>
          <a:ext cx="0" cy="0"/>
          <a:chOff x="0" y="0"/>
          <a:chExt cx="0" cy="0"/>
        </a:xfrm>
      </p:grpSpPr>
      <p:sp>
        <p:nvSpPr>
          <p:cNvPr id="969" name="Google Shape;969;p3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70" name="Google Shape;970;p36"/>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1" name="Google Shape;971;p36"/>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2" name="Google Shape;972;p3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3" name="Google Shape;973;p3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4" name="Google Shape;974;p3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75"/>
        <p:cNvGrpSpPr/>
        <p:nvPr/>
      </p:nvGrpSpPr>
      <p:grpSpPr>
        <a:xfrm>
          <a:off x="0" y="0"/>
          <a:ext cx="0" cy="0"/>
          <a:chOff x="0" y="0"/>
          <a:chExt cx="0" cy="0"/>
        </a:xfrm>
      </p:grpSpPr>
      <p:sp>
        <p:nvSpPr>
          <p:cNvPr id="976" name="Google Shape;976;p37"/>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77" name="Google Shape;977;p37"/>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78" name="Google Shape;978;p37"/>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9" name="Google Shape;979;p37"/>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80" name="Google Shape;980;p37"/>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81" name="Google Shape;981;p3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2" name="Google Shape;982;p3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3" name="Google Shape;983;p3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84"/>
        <p:cNvGrpSpPr/>
        <p:nvPr/>
      </p:nvGrpSpPr>
      <p:grpSpPr>
        <a:xfrm>
          <a:off x="0" y="0"/>
          <a:ext cx="0" cy="0"/>
          <a:chOff x="0" y="0"/>
          <a:chExt cx="0" cy="0"/>
        </a:xfrm>
      </p:grpSpPr>
      <p:sp>
        <p:nvSpPr>
          <p:cNvPr id="985" name="Google Shape;985;p38"/>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86" name="Google Shape;986;p3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7" name="Google Shape;987;p3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8" name="Google Shape;988;p3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89"/>
        <p:cNvGrpSpPr/>
        <p:nvPr/>
      </p:nvGrpSpPr>
      <p:grpSpPr>
        <a:xfrm>
          <a:off x="0" y="0"/>
          <a:ext cx="0" cy="0"/>
          <a:chOff x="0" y="0"/>
          <a:chExt cx="0" cy="0"/>
        </a:xfrm>
      </p:grpSpPr>
      <p:sp>
        <p:nvSpPr>
          <p:cNvPr id="990" name="Google Shape;990;p3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1" name="Google Shape;991;p3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2" name="Google Shape;992;p3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3"/>
        <p:cNvGrpSpPr/>
        <p:nvPr/>
      </p:nvGrpSpPr>
      <p:grpSpPr>
        <a:xfrm>
          <a:off x="0" y="0"/>
          <a:ext cx="0" cy="0"/>
          <a:chOff x="0" y="0"/>
          <a:chExt cx="0" cy="0"/>
        </a:xfrm>
      </p:grpSpPr>
      <p:sp>
        <p:nvSpPr>
          <p:cNvPr id="994" name="Google Shape;994;p4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95" name="Google Shape;995;p40"/>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996" name="Google Shape;996;p4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997" name="Google Shape;997;p4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8" name="Google Shape;998;p4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9" name="Google Shape;999;p4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00"/>
        <p:cNvGrpSpPr/>
        <p:nvPr/>
      </p:nvGrpSpPr>
      <p:grpSpPr>
        <a:xfrm>
          <a:off x="0" y="0"/>
          <a:ext cx="0" cy="0"/>
          <a:chOff x="0" y="0"/>
          <a:chExt cx="0" cy="0"/>
        </a:xfrm>
      </p:grpSpPr>
      <p:sp>
        <p:nvSpPr>
          <p:cNvPr id="1001" name="Google Shape;1001;p4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2" name="Google Shape;1002;p41"/>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1003" name="Google Shape;1003;p4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1004" name="Google Shape;1004;p4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5" name="Google Shape;1005;p4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6" name="Google Shape;1006;p4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07"/>
        <p:cNvGrpSpPr/>
        <p:nvPr/>
      </p:nvGrpSpPr>
      <p:grpSpPr>
        <a:xfrm>
          <a:off x="0" y="0"/>
          <a:ext cx="0" cy="0"/>
          <a:chOff x="0" y="0"/>
          <a:chExt cx="0" cy="0"/>
        </a:xfrm>
      </p:grpSpPr>
      <p:sp>
        <p:nvSpPr>
          <p:cNvPr id="1008" name="Google Shape;1008;p4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9" name="Google Shape;1009;p42"/>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010" name="Google Shape;1010;p4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1" name="Google Shape;1011;p4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2" name="Google Shape;1012;p4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13"/>
        <p:cNvGrpSpPr/>
        <p:nvPr/>
      </p:nvGrpSpPr>
      <p:grpSpPr>
        <a:xfrm>
          <a:off x="0" y="0"/>
          <a:ext cx="0" cy="0"/>
          <a:chOff x="0" y="0"/>
          <a:chExt cx="0" cy="0"/>
        </a:xfrm>
      </p:grpSpPr>
      <p:sp>
        <p:nvSpPr>
          <p:cNvPr id="1014" name="Google Shape;1014;p43"/>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15" name="Google Shape;1015;p43"/>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016" name="Google Shape;1016;p4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7" name="Google Shape;1017;p4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8" name="Google Shape;1018;p4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19"/>
        <p:cNvGrpSpPr/>
        <p:nvPr/>
      </p:nvGrpSpPr>
      <p:grpSpPr>
        <a:xfrm>
          <a:off x="0" y="0"/>
          <a:ext cx="0" cy="0"/>
          <a:chOff x="0" y="0"/>
          <a:chExt cx="0" cy="0"/>
        </a:xfrm>
      </p:grpSpPr>
      <p:sp>
        <p:nvSpPr>
          <p:cNvPr id="1020" name="Google Shape;1020;p44"/>
          <p:cNvSpPr txBox="1">
            <a:spLocks noGrp="1"/>
          </p:cNvSpPr>
          <p:nvPr>
            <p:ph type="title"/>
          </p:nvPr>
        </p:nvSpPr>
        <p:spPr>
          <a:xfrm>
            <a:off x="415600" y="593367"/>
            <a:ext cx="11360700" cy="763500"/>
          </a:xfrm>
          <a:prstGeom prst="rect">
            <a:avLst/>
          </a:prstGeom>
          <a:noFill/>
          <a:ln>
            <a:noFill/>
          </a:ln>
        </p:spPr>
        <p:txBody>
          <a:bodyPr spcFirstLastPara="1" wrap="square" lIns="90000" tIns="46800" rIns="90000" bIns="46800" anchor="b" anchorCtr="0">
            <a:noAutofit/>
          </a:bodyPr>
          <a:lstStyle>
            <a:lvl1pPr lvl="0" algn="l" rtl="0">
              <a:lnSpc>
                <a:spcPct val="90000"/>
              </a:lnSpc>
              <a:spcBef>
                <a:spcPts val="0"/>
              </a:spcBef>
              <a:spcAft>
                <a:spcPts val="0"/>
              </a:spcAft>
              <a:buClr>
                <a:schemeClr val="dk1"/>
              </a:buClr>
              <a:buSzPts val="1400"/>
              <a:buFont typeface="Poppin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21" name="Google Shape;1021;p44"/>
          <p:cNvSpPr txBox="1">
            <a:spLocks noGrp="1"/>
          </p:cNvSpPr>
          <p:nvPr>
            <p:ph type="body" idx="1"/>
          </p:nvPr>
        </p:nvSpPr>
        <p:spPr>
          <a:xfrm>
            <a:off x="415600" y="1536633"/>
            <a:ext cx="11360700" cy="4555200"/>
          </a:xfrm>
          <a:prstGeom prst="rect">
            <a:avLst/>
          </a:prstGeom>
          <a:noFill/>
          <a:ln>
            <a:noFill/>
          </a:ln>
        </p:spPr>
        <p:txBody>
          <a:bodyPr spcFirstLastPara="1" wrap="square" lIns="90000" tIns="46800" rIns="90000" bIns="46800" anchor="t" anchorCtr="0">
            <a:noAutofit/>
          </a:bodyPr>
          <a:lstStyle>
            <a:lvl1pPr marL="457200" lvl="0" indent="-337883" algn="l" rtl="0">
              <a:lnSpc>
                <a:spcPct val="90000"/>
              </a:lnSpc>
              <a:spcBef>
                <a:spcPts val="675"/>
              </a:spcBef>
              <a:spcAft>
                <a:spcPts val="0"/>
              </a:spcAft>
              <a:buClr>
                <a:schemeClr val="dk1"/>
              </a:buClr>
              <a:buSzPts val="1721"/>
              <a:buChar char="⚫"/>
              <a:defRPr/>
            </a:lvl1pPr>
            <a:lvl2pPr marL="914400" lvl="1" indent="-301942" algn="l" rtl="0">
              <a:lnSpc>
                <a:spcPct val="90000"/>
              </a:lnSpc>
              <a:spcBef>
                <a:spcPts val="551"/>
              </a:spcBef>
              <a:spcAft>
                <a:spcPts val="0"/>
              </a:spcAft>
              <a:buClr>
                <a:schemeClr val="dk1"/>
              </a:buClr>
              <a:buSzPts val="1155"/>
              <a:buChar char="⚪"/>
              <a:defRPr/>
            </a:lvl2pPr>
            <a:lvl3pPr marL="1371600" lvl="2" indent="-300037" algn="l" rtl="0">
              <a:lnSpc>
                <a:spcPct val="90000"/>
              </a:lnSpc>
              <a:spcBef>
                <a:spcPts val="500"/>
              </a:spcBef>
              <a:spcAft>
                <a:spcPts val="0"/>
              </a:spcAft>
              <a:buClr>
                <a:schemeClr val="dk1"/>
              </a:buClr>
              <a:buSzPts val="1125"/>
              <a:buChar char="⯍"/>
              <a:defRPr/>
            </a:lvl3pPr>
            <a:lvl4pPr marL="1828800" lvl="3" indent="-295275" algn="l" rtl="0">
              <a:lnSpc>
                <a:spcPct val="90000"/>
              </a:lnSpc>
              <a:spcBef>
                <a:spcPts val="500"/>
              </a:spcBef>
              <a:spcAft>
                <a:spcPts val="0"/>
              </a:spcAft>
              <a:buClr>
                <a:schemeClr val="dk1"/>
              </a:buClr>
              <a:buSzPts val="1050"/>
              <a:buChar char="?"/>
              <a:defRPr/>
            </a:lvl4pPr>
            <a:lvl5pPr marL="2286000" lvl="4" indent="-323850" algn="l" rtl="0">
              <a:lnSpc>
                <a:spcPct val="90000"/>
              </a:lnSpc>
              <a:spcBef>
                <a:spcPts val="500"/>
              </a:spcBef>
              <a:spcAft>
                <a:spcPts val="0"/>
              </a:spcAft>
              <a:buClr>
                <a:schemeClr val="dk1"/>
              </a:buClr>
              <a:buSzPts val="1500"/>
              <a:buChar char="•"/>
              <a:defRPr/>
            </a:lvl5pPr>
            <a:lvl6pPr marL="2743200" lvl="5" indent="-323850" algn="l" rtl="0">
              <a:lnSpc>
                <a:spcPct val="90000"/>
              </a:lnSpc>
              <a:spcBef>
                <a:spcPts val="500"/>
              </a:spcBef>
              <a:spcAft>
                <a:spcPts val="0"/>
              </a:spcAft>
              <a:buClr>
                <a:schemeClr val="dk1"/>
              </a:buClr>
              <a:buSzPts val="1500"/>
              <a:buChar char="•"/>
              <a:defRPr/>
            </a:lvl6pPr>
            <a:lvl7pPr marL="3200400" lvl="6" indent="-323850" algn="l" rtl="0">
              <a:lnSpc>
                <a:spcPct val="90000"/>
              </a:lnSpc>
              <a:spcBef>
                <a:spcPts val="500"/>
              </a:spcBef>
              <a:spcAft>
                <a:spcPts val="0"/>
              </a:spcAft>
              <a:buClr>
                <a:schemeClr val="dk1"/>
              </a:buClr>
              <a:buSzPts val="1500"/>
              <a:buChar char="•"/>
              <a:defRPr/>
            </a:lvl7pPr>
            <a:lvl8pPr marL="3657600" lvl="7" indent="-323850" algn="l" rtl="0">
              <a:lnSpc>
                <a:spcPct val="90000"/>
              </a:lnSpc>
              <a:spcBef>
                <a:spcPts val="500"/>
              </a:spcBef>
              <a:spcAft>
                <a:spcPts val="0"/>
              </a:spcAft>
              <a:buClr>
                <a:schemeClr val="dk1"/>
              </a:buClr>
              <a:buSzPts val="1500"/>
              <a:buChar char="•"/>
              <a:defRPr/>
            </a:lvl8pPr>
            <a:lvl9pPr marL="4114800" lvl="8" indent="-323850" algn="l" rtl="0">
              <a:lnSpc>
                <a:spcPct val="90000"/>
              </a:lnSpc>
              <a:spcBef>
                <a:spcPts val="500"/>
              </a:spcBef>
              <a:spcAft>
                <a:spcPts val="0"/>
              </a:spcAft>
              <a:buClr>
                <a:schemeClr val="dk1"/>
              </a:buClr>
              <a:buSzPts val="1500"/>
              <a:buChar char="•"/>
              <a:defRPr/>
            </a:lvl9pPr>
          </a:lstStyle>
          <a:p>
            <a:endParaRPr/>
          </a:p>
        </p:txBody>
      </p:sp>
      <p:sp>
        <p:nvSpPr>
          <p:cNvPr id="1022" name="Google Shape;1022;p44"/>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Autofit/>
          </a:bodyPr>
          <a:lstStyle>
            <a:lvl1pPr marL="0" marR="0" lvl="0"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10"/>
        <p:cNvGrpSpPr/>
        <p:nvPr/>
      </p:nvGrpSpPr>
      <p:grpSpPr>
        <a:xfrm>
          <a:off x="0" y="0"/>
          <a:ext cx="0" cy="0"/>
          <a:chOff x="0" y="0"/>
          <a:chExt cx="0" cy="0"/>
        </a:xfrm>
      </p:grpSpPr>
      <p:sp>
        <p:nvSpPr>
          <p:cNvPr id="911" name="Google Shape;911;p2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12" name="Google Shape;912;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3" name="Google Shape;913;p2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4" name="Google Shape;914;p2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5" name="Google Shape;915;p2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16" name="Google Shape;916;p27"/>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17" name="Google Shape;917;p27"/>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18" name="Google Shape;918;p27"/>
          <p:cNvPicPr preferRelativeResize="0"/>
          <p:nvPr/>
        </p:nvPicPr>
        <p:blipFill rotWithShape="1">
          <a:blip r:embed="rId3">
            <a:alphaModFix/>
          </a:blip>
          <a:srcRect/>
          <a:stretch/>
        </p:blipFill>
        <p:spPr>
          <a:xfrm>
            <a:off x="3451862" y="2544174"/>
            <a:ext cx="4801940" cy="153343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1"/>
        <p:cNvGrpSpPr/>
        <p:nvPr/>
      </p:nvGrpSpPr>
      <p:grpSpPr>
        <a:xfrm>
          <a:off x="0" y="0"/>
          <a:ext cx="0" cy="0"/>
          <a:chOff x="0" y="0"/>
          <a:chExt cx="0" cy="0"/>
        </a:xfrm>
      </p:grpSpPr>
      <p:sp>
        <p:nvSpPr>
          <p:cNvPr id="922" name="Google Shape;922;p2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23" name="Google Shape;923;p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4" name="Google Shape;924;p2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5" name="Google Shape;925;p2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6" name="Google Shape;926;p2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27" name="Google Shape;927;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28" name="Google Shape;928;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29" name="Google Shape;929;p29"/>
          <p:cNvPicPr preferRelativeResize="0"/>
          <p:nvPr/>
        </p:nvPicPr>
        <p:blipFill rotWithShape="1">
          <a:blip r:embed="rId4">
            <a:alphaModFix/>
          </a:blip>
          <a:srcRect/>
          <a:stretch/>
        </p:blipFill>
        <p:spPr>
          <a:xfrm>
            <a:off x="3451862" y="2544174"/>
            <a:ext cx="4801940" cy="1533432"/>
          </a:xfrm>
          <a:prstGeom prst="rect">
            <a:avLst/>
          </a:prstGeom>
          <a:noFill/>
          <a:ln>
            <a:noFill/>
          </a:ln>
        </p:spPr>
      </p:pic>
      <p:sp>
        <p:nvSpPr>
          <p:cNvPr id="930" name="Google Shape;930;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31" name="Google Shape;931;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32" name="Google Shape;932;p29"/>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3" r:id="rId1"/>
    <p:sldLayoutId id="214748367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1"/>
        <p:cNvGrpSpPr/>
        <p:nvPr/>
      </p:nvGrpSpPr>
      <p:grpSpPr>
        <a:xfrm>
          <a:off x="0" y="0"/>
          <a:ext cx="0" cy="0"/>
          <a:chOff x="0" y="0"/>
          <a:chExt cx="0" cy="0"/>
        </a:xfrm>
      </p:grpSpPr>
      <p:sp>
        <p:nvSpPr>
          <p:cNvPr id="942" name="Google Shape;942;p32"/>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3" name="Google Shape;943;p3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44" name="Google Shape;944;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5" name="Google Shape;945;p3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6" name="Google Shape;946;p3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7" name="Google Shape;947;p3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48" name="Google Shape;948;p32"/>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49" name="Google Shape;949;p32"/>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thub.com/sanhithaac/MediPaw"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vetster.com/" TargetMode="External"/><Relationship Id="rId7" Type="http://schemas.openxmlformats.org/officeDocument/2006/relationships/image" Target="../media/image3.png"/><Relationship Id="rId2" Type="http://schemas.openxmlformats.org/officeDocument/2006/relationships/hyperlink" Target="https://petriage.com/" TargetMode="External"/><Relationship Id="rId1" Type="http://schemas.openxmlformats.org/officeDocument/2006/relationships/slideLayout" Target="../slideLayouts/slideLayout2.xml"/><Relationship Id="rId6" Type="http://schemas.openxmlformats.org/officeDocument/2006/relationships/hyperlink" Target="https://whiskerwellness.com/" TargetMode="External"/><Relationship Id="rId5" Type="http://schemas.openxmlformats.org/officeDocument/2006/relationships/hyperlink" Target="https://aivetdoctor.com/" TargetMode="External"/><Relationship Id="rId4" Type="http://schemas.openxmlformats.org/officeDocument/2006/relationships/hyperlink" Target="https://www.vet-ai.com/symptomchecker"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universe.roboflow.com/search?q=tick+detection" TargetMode="External"/><Relationship Id="rId3" Type="http://schemas.openxmlformats.org/officeDocument/2006/relationships/hyperlink" Target="https://www.kaggle.com/datasets/yashmotiani/dogs-skin-disease-dataset" TargetMode="External"/><Relationship Id="rId7" Type="http://schemas.openxmlformats.org/officeDocument/2006/relationships/hyperlink" Target="https://universe.roboflow.com/moriahai/dog-dental" TargetMode="External"/><Relationship Id="rId12" Type="http://schemas.openxmlformats.org/officeDocument/2006/relationships/hyperlink" Target="https://zenodo.org/" TargetMode="External"/><Relationship Id="rId2" Type="http://schemas.openxmlformats.org/officeDocument/2006/relationships/hyperlink" Target="https://www.kaggle.com/datasets/youssefmohmmed/dogs-skin-diseases-image-dataset" TargetMode="External"/><Relationship Id="rId1" Type="http://schemas.openxmlformats.org/officeDocument/2006/relationships/slideLayout" Target="../slideLayouts/slideLayout1.xml"/><Relationship Id="rId6" Type="http://schemas.openxmlformats.org/officeDocument/2006/relationships/hyperlink" Target="https://universe.roboflow.com/jonathan-chandra/dog-eye-problems-detection" TargetMode="External"/><Relationship Id="rId11" Type="http://schemas.openxmlformats.org/officeDocument/2006/relationships/hyperlink" Target="https://data.mendeley.com/" TargetMode="External"/><Relationship Id="rId5" Type="http://schemas.openxmlformats.org/officeDocument/2006/relationships/hyperlink" Target="https://universe.roboflow.com/dog-eyes/dog-eyes_ver.4" TargetMode="External"/><Relationship Id="rId10" Type="http://schemas.openxmlformats.org/officeDocument/2006/relationships/hyperlink" Target="https://ieee-dataport.org/" TargetMode="External"/><Relationship Id="rId4" Type="http://schemas.openxmlformats.org/officeDocument/2006/relationships/hyperlink" Target="https://universe.roboflow.com/shoaib-axxkh/animal-skin-disease-vb2io-fd8zr-whsem" TargetMode="External"/><Relationship Id="rId9" Type="http://schemas.openxmlformats.org/officeDocument/2006/relationships/hyperlink" Target="https://universe.roboflow.com/search?q=animal+wound"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BE104-8C42-3859-C5D2-5671EB9A183D}"/>
              </a:ext>
            </a:extLst>
          </p:cNvPr>
          <p:cNvSpPr>
            <a:spLocks noGrp="1"/>
          </p:cNvSpPr>
          <p:nvPr>
            <p:ph type="title"/>
          </p:nvPr>
        </p:nvSpPr>
        <p:spPr>
          <a:xfrm>
            <a:off x="0" y="537846"/>
            <a:ext cx="12192000" cy="5100953"/>
          </a:xfrm>
        </p:spPr>
        <p:txBody>
          <a:bodyPr>
            <a:normAutofit fontScale="90000"/>
          </a:bodyPr>
          <a:lstStyle/>
          <a:p>
            <a:pPr algn="ctr"/>
            <a:r>
              <a:rPr lang="en-US" b="1" dirty="0">
                <a:solidFill>
                  <a:srgbClr val="B6114D"/>
                </a:solidFill>
                <a:latin typeface="Times New Roman" panose="02020603050405020304" pitchFamily="18" charset="0"/>
                <a:cs typeface="Times New Roman" panose="02020603050405020304" pitchFamily="18" charset="0"/>
              </a:rPr>
              <a:t>23CSE473 </a:t>
            </a:r>
            <a:br>
              <a:rPr lang="en-US" b="1" dirty="0">
                <a:solidFill>
                  <a:srgbClr val="B6114D"/>
                </a:solidFill>
                <a:latin typeface="Times New Roman" panose="02020603050405020304" pitchFamily="18" charset="0"/>
                <a:cs typeface="Times New Roman" panose="02020603050405020304" pitchFamily="18" charset="0"/>
              </a:rPr>
            </a:br>
            <a:r>
              <a:rPr lang="en-US" b="1" dirty="0">
                <a:solidFill>
                  <a:srgbClr val="B6114D"/>
                </a:solidFill>
                <a:latin typeface="Times New Roman" panose="02020603050405020304" pitchFamily="18" charset="0"/>
                <a:cs typeface="Times New Roman" panose="02020603050405020304" pitchFamily="18" charset="0"/>
              </a:rPr>
              <a:t> Neural Networks &amp; Deep Learning </a:t>
            </a:r>
            <a:br>
              <a:rPr lang="en-US" b="1" dirty="0">
                <a:solidFill>
                  <a:srgbClr val="B6114D"/>
                </a:solidFill>
                <a:latin typeface="Times New Roman" panose="02020603050405020304" pitchFamily="18" charset="0"/>
                <a:cs typeface="Times New Roman" panose="02020603050405020304" pitchFamily="18" charset="0"/>
              </a:rPr>
            </a:br>
            <a:br>
              <a:rPr lang="en-US" b="1" dirty="0">
                <a:solidFill>
                  <a:srgbClr val="B6114D"/>
                </a:solidFill>
                <a:latin typeface="Times New Roman" panose="02020603050405020304" pitchFamily="18" charset="0"/>
                <a:cs typeface="Times New Roman" panose="02020603050405020304" pitchFamily="18" charset="0"/>
              </a:rPr>
            </a:br>
            <a:br>
              <a:rPr lang="en-US" b="1" dirty="0">
                <a:solidFill>
                  <a:srgbClr val="B6114D"/>
                </a:solidFill>
                <a:latin typeface="Times New Roman" panose="02020603050405020304" pitchFamily="18" charset="0"/>
                <a:cs typeface="Times New Roman" panose="02020603050405020304" pitchFamily="18" charset="0"/>
              </a:rPr>
            </a:br>
            <a:r>
              <a:rPr lang="en-US" sz="6000" b="1" i="1" dirty="0">
                <a:solidFill>
                  <a:srgbClr val="B6114D"/>
                </a:solidFill>
                <a:latin typeface="Times New Roman" panose="02020603050405020304" pitchFamily="18" charset="0"/>
                <a:cs typeface="Times New Roman" panose="02020603050405020304" pitchFamily="18" charset="0"/>
              </a:rPr>
              <a:t>“MediPaw – Because every Paw deserves a chance”</a:t>
            </a:r>
            <a:br>
              <a:rPr lang="en-US" b="1" dirty="0">
                <a:solidFill>
                  <a:srgbClr val="B6114D"/>
                </a:solidFill>
                <a:latin typeface="Times New Roman" panose="02020603050405020304" pitchFamily="18" charset="0"/>
                <a:cs typeface="Times New Roman" panose="02020603050405020304" pitchFamily="18" charset="0"/>
              </a:rPr>
            </a:br>
            <a:br>
              <a:rPr lang="en-US" b="1" dirty="0">
                <a:solidFill>
                  <a:srgbClr val="B6114D"/>
                </a:solidFill>
                <a:latin typeface="Times New Roman" panose="02020603050405020304" pitchFamily="18" charset="0"/>
                <a:cs typeface="Times New Roman" panose="02020603050405020304" pitchFamily="18" charset="0"/>
              </a:rPr>
            </a:br>
            <a:r>
              <a:rPr lang="en-US" sz="2800" b="1" dirty="0">
                <a:solidFill>
                  <a:srgbClr val="B6114D"/>
                </a:solidFill>
                <a:latin typeface="Times New Roman" panose="02020603050405020304" pitchFamily="18" charset="0"/>
                <a:cs typeface="Times New Roman" panose="02020603050405020304" pitchFamily="18" charset="0"/>
              </a:rPr>
              <a:t>GitHub URL</a:t>
            </a:r>
            <a:r>
              <a:rPr lang="en-US" b="1" dirty="0">
                <a:solidFill>
                  <a:srgbClr val="B6114D"/>
                </a:solidFill>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hlinkClick r:id="rId2"/>
              </a:rPr>
              <a:t>https://github.com/sanhithaac/MediPaw</a:t>
            </a:r>
            <a:r>
              <a:rPr lang="en-IN" sz="2800"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F1A560A-FD97-2846-A2A4-0E12ED8E3E02}"/>
              </a:ext>
            </a:extLst>
          </p:cNvPr>
          <p:cNvPicPr>
            <a:picLocks noChangeAspect="1"/>
          </p:cNvPicPr>
          <p:nvPr/>
        </p:nvPicPr>
        <p:blipFill>
          <a:blip r:embed="rId3"/>
          <a:srcRect t="31934" b="33169"/>
          <a:stretch>
            <a:fillRect/>
          </a:stretch>
        </p:blipFill>
        <p:spPr>
          <a:xfrm>
            <a:off x="10318045" y="0"/>
            <a:ext cx="1873955" cy="653956"/>
          </a:xfrm>
          <a:prstGeom prst="rect">
            <a:avLst/>
          </a:prstGeom>
        </p:spPr>
      </p:pic>
    </p:spTree>
    <p:extLst>
      <p:ext uri="{BB962C8B-B14F-4D97-AF65-F5344CB8AC3E}">
        <p14:creationId xmlns:p14="http://schemas.microsoft.com/office/powerpoint/2010/main" val="2600696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9" name="Google Shape;1029;p45"/>
          <p:cNvSpPr txBox="1"/>
          <p:nvPr/>
        </p:nvSpPr>
        <p:spPr>
          <a:xfrm>
            <a:off x="3477260" y="246010"/>
            <a:ext cx="5237480" cy="8925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86072"/>
              </a:buClr>
              <a:buSzPts val="2400"/>
              <a:buFont typeface="Times New Roman"/>
              <a:buNone/>
            </a:pPr>
            <a:r>
              <a:rPr lang="en-IN" sz="2800" b="1" i="0" u="none" strike="noStrike" cap="none" dirty="0">
                <a:solidFill>
                  <a:srgbClr val="086072"/>
                </a:solidFill>
                <a:latin typeface="Times New Roman" panose="02020603050405020304" pitchFamily="18" charset="0"/>
                <a:ea typeface="Times New Roman"/>
                <a:cs typeface="Times New Roman" panose="02020603050405020304" pitchFamily="18" charset="0"/>
                <a:sym typeface="Times New Roman"/>
              </a:rPr>
              <a:t> Case study Review 1</a:t>
            </a:r>
            <a:endParaRPr sz="2800" b="1" i="0" u="none" strike="noStrike" cap="none" dirty="0">
              <a:solidFill>
                <a:srgbClr val="086072"/>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Clr>
                <a:srgbClr val="B6114D"/>
              </a:buClr>
              <a:buSzPts val="2000"/>
              <a:buFont typeface="Times New Roman"/>
              <a:buNone/>
            </a:pPr>
            <a:r>
              <a:rPr lang="en-IN" sz="2400" b="1" i="0" u="none" strike="noStrike" cap="none" dirty="0">
                <a:solidFill>
                  <a:srgbClr val="B6114D"/>
                </a:solidFill>
                <a:latin typeface="Times New Roman" panose="02020603050405020304" pitchFamily="18" charset="0"/>
                <a:ea typeface="Times New Roman"/>
                <a:cs typeface="Times New Roman" panose="02020603050405020304" pitchFamily="18" charset="0"/>
                <a:sym typeface="Times New Roman"/>
              </a:rPr>
              <a:t>Professor – T Senthil Kumar ( CSE)</a:t>
            </a:r>
            <a:endParaRPr sz="16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A088DCFA-72DE-E899-CB00-AE297C2DC07F}"/>
              </a:ext>
            </a:extLst>
          </p:cNvPr>
          <p:cNvGraphicFramePr>
            <a:graphicFrameLocks noGrp="1"/>
          </p:cNvGraphicFramePr>
          <p:nvPr>
            <p:extLst>
              <p:ext uri="{D42A27DB-BD31-4B8C-83A1-F6EECF244321}">
                <p14:modId xmlns:p14="http://schemas.microsoft.com/office/powerpoint/2010/main" val="4087288241"/>
              </p:ext>
            </p:extLst>
          </p:nvPr>
        </p:nvGraphicFramePr>
        <p:xfrm>
          <a:off x="884257" y="1567899"/>
          <a:ext cx="10423486" cy="3912040"/>
        </p:xfrm>
        <a:graphic>
          <a:graphicData uri="http://schemas.openxmlformats.org/drawingml/2006/table">
            <a:tbl>
              <a:tblPr firstRow="1" bandRow="1">
                <a:tableStyleId>{B229F12B-DD2F-434A-8BDD-88915C9BCD54}</a:tableStyleId>
              </a:tblPr>
              <a:tblGrid>
                <a:gridCol w="2257982">
                  <a:extLst>
                    <a:ext uri="{9D8B030D-6E8A-4147-A177-3AD203B41FA5}">
                      <a16:colId xmlns:a16="http://schemas.microsoft.com/office/drawing/2014/main" val="869307905"/>
                    </a:ext>
                  </a:extLst>
                </a:gridCol>
                <a:gridCol w="1562649">
                  <a:extLst>
                    <a:ext uri="{9D8B030D-6E8A-4147-A177-3AD203B41FA5}">
                      <a16:colId xmlns:a16="http://schemas.microsoft.com/office/drawing/2014/main" val="1947359790"/>
                    </a:ext>
                  </a:extLst>
                </a:gridCol>
                <a:gridCol w="1865562">
                  <a:extLst>
                    <a:ext uri="{9D8B030D-6E8A-4147-A177-3AD203B41FA5}">
                      <a16:colId xmlns:a16="http://schemas.microsoft.com/office/drawing/2014/main" val="1287143653"/>
                    </a:ext>
                  </a:extLst>
                </a:gridCol>
                <a:gridCol w="1962612">
                  <a:extLst>
                    <a:ext uri="{9D8B030D-6E8A-4147-A177-3AD203B41FA5}">
                      <a16:colId xmlns:a16="http://schemas.microsoft.com/office/drawing/2014/main" val="2854693601"/>
                    </a:ext>
                  </a:extLst>
                </a:gridCol>
                <a:gridCol w="2774681">
                  <a:extLst>
                    <a:ext uri="{9D8B030D-6E8A-4147-A177-3AD203B41FA5}">
                      <a16:colId xmlns:a16="http://schemas.microsoft.com/office/drawing/2014/main" val="3931162415"/>
                    </a:ext>
                  </a:extLst>
                </a:gridCol>
              </a:tblGrid>
              <a:tr h="599440">
                <a:tc>
                  <a:txBody>
                    <a:bodyPr/>
                    <a:lstStyle/>
                    <a:p>
                      <a:pPr algn="ctr"/>
                      <a:r>
                        <a:rPr lang="en-IN" sz="1600" b="1" dirty="0">
                          <a:latin typeface="Times New Roman" panose="02020603050405020304" pitchFamily="18" charset="0"/>
                          <a:cs typeface="Times New Roman" panose="02020603050405020304" pitchFamily="18" charset="0"/>
                        </a:rPr>
                        <a:t>ROLL NUMBER </a:t>
                      </a:r>
                    </a:p>
                  </a:txBody>
                  <a:tcPr/>
                </a:tc>
                <a:tc>
                  <a:txBody>
                    <a:bodyPr/>
                    <a:lstStyle/>
                    <a:p>
                      <a:pPr algn="ctr"/>
                      <a:r>
                        <a:rPr lang="en-IN" sz="1600" b="1" dirty="0">
                          <a:latin typeface="Times New Roman" panose="02020603050405020304" pitchFamily="18" charset="0"/>
                          <a:cs typeface="Times New Roman" panose="02020603050405020304" pitchFamily="18" charset="0"/>
                        </a:rPr>
                        <a:t> NAME </a:t>
                      </a:r>
                    </a:p>
                  </a:txBody>
                  <a:tcPr/>
                </a:tc>
                <a:tc>
                  <a:txBody>
                    <a:bodyPr/>
                    <a:lstStyle/>
                    <a:p>
                      <a:pPr algn="ctr"/>
                      <a:r>
                        <a:rPr lang="en-IN" sz="1600" b="1" dirty="0">
                          <a:latin typeface="Times New Roman" panose="02020603050405020304" pitchFamily="18" charset="0"/>
                          <a:cs typeface="Times New Roman" panose="02020603050405020304" pitchFamily="18" charset="0"/>
                        </a:rPr>
                        <a:t>EMAIL </a:t>
                      </a:r>
                    </a:p>
                  </a:txBody>
                  <a:tcPr/>
                </a:tc>
                <a:tc>
                  <a:txBody>
                    <a:bodyPr/>
                    <a:lstStyle/>
                    <a:p>
                      <a:pPr algn="ctr"/>
                      <a:r>
                        <a:rPr lang="en-IN" sz="1600" b="1" dirty="0">
                          <a:latin typeface="Times New Roman" panose="02020603050405020304" pitchFamily="18" charset="0"/>
                          <a:cs typeface="Times New Roman" panose="02020603050405020304" pitchFamily="18" charset="0"/>
                        </a:rPr>
                        <a:t>MOBILE NUMBER </a:t>
                      </a:r>
                    </a:p>
                  </a:txBody>
                  <a:tcPr/>
                </a:tc>
                <a:tc>
                  <a:txBody>
                    <a:bodyPr/>
                    <a:lstStyle/>
                    <a:p>
                      <a:pPr algn="ctr"/>
                      <a:r>
                        <a:rPr lang="en-IN" sz="1600" b="1" dirty="0">
                          <a:latin typeface="Times New Roman" panose="02020603050405020304" pitchFamily="18" charset="0"/>
                          <a:cs typeface="Times New Roman" panose="02020603050405020304" pitchFamily="18" charset="0"/>
                        </a:rPr>
                        <a:t>GITHUB URL</a:t>
                      </a:r>
                    </a:p>
                  </a:txBody>
                  <a:tcPr/>
                </a:tc>
                <a:extLst>
                  <a:ext uri="{0D108BD9-81ED-4DB2-BD59-A6C34878D82A}">
                    <a16:rowId xmlns:a16="http://schemas.microsoft.com/office/drawing/2014/main" val="1728576710"/>
                  </a:ext>
                </a:extLst>
              </a:tr>
              <a:tr h="975360">
                <a:tc>
                  <a:txBody>
                    <a:bodyPr/>
                    <a:lstStyle/>
                    <a:p>
                      <a:r>
                        <a:rPr lang="en-IN" sz="1800" dirty="0">
                          <a:latin typeface="Times New Roman" panose="02020603050405020304" pitchFamily="18" charset="0"/>
                          <a:cs typeface="Times New Roman" panose="02020603050405020304" pitchFamily="18" charset="0"/>
                        </a:rPr>
                        <a:t>CB.SC.U4CSE23352</a:t>
                      </a:r>
                    </a:p>
                  </a:txBody>
                  <a:tcPr/>
                </a:tc>
                <a:tc>
                  <a:txBody>
                    <a:bodyPr/>
                    <a:lstStyle/>
                    <a:p>
                      <a:r>
                        <a:rPr lang="en-IN" sz="1800" dirty="0">
                          <a:latin typeface="Times New Roman" panose="02020603050405020304" pitchFamily="18" charset="0"/>
                          <a:cs typeface="Times New Roman" panose="02020603050405020304" pitchFamily="18" charset="0"/>
                        </a:rPr>
                        <a:t>N Uhashini</a:t>
                      </a:r>
                    </a:p>
                  </a:txBody>
                  <a:tcPr/>
                </a:tc>
                <a:tc>
                  <a:txBody>
                    <a:bodyPr/>
                    <a:lstStyle/>
                    <a:p>
                      <a:r>
                        <a:rPr lang="en-IN" sz="1800" dirty="0">
                          <a:latin typeface="Times New Roman" panose="02020603050405020304" pitchFamily="18" charset="0"/>
                          <a:cs typeface="Times New Roman" panose="02020603050405020304" pitchFamily="18" charset="0"/>
                        </a:rPr>
                        <a:t>cb.sc.u4cse23352@cb.students.amrita.edu</a:t>
                      </a:r>
                    </a:p>
                  </a:txBody>
                  <a:tcPr/>
                </a:tc>
                <a:tc>
                  <a:txBody>
                    <a:bodyPr/>
                    <a:lstStyle/>
                    <a:p>
                      <a:r>
                        <a:rPr lang="en-IN" sz="1800" dirty="0">
                          <a:latin typeface="Times New Roman" panose="02020603050405020304" pitchFamily="18" charset="0"/>
                          <a:cs typeface="Times New Roman" panose="02020603050405020304" pitchFamily="18" charset="0"/>
                        </a:rPr>
                        <a:t>6383011825</a:t>
                      </a:r>
                    </a:p>
                  </a:txBody>
                  <a:tcPr/>
                </a:tc>
                <a:tc>
                  <a:txBody>
                    <a:bodyPr/>
                    <a:lstStyle/>
                    <a:p>
                      <a:pPr algn="l"/>
                      <a:r>
                        <a:rPr lang="en-IN" sz="1800" b="0" dirty="0">
                          <a:latin typeface="Times New Roman" panose="02020603050405020304" pitchFamily="18" charset="0"/>
                          <a:cs typeface="Times New Roman" panose="02020603050405020304" pitchFamily="18" charset="0"/>
                        </a:rPr>
                        <a:t>https://github.com/Uhashini</a:t>
                      </a:r>
                    </a:p>
                  </a:txBody>
                  <a:tcPr/>
                </a:tc>
                <a:extLst>
                  <a:ext uri="{0D108BD9-81ED-4DB2-BD59-A6C34878D82A}">
                    <a16:rowId xmlns:a16="http://schemas.microsoft.com/office/drawing/2014/main" val="3305028754"/>
                  </a:ext>
                </a:extLst>
              </a:tr>
              <a:tr h="1168620">
                <a:tc>
                  <a:txBody>
                    <a:bodyPr/>
                    <a:lstStyle/>
                    <a:p>
                      <a:r>
                        <a:rPr lang="en-IN" sz="1800" dirty="0">
                          <a:latin typeface="Times New Roman" panose="02020603050405020304" pitchFamily="18" charset="0"/>
                          <a:cs typeface="Times New Roman" panose="02020603050405020304" pitchFamily="18" charset="0"/>
                        </a:rPr>
                        <a:t>CB.SC.U4CSE23245</a:t>
                      </a:r>
                    </a:p>
                  </a:txBody>
                  <a:tcPr/>
                </a:tc>
                <a:tc>
                  <a:txBody>
                    <a:bodyPr/>
                    <a:lstStyle/>
                    <a:p>
                      <a:r>
                        <a:rPr lang="en-IN" sz="1800" dirty="0">
                          <a:latin typeface="Times New Roman" panose="02020603050405020304" pitchFamily="18" charset="0"/>
                          <a:cs typeface="Times New Roman" panose="02020603050405020304" pitchFamily="18" charset="0"/>
                        </a:rPr>
                        <a:t>Shaik Abdus Sattar</a:t>
                      </a:r>
                    </a:p>
                  </a:txBody>
                  <a:tcPr/>
                </a:tc>
                <a:tc>
                  <a:txBody>
                    <a:bodyPr/>
                    <a:lstStyle/>
                    <a:p>
                      <a:r>
                        <a:rPr lang="en-IN" sz="1800" dirty="0">
                          <a:latin typeface="Times New Roman" panose="02020603050405020304" pitchFamily="18" charset="0"/>
                          <a:cs typeface="Times New Roman" panose="02020603050405020304" pitchFamily="18" charset="0"/>
                        </a:rPr>
                        <a:t>cb.sc.u4cse23245@cb.students.amrita.edu</a:t>
                      </a:r>
                    </a:p>
                  </a:txBody>
                  <a:tcPr/>
                </a:tc>
                <a:tc>
                  <a:txBody>
                    <a:bodyPr/>
                    <a:lstStyle/>
                    <a:p>
                      <a:r>
                        <a:rPr lang="en-IN" sz="1800" dirty="0">
                          <a:latin typeface="Times New Roman" panose="02020603050405020304" pitchFamily="18" charset="0"/>
                          <a:cs typeface="Times New Roman" panose="02020603050405020304" pitchFamily="18" charset="0"/>
                        </a:rPr>
                        <a:t>7032698579</a:t>
                      </a:r>
                    </a:p>
                  </a:txBody>
                  <a:tcPr/>
                </a:tc>
                <a:tc>
                  <a:txBody>
                    <a:bodyPr/>
                    <a:lstStyle/>
                    <a:p>
                      <a:r>
                        <a:rPr lang="en-IN" sz="1800" dirty="0">
                          <a:latin typeface="Times New Roman" panose="02020603050405020304" pitchFamily="18" charset="0"/>
                          <a:cs typeface="Times New Roman" panose="02020603050405020304" pitchFamily="18" charset="0"/>
                        </a:rPr>
                        <a:t>https://github.com/Seventie</a:t>
                      </a:r>
                    </a:p>
                  </a:txBody>
                  <a:tcPr/>
                </a:tc>
                <a:extLst>
                  <a:ext uri="{0D108BD9-81ED-4DB2-BD59-A6C34878D82A}">
                    <a16:rowId xmlns:a16="http://schemas.microsoft.com/office/drawing/2014/main" val="2634720748"/>
                  </a:ext>
                </a:extLst>
              </a:tr>
              <a:tr h="1168620">
                <a:tc>
                  <a:txBody>
                    <a:bodyPr/>
                    <a:lstStyle/>
                    <a:p>
                      <a:r>
                        <a:rPr lang="en-IN" sz="1800" dirty="0">
                          <a:latin typeface="Times New Roman" panose="02020603050405020304" pitchFamily="18" charset="0"/>
                          <a:cs typeface="Times New Roman" panose="02020603050405020304" pitchFamily="18" charset="0"/>
                        </a:rPr>
                        <a:t>CB.SC.U4CSE23206</a:t>
                      </a:r>
                    </a:p>
                  </a:txBody>
                  <a:tcPr/>
                </a:tc>
                <a:tc>
                  <a:txBody>
                    <a:bodyPr/>
                    <a:lstStyle/>
                    <a:p>
                      <a:r>
                        <a:rPr lang="en-IN" sz="1800" dirty="0">
                          <a:latin typeface="Times New Roman" panose="02020603050405020304" pitchFamily="18" charset="0"/>
                          <a:cs typeface="Times New Roman" panose="02020603050405020304" pitchFamily="18" charset="0"/>
                        </a:rPr>
                        <a:t>A.C Sanhitha Reddy  </a:t>
                      </a:r>
                    </a:p>
                  </a:txBody>
                  <a:tcPr/>
                </a:tc>
                <a:tc>
                  <a:txBody>
                    <a:bodyPr/>
                    <a:lstStyle/>
                    <a:p>
                      <a:r>
                        <a:rPr lang="en-IN" sz="1800" dirty="0">
                          <a:latin typeface="Times New Roman" panose="02020603050405020304" pitchFamily="18" charset="0"/>
                          <a:cs typeface="Times New Roman" panose="02020603050405020304" pitchFamily="18" charset="0"/>
                        </a:rPr>
                        <a:t>cb.sc.u4cse23206@cb.students.amrita.edu</a:t>
                      </a:r>
                    </a:p>
                  </a:txBody>
                  <a:tcPr/>
                </a:tc>
                <a:tc>
                  <a:txBody>
                    <a:bodyPr/>
                    <a:lstStyle/>
                    <a:p>
                      <a:r>
                        <a:rPr lang="en-IN" sz="1800" dirty="0">
                          <a:latin typeface="Times New Roman" panose="02020603050405020304" pitchFamily="18" charset="0"/>
                          <a:cs typeface="Times New Roman" panose="02020603050405020304" pitchFamily="18" charset="0"/>
                        </a:rPr>
                        <a:t>9949804994</a:t>
                      </a:r>
                    </a:p>
                  </a:txBody>
                  <a:tcPr/>
                </a:tc>
                <a:tc>
                  <a:txBody>
                    <a:bodyPr/>
                    <a:lstStyle/>
                    <a:p>
                      <a:r>
                        <a:rPr lang="en-IN" sz="1800" dirty="0">
                          <a:latin typeface="Times New Roman" panose="02020603050405020304" pitchFamily="18" charset="0"/>
                          <a:cs typeface="Times New Roman" panose="02020603050405020304" pitchFamily="18" charset="0"/>
                        </a:rPr>
                        <a:t>https://github.com/sanhithaac</a:t>
                      </a:r>
                    </a:p>
                  </a:txBody>
                  <a:tcPr/>
                </a:tc>
                <a:extLst>
                  <a:ext uri="{0D108BD9-81ED-4DB2-BD59-A6C34878D82A}">
                    <a16:rowId xmlns:a16="http://schemas.microsoft.com/office/drawing/2014/main" val="32204999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CDBC7D9-1A42-01CF-7F95-D0E66A60E900}"/>
              </a:ext>
            </a:extLst>
          </p:cNvPr>
          <p:cNvSpPr>
            <a:spLocks noGrp="1"/>
          </p:cNvSpPr>
          <p:nvPr>
            <p:ph type="body" idx="1"/>
          </p:nvPr>
        </p:nvSpPr>
        <p:spPr>
          <a:xfrm>
            <a:off x="260381" y="1168612"/>
            <a:ext cx="11388271" cy="4351200"/>
          </a:xfrm>
        </p:spPr>
        <p:txBody>
          <a:bodyPr>
            <a:normAutofit fontScale="92500" lnSpcReduction="20000"/>
          </a:bodyPr>
          <a:lstStyle/>
          <a:p>
            <a:r>
              <a:rPr lang="en-IN" sz="2600" dirty="0">
                <a:latin typeface="Times New Roman" panose="02020603050405020304" pitchFamily="18" charset="0"/>
                <a:cs typeface="Times New Roman" panose="02020603050405020304" pitchFamily="18" charset="0"/>
              </a:rPr>
              <a:t>Animal shelters often receive numerous rescued animals requiring immediate medical attention. </a:t>
            </a:r>
          </a:p>
          <a:p>
            <a:r>
              <a:rPr lang="en-IN" sz="2600" dirty="0">
                <a:latin typeface="Times New Roman" panose="02020603050405020304" pitchFamily="18" charset="0"/>
                <a:cs typeface="Times New Roman" panose="02020603050405020304" pitchFamily="18" charset="0"/>
              </a:rPr>
              <a:t>Limited veterinary staff and resources make manual health assessment slow and challenging. </a:t>
            </a:r>
          </a:p>
          <a:p>
            <a:r>
              <a:rPr lang="en-IN" sz="2600" dirty="0">
                <a:latin typeface="Times New Roman" panose="02020603050405020304" pitchFamily="18" charset="0"/>
                <a:cs typeface="Times New Roman" panose="02020603050405020304" pitchFamily="18" charset="0"/>
              </a:rPr>
              <a:t>Delayed identification of critical cases can increase suffering and the risk of disease spread. </a:t>
            </a:r>
          </a:p>
          <a:p>
            <a:r>
              <a:rPr lang="en-IN" sz="2600" b="1" dirty="0">
                <a:latin typeface="Times New Roman" panose="02020603050405020304" pitchFamily="18" charset="0"/>
                <a:cs typeface="Times New Roman" panose="02020603050405020304" pitchFamily="18" charset="0"/>
              </a:rPr>
              <a:t>MediPaw</a:t>
            </a:r>
            <a:r>
              <a:rPr lang="en-IN" sz="2600" dirty="0">
                <a:latin typeface="Times New Roman" panose="02020603050405020304" pitchFamily="18" charset="0"/>
                <a:cs typeface="Times New Roman" panose="02020603050405020304" pitchFamily="18" charset="0"/>
              </a:rPr>
              <a:t> is an </a:t>
            </a:r>
            <a:r>
              <a:rPr lang="en-IN" sz="2600" b="1" dirty="0">
                <a:latin typeface="Times New Roman" panose="02020603050405020304" pitchFamily="18" charset="0"/>
                <a:cs typeface="Times New Roman" panose="02020603050405020304" pitchFamily="18" charset="0"/>
              </a:rPr>
              <a:t>AI-driven veterinary triage platform</a:t>
            </a:r>
            <a:r>
              <a:rPr lang="en-IN" sz="2600" dirty="0">
                <a:latin typeface="Times New Roman" panose="02020603050405020304" pitchFamily="18" charset="0"/>
                <a:cs typeface="Times New Roman" panose="02020603050405020304" pitchFamily="18" charset="0"/>
              </a:rPr>
              <a:t> that analyzes images of rescued animals using deep learning models.</a:t>
            </a:r>
          </a:p>
          <a:p>
            <a:r>
              <a:rPr lang="en-IN" sz="2600" dirty="0">
                <a:latin typeface="Times New Roman" panose="02020603050405020304" pitchFamily="18" charset="0"/>
                <a:cs typeface="Times New Roman" panose="02020603050405020304" pitchFamily="18" charset="0"/>
              </a:rPr>
              <a:t> The system helps veterinarians </a:t>
            </a:r>
            <a:r>
              <a:rPr lang="en-IN" sz="2600" b="1" dirty="0">
                <a:latin typeface="Times New Roman" panose="02020603050405020304" pitchFamily="18" charset="0"/>
                <a:cs typeface="Times New Roman" panose="02020603050405020304" pitchFamily="18" charset="0"/>
              </a:rPr>
              <a:t>prioritize treatment based on urgency</a:t>
            </a:r>
            <a:r>
              <a:rPr lang="en-IN" sz="2600" dirty="0">
                <a:latin typeface="Times New Roman" panose="02020603050405020304" pitchFamily="18" charset="0"/>
                <a:cs typeface="Times New Roman" panose="02020603050405020304" pitchFamily="18" charset="0"/>
              </a:rPr>
              <a:t>, ensuring timely care for animals in need. </a:t>
            </a:r>
          </a:p>
          <a:p>
            <a:r>
              <a:rPr lang="en-IN" sz="2600" dirty="0">
                <a:latin typeface="Times New Roman" panose="02020603050405020304" pitchFamily="18" charset="0"/>
                <a:cs typeface="Times New Roman" panose="02020603050405020304" pitchFamily="18" charset="0"/>
              </a:rPr>
              <a:t>Designed as a </a:t>
            </a:r>
            <a:r>
              <a:rPr lang="en-IN" sz="2600" b="1" dirty="0">
                <a:latin typeface="Times New Roman" panose="02020603050405020304" pitchFamily="18" charset="0"/>
                <a:cs typeface="Times New Roman" panose="02020603050405020304" pitchFamily="18" charset="0"/>
              </a:rPr>
              <a:t>decision-support tool</a:t>
            </a:r>
            <a:r>
              <a:rPr lang="en-IN" sz="2600" dirty="0">
                <a:latin typeface="Times New Roman" panose="02020603050405020304" pitchFamily="18" charset="0"/>
                <a:cs typeface="Times New Roman" panose="02020603050405020304" pitchFamily="18" charset="0"/>
              </a:rPr>
              <a:t>, MediPaw improves efficiency while supporting animal welfare and shelter management</a:t>
            </a:r>
            <a:r>
              <a:rPr lang="en-IN" sz="2400" dirty="0">
                <a:latin typeface="Times New Roman" panose="02020603050405020304" pitchFamily="18" charset="0"/>
                <a:cs typeface="Times New Roman" panose="02020603050405020304" pitchFamily="18" charset="0"/>
              </a:rPr>
              <a:t>.</a:t>
            </a:r>
          </a:p>
        </p:txBody>
      </p:sp>
      <p:sp>
        <p:nvSpPr>
          <p:cNvPr id="5" name="Google Shape;1035;p46">
            <a:extLst>
              <a:ext uri="{FF2B5EF4-FFF2-40B4-BE49-F238E27FC236}">
                <a16:creationId xmlns:a16="http://schemas.microsoft.com/office/drawing/2014/main" id="{3853D4EF-21DB-7EE1-010A-BCCA4660C508}"/>
              </a:ext>
            </a:extLst>
          </p:cNvPr>
          <p:cNvSpPr txBox="1">
            <a:spLocks noGrp="1"/>
          </p:cNvSpPr>
          <p:nvPr>
            <p:ph type="title"/>
          </p:nvPr>
        </p:nvSpPr>
        <p:spPr>
          <a:xfrm>
            <a:off x="260381" y="294566"/>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1. Introduction</a:t>
            </a:r>
            <a:endParaRPr sz="5400" dirty="0"/>
          </a:p>
        </p:txBody>
      </p:sp>
      <p:pic>
        <p:nvPicPr>
          <p:cNvPr id="4" name="Picture 3">
            <a:extLst>
              <a:ext uri="{FF2B5EF4-FFF2-40B4-BE49-F238E27FC236}">
                <a16:creationId xmlns:a16="http://schemas.microsoft.com/office/drawing/2014/main" id="{6053C0DC-9EA2-8BBC-EC46-B993853FDB78}"/>
              </a:ext>
            </a:extLst>
          </p:cNvPr>
          <p:cNvPicPr>
            <a:picLocks noChangeAspect="1"/>
          </p:cNvPicPr>
          <p:nvPr/>
        </p:nvPicPr>
        <p:blipFill>
          <a:blip r:embed="rId2"/>
          <a:srcRect t="31934" b="33169"/>
          <a:stretch>
            <a:fillRect/>
          </a:stretch>
        </p:blipFill>
        <p:spPr>
          <a:xfrm>
            <a:off x="9895220" y="0"/>
            <a:ext cx="2296780" cy="801510"/>
          </a:xfrm>
          <a:prstGeom prst="rect">
            <a:avLst/>
          </a:prstGeom>
        </p:spPr>
      </p:pic>
    </p:spTree>
    <p:extLst>
      <p:ext uri="{BB962C8B-B14F-4D97-AF65-F5344CB8AC3E}">
        <p14:creationId xmlns:p14="http://schemas.microsoft.com/office/powerpoint/2010/main" val="3363198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A5120-56B8-4235-6132-3878495F5B5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EF79166-9759-7B6F-EA08-D87D87120492}"/>
              </a:ext>
            </a:extLst>
          </p:cNvPr>
          <p:cNvSpPr>
            <a:spLocks noGrp="1"/>
          </p:cNvSpPr>
          <p:nvPr>
            <p:ph type="body" idx="1"/>
          </p:nvPr>
        </p:nvSpPr>
        <p:spPr>
          <a:xfrm>
            <a:off x="269240" y="973772"/>
            <a:ext cx="9446260" cy="4910455"/>
          </a:xfrm>
        </p:spPr>
        <p:txBody>
          <a:bodyPr>
            <a:normAutofit lnSpcReduction="10000"/>
          </a:bodyPr>
          <a:lstStyle/>
          <a:p>
            <a:pPr marL="50800" indent="0">
              <a:buNone/>
            </a:pPr>
            <a:r>
              <a:rPr lang="en-IN" sz="2500" dirty="0">
                <a:latin typeface="Times New Roman" panose="02020603050405020304" pitchFamily="18" charset="0"/>
                <a:cs typeface="Times New Roman" panose="02020603050405020304" pitchFamily="18" charset="0"/>
              </a:rPr>
              <a:t>Animal shelters and rescue organizations often care for </a:t>
            </a:r>
            <a:r>
              <a:rPr lang="en-IN" sz="2500" b="1" dirty="0">
                <a:latin typeface="Times New Roman" panose="02020603050405020304" pitchFamily="18" charset="0"/>
                <a:cs typeface="Times New Roman" panose="02020603050405020304" pitchFamily="18" charset="0"/>
              </a:rPr>
              <a:t>large numbers of rescued animals</a:t>
            </a:r>
            <a:r>
              <a:rPr lang="en-IN" sz="2500" dirty="0">
                <a:latin typeface="Times New Roman" panose="02020603050405020304" pitchFamily="18" charset="0"/>
                <a:cs typeface="Times New Roman" panose="02020603050405020304" pitchFamily="18" charset="0"/>
              </a:rPr>
              <a:t> with </a:t>
            </a:r>
            <a:r>
              <a:rPr lang="en-IN" sz="2500" b="1" dirty="0">
                <a:latin typeface="Times New Roman" panose="02020603050405020304" pitchFamily="18" charset="0"/>
                <a:cs typeface="Times New Roman" panose="02020603050405020304" pitchFamily="18" charset="0"/>
              </a:rPr>
              <a:t>limited veterinary staff and medical resources</a:t>
            </a:r>
            <a:r>
              <a:rPr lang="en-IN" sz="2500" dirty="0">
                <a:latin typeface="Times New Roman" panose="02020603050405020304" pitchFamily="18" charset="0"/>
                <a:cs typeface="Times New Roman" panose="02020603050405020304" pitchFamily="18" charset="0"/>
              </a:rPr>
              <a:t>. Manually assessing every animal is time-consuming, making it difficult to quickly identify those requiring urgent medical attention. Existing veterinary AI solutions mainly focus on </a:t>
            </a:r>
            <a:r>
              <a:rPr lang="en-IN" sz="2500" b="1" dirty="0">
                <a:latin typeface="Times New Roman" panose="02020603050405020304" pitchFamily="18" charset="0"/>
                <a:cs typeface="Times New Roman" panose="02020603050405020304" pitchFamily="18" charset="0"/>
              </a:rPr>
              <a:t>individual disease detection</a:t>
            </a:r>
            <a:r>
              <a:rPr lang="en-IN" sz="2500" dirty="0">
                <a:latin typeface="Times New Roman" panose="02020603050405020304" pitchFamily="18" charset="0"/>
                <a:cs typeface="Times New Roman" panose="02020603050405020304" pitchFamily="18" charset="0"/>
              </a:rPr>
              <a:t> and do not assist shelters in prioritizing treatment based on urgency.</a:t>
            </a:r>
          </a:p>
          <a:p>
            <a:pPr marL="50800" indent="0">
              <a:buNone/>
            </a:pPr>
            <a:r>
              <a:rPr lang="en-IN" sz="2500" b="1" dirty="0">
                <a:latin typeface="Times New Roman" panose="02020603050405020304" pitchFamily="18" charset="0"/>
                <a:cs typeface="Times New Roman" panose="02020603050405020304" pitchFamily="18" charset="0"/>
              </a:rPr>
              <a:t>MediPaw</a:t>
            </a:r>
            <a:r>
              <a:rPr lang="en-IN" sz="2500" dirty="0">
                <a:latin typeface="Times New Roman" panose="02020603050405020304" pitchFamily="18" charset="0"/>
                <a:cs typeface="Times New Roman" panose="02020603050405020304" pitchFamily="18" charset="0"/>
              </a:rPr>
              <a:t> addresses this challenge by providing an </a:t>
            </a:r>
            <a:r>
              <a:rPr lang="en-IN" sz="2500" b="1" dirty="0">
                <a:latin typeface="Times New Roman" panose="02020603050405020304" pitchFamily="18" charset="0"/>
                <a:cs typeface="Times New Roman" panose="02020603050405020304" pitchFamily="18" charset="0"/>
              </a:rPr>
              <a:t>AI-driven veterinary triage system</a:t>
            </a:r>
            <a:r>
              <a:rPr lang="en-IN" sz="2500" dirty="0">
                <a:latin typeface="Times New Roman" panose="02020603050405020304" pitchFamily="18" charset="0"/>
                <a:cs typeface="Times New Roman" panose="02020603050405020304" pitchFamily="18" charset="0"/>
              </a:rPr>
              <a:t> that analyses images of rescued animals to detect visible skin diseases, wounds, and overall health conditions. By combining multiple deep learning models, it generates a </a:t>
            </a:r>
            <a:r>
              <a:rPr lang="en-IN" sz="2500" b="1" dirty="0">
                <a:latin typeface="Times New Roman" panose="02020603050405020304" pitchFamily="18" charset="0"/>
                <a:cs typeface="Times New Roman" panose="02020603050405020304" pitchFamily="18" charset="0"/>
              </a:rPr>
              <a:t>treatment priority score</a:t>
            </a:r>
            <a:r>
              <a:rPr lang="en-IN" sz="2500" dirty="0">
                <a:latin typeface="Times New Roman" panose="02020603050405020304" pitchFamily="18" charset="0"/>
                <a:cs typeface="Times New Roman" panose="02020603050405020304" pitchFamily="18" charset="0"/>
              </a:rPr>
              <a:t>, enabling veterinarians to identify critical cases faster, optimize resource allocation, and ensure timely care for animals in need.</a:t>
            </a:r>
          </a:p>
        </p:txBody>
      </p:sp>
      <p:sp>
        <p:nvSpPr>
          <p:cNvPr id="5" name="Google Shape;1035;p46">
            <a:extLst>
              <a:ext uri="{FF2B5EF4-FFF2-40B4-BE49-F238E27FC236}">
                <a16:creationId xmlns:a16="http://schemas.microsoft.com/office/drawing/2014/main" id="{09B661CC-74CD-FC9B-0436-3A774773F5E8}"/>
              </a:ext>
            </a:extLst>
          </p:cNvPr>
          <p:cNvSpPr txBox="1">
            <a:spLocks noGrp="1"/>
          </p:cNvSpPr>
          <p:nvPr>
            <p:ph type="title"/>
          </p:nvPr>
        </p:nvSpPr>
        <p:spPr>
          <a:xfrm>
            <a:off x="269240" y="365128"/>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2. Problem Statement</a:t>
            </a:r>
            <a:endParaRPr lang="en-IN" sz="5400" dirty="0"/>
          </a:p>
        </p:txBody>
      </p:sp>
      <p:pic>
        <p:nvPicPr>
          <p:cNvPr id="4" name="Picture 3">
            <a:extLst>
              <a:ext uri="{FF2B5EF4-FFF2-40B4-BE49-F238E27FC236}">
                <a16:creationId xmlns:a16="http://schemas.microsoft.com/office/drawing/2014/main" id="{6D3C7CE2-CD28-40EE-D891-59F3DD4F0656}"/>
              </a:ext>
            </a:extLst>
          </p:cNvPr>
          <p:cNvPicPr>
            <a:picLocks noChangeAspect="1"/>
          </p:cNvPicPr>
          <p:nvPr/>
        </p:nvPicPr>
        <p:blipFill>
          <a:blip r:embed="rId2"/>
          <a:srcRect l="18174" r="12387"/>
          <a:stretch>
            <a:fillRect/>
          </a:stretch>
        </p:blipFill>
        <p:spPr>
          <a:xfrm>
            <a:off x="9591040" y="936884"/>
            <a:ext cx="2331720" cy="5036880"/>
          </a:xfrm>
          <a:prstGeom prst="rect">
            <a:avLst/>
          </a:prstGeom>
        </p:spPr>
      </p:pic>
      <p:pic>
        <p:nvPicPr>
          <p:cNvPr id="7" name="Picture 6">
            <a:extLst>
              <a:ext uri="{FF2B5EF4-FFF2-40B4-BE49-F238E27FC236}">
                <a16:creationId xmlns:a16="http://schemas.microsoft.com/office/drawing/2014/main" id="{9F8A7EC7-8B74-4D82-EF75-84A91FBE1DA0}"/>
              </a:ext>
            </a:extLst>
          </p:cNvPr>
          <p:cNvPicPr>
            <a:picLocks noChangeAspect="1"/>
          </p:cNvPicPr>
          <p:nvPr/>
        </p:nvPicPr>
        <p:blipFill>
          <a:blip r:embed="rId3"/>
          <a:srcRect t="31934" b="33169"/>
          <a:stretch>
            <a:fillRect/>
          </a:stretch>
        </p:blipFill>
        <p:spPr>
          <a:xfrm>
            <a:off x="9895220" y="0"/>
            <a:ext cx="2296780" cy="801510"/>
          </a:xfrm>
          <a:prstGeom prst="rect">
            <a:avLst/>
          </a:prstGeom>
        </p:spPr>
      </p:pic>
    </p:spTree>
    <p:extLst>
      <p:ext uri="{BB962C8B-B14F-4D97-AF65-F5344CB8AC3E}">
        <p14:creationId xmlns:p14="http://schemas.microsoft.com/office/powerpoint/2010/main" val="2554876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70274-EA4B-5BE1-4DFA-3C1A39CCAEF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CBAED77-9226-DC5C-15E8-86F7EC42D1AC}"/>
              </a:ext>
            </a:extLst>
          </p:cNvPr>
          <p:cNvSpPr>
            <a:spLocks noGrp="1"/>
          </p:cNvSpPr>
          <p:nvPr>
            <p:ph type="body" idx="1"/>
          </p:nvPr>
        </p:nvSpPr>
        <p:spPr>
          <a:xfrm>
            <a:off x="452120" y="1175384"/>
            <a:ext cx="11445240" cy="4910455"/>
          </a:xfrm>
        </p:spPr>
        <p:txBody>
          <a:bodyPr>
            <a:normAutofit/>
          </a:bodyPr>
          <a:lstStyle/>
          <a:p>
            <a:r>
              <a:rPr lang="en-US" sz="2400" dirty="0">
                <a:latin typeface="Times New Roman" panose="02020603050405020304" pitchFamily="18" charset="0"/>
                <a:cs typeface="Times New Roman" panose="02020603050405020304" pitchFamily="18" charset="0"/>
              </a:rPr>
              <a:t>Animal shelters play a vital role in rescuing and rehabilitating injured and abandoned animals, yet they often struggle with limited veterinary resources and overwhelming caseloads. </a:t>
            </a:r>
          </a:p>
          <a:p>
            <a:r>
              <a:rPr lang="en-US" sz="2400" dirty="0">
                <a:latin typeface="Times New Roman" panose="02020603050405020304" pitchFamily="18" charset="0"/>
                <a:cs typeface="Times New Roman" panose="02020603050405020304" pitchFamily="18" charset="0"/>
              </a:rPr>
              <a:t>Delays in identifying critical health conditions can significantly impact an animal's chances of recovery. </a:t>
            </a:r>
          </a:p>
          <a:p>
            <a:r>
              <a:rPr lang="en-IN" sz="2400" dirty="0">
                <a:latin typeface="Times New Roman" panose="02020603050405020304" pitchFamily="18" charset="0"/>
                <a:cs typeface="Times New Roman" panose="02020603050405020304" pitchFamily="18" charset="0"/>
              </a:rPr>
              <a:t>Every rescued animal deserves a fair chance at recovery, yet limited veterinary resources often delay life-saving care. </a:t>
            </a:r>
          </a:p>
          <a:p>
            <a:r>
              <a:rPr lang="en-IN" sz="2400" b="1" dirty="0">
                <a:latin typeface="Times New Roman" panose="02020603050405020304" pitchFamily="18" charset="0"/>
                <a:cs typeface="Times New Roman" panose="02020603050405020304" pitchFamily="18" charset="0"/>
              </a:rPr>
              <a:t>MediPaw</a:t>
            </a:r>
            <a:r>
              <a:rPr lang="en-IN" sz="2400" dirty="0">
                <a:latin typeface="Times New Roman" panose="02020603050405020304" pitchFamily="18" charset="0"/>
                <a:cs typeface="Times New Roman" panose="02020603050405020304" pitchFamily="18" charset="0"/>
              </a:rPr>
              <a:t> is inspired by the vision of empowering animal shelters with AI-driven decision support, enabling veterinarians to identify critical cases early, prioritize treatment efficiently, and improve the quality of care for rescued animals</a:t>
            </a:r>
          </a:p>
        </p:txBody>
      </p:sp>
      <p:sp>
        <p:nvSpPr>
          <p:cNvPr id="5" name="Google Shape;1035;p46">
            <a:extLst>
              <a:ext uri="{FF2B5EF4-FFF2-40B4-BE49-F238E27FC236}">
                <a16:creationId xmlns:a16="http://schemas.microsoft.com/office/drawing/2014/main" id="{1FB34808-D4DB-60DE-419E-DF265CF06D4E}"/>
              </a:ext>
            </a:extLst>
          </p:cNvPr>
          <p:cNvSpPr txBox="1">
            <a:spLocks noGrp="1"/>
          </p:cNvSpPr>
          <p:nvPr>
            <p:ph type="title"/>
          </p:nvPr>
        </p:nvSpPr>
        <p:spPr>
          <a:xfrm>
            <a:off x="575341" y="35528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3. Motivation</a:t>
            </a:r>
            <a:endParaRPr lang="en-IN" sz="5400" dirty="0"/>
          </a:p>
        </p:txBody>
      </p:sp>
      <p:pic>
        <p:nvPicPr>
          <p:cNvPr id="4" name="Picture 3">
            <a:extLst>
              <a:ext uri="{FF2B5EF4-FFF2-40B4-BE49-F238E27FC236}">
                <a16:creationId xmlns:a16="http://schemas.microsoft.com/office/drawing/2014/main" id="{6432937A-1F71-BF37-A9DE-3AA49F12A8A6}"/>
              </a:ext>
            </a:extLst>
          </p:cNvPr>
          <p:cNvPicPr>
            <a:picLocks noChangeAspect="1"/>
          </p:cNvPicPr>
          <p:nvPr/>
        </p:nvPicPr>
        <p:blipFill>
          <a:blip r:embed="rId2"/>
          <a:srcRect t="31934" b="33169"/>
          <a:stretch>
            <a:fillRect/>
          </a:stretch>
        </p:blipFill>
        <p:spPr>
          <a:xfrm>
            <a:off x="9895220" y="0"/>
            <a:ext cx="2296780" cy="801510"/>
          </a:xfrm>
          <a:prstGeom prst="rect">
            <a:avLst/>
          </a:prstGeom>
        </p:spPr>
      </p:pic>
    </p:spTree>
    <p:extLst>
      <p:ext uri="{BB962C8B-B14F-4D97-AF65-F5344CB8AC3E}">
        <p14:creationId xmlns:p14="http://schemas.microsoft.com/office/powerpoint/2010/main" val="6665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2550F-90F2-EEED-3DB9-921FE1BA119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2EB7B24-CBE8-8AE0-4100-E6E96F5118B2}"/>
              </a:ext>
            </a:extLst>
          </p:cNvPr>
          <p:cNvSpPr>
            <a:spLocks noGrp="1"/>
          </p:cNvSpPr>
          <p:nvPr>
            <p:ph type="body" idx="1"/>
          </p:nvPr>
        </p:nvSpPr>
        <p:spPr>
          <a:xfrm>
            <a:off x="462280" y="811884"/>
            <a:ext cx="10515600" cy="5253636"/>
          </a:xfrm>
        </p:spPr>
        <p:txBody>
          <a:bodyPr>
            <a:noAutofit/>
          </a:bodyPr>
          <a:lstStyle/>
          <a:p>
            <a:pPr marL="50800" indent="0">
              <a:buNone/>
            </a:pPr>
            <a:r>
              <a:rPr lang="en-IN" sz="2400" b="1" dirty="0">
                <a:latin typeface="Times New Roman" panose="02020603050405020304" pitchFamily="18" charset="0"/>
                <a:cs typeface="Times New Roman" panose="02020603050405020304" pitchFamily="18" charset="0"/>
              </a:rPr>
              <a:t>Research Questions</a:t>
            </a:r>
          </a:p>
          <a:p>
            <a:r>
              <a:rPr lang="en-IN" sz="2000" dirty="0">
                <a:latin typeface="Times New Roman" panose="02020603050405020304" pitchFamily="18" charset="0"/>
                <a:cs typeface="Times New Roman" panose="02020603050405020304" pitchFamily="18" charset="0"/>
              </a:rPr>
              <a:t>Can AI accurately detect visible health conditions in rescued animals? </a:t>
            </a:r>
          </a:p>
          <a:p>
            <a:r>
              <a:rPr lang="en-IN" sz="2000" dirty="0">
                <a:latin typeface="Times New Roman" panose="02020603050405020304" pitchFamily="18" charset="0"/>
                <a:cs typeface="Times New Roman" panose="02020603050405020304" pitchFamily="18" charset="0"/>
              </a:rPr>
              <a:t>Can multiple deep learning models improve veterinary triage? </a:t>
            </a:r>
          </a:p>
          <a:p>
            <a:r>
              <a:rPr lang="en-IN" sz="2000" dirty="0">
                <a:latin typeface="Times New Roman" panose="02020603050405020304" pitchFamily="18" charset="0"/>
                <a:cs typeface="Times New Roman" panose="02020603050405020304" pitchFamily="18" charset="0"/>
              </a:rPr>
              <a:t>Can AI reduce the time required to identify critical cases? </a:t>
            </a:r>
          </a:p>
          <a:p>
            <a:r>
              <a:rPr lang="en-IN" sz="2000" dirty="0">
                <a:latin typeface="Times New Roman" panose="02020603050405020304" pitchFamily="18" charset="0"/>
                <a:cs typeface="Times New Roman" panose="02020603050405020304" pitchFamily="18" charset="0"/>
              </a:rPr>
              <a:t>How can AI optimize resource allocation in animal shelters? </a:t>
            </a:r>
          </a:p>
          <a:p>
            <a:pPr marL="50800" indent="0">
              <a:buNone/>
            </a:pPr>
            <a:r>
              <a:rPr lang="en-IN" sz="2400" b="1" dirty="0">
                <a:latin typeface="Times New Roman" panose="02020603050405020304" pitchFamily="18" charset="0"/>
                <a:cs typeface="Times New Roman" panose="02020603050405020304" pitchFamily="18" charset="0"/>
              </a:rPr>
              <a:t>Research Gaps</a:t>
            </a:r>
          </a:p>
          <a:p>
            <a:r>
              <a:rPr lang="en-IN" sz="2000" dirty="0">
                <a:latin typeface="Times New Roman" panose="02020603050405020304" pitchFamily="18" charset="0"/>
                <a:cs typeface="Times New Roman" panose="02020603050405020304" pitchFamily="18" charset="0"/>
              </a:rPr>
              <a:t>Existing AI focuses mainly on </a:t>
            </a:r>
            <a:r>
              <a:rPr lang="en-IN" sz="2000" b="1" dirty="0">
                <a:latin typeface="Times New Roman" panose="02020603050405020304" pitchFamily="18" charset="0"/>
                <a:cs typeface="Times New Roman" panose="02020603050405020304" pitchFamily="18" charset="0"/>
              </a:rPr>
              <a:t>disease classification</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No comprehensive </a:t>
            </a:r>
            <a:r>
              <a:rPr lang="en-IN" sz="2000" b="1" dirty="0">
                <a:latin typeface="Times New Roman" panose="02020603050405020304" pitchFamily="18" charset="0"/>
                <a:cs typeface="Times New Roman" panose="02020603050405020304" pitchFamily="18" charset="0"/>
              </a:rPr>
              <a:t>veterinary triage system</a:t>
            </a:r>
            <a:r>
              <a:rPr lang="en-IN" sz="2000" dirty="0">
                <a:latin typeface="Times New Roman" panose="02020603050405020304" pitchFamily="18" charset="0"/>
                <a:cs typeface="Times New Roman" panose="02020603050405020304" pitchFamily="18" charset="0"/>
              </a:rPr>
              <a:t> for shelters. </a:t>
            </a:r>
          </a:p>
          <a:p>
            <a:r>
              <a:rPr lang="en-IN" sz="2000" dirty="0">
                <a:latin typeface="Times New Roman" panose="02020603050405020304" pitchFamily="18" charset="0"/>
                <a:cs typeface="Times New Roman" panose="02020603050405020304" pitchFamily="18" charset="0"/>
              </a:rPr>
              <a:t>Lack of multi-model integration for treatment prioritization. </a:t>
            </a:r>
          </a:p>
          <a:p>
            <a:r>
              <a:rPr lang="en-IN" sz="2000" dirty="0">
                <a:latin typeface="Times New Roman" panose="02020603050405020304" pitchFamily="18" charset="0"/>
                <a:cs typeface="Times New Roman" panose="02020603050405020304" pitchFamily="18" charset="0"/>
              </a:rPr>
              <a:t>Fragmented veterinary datasets limit real-world applicability. </a:t>
            </a:r>
          </a:p>
          <a:p>
            <a:r>
              <a:rPr lang="en-IN" sz="2000" dirty="0">
                <a:latin typeface="Times New Roman" panose="02020603050405020304" pitchFamily="18" charset="0"/>
                <a:cs typeface="Times New Roman" panose="02020603050405020304" pitchFamily="18" charset="0"/>
              </a:rPr>
              <a:t>Limited AI support for veterinary decision-making during rescue operations</a:t>
            </a:r>
          </a:p>
        </p:txBody>
      </p:sp>
      <p:sp>
        <p:nvSpPr>
          <p:cNvPr id="5" name="Google Shape;1035;p46">
            <a:extLst>
              <a:ext uri="{FF2B5EF4-FFF2-40B4-BE49-F238E27FC236}">
                <a16:creationId xmlns:a16="http://schemas.microsoft.com/office/drawing/2014/main" id="{5EA572AB-3BA6-17FB-9016-5CEC7B5B142A}"/>
              </a:ext>
            </a:extLst>
          </p:cNvPr>
          <p:cNvSpPr txBox="1">
            <a:spLocks noGrp="1"/>
          </p:cNvSpPr>
          <p:nvPr>
            <p:ph type="title"/>
          </p:nvPr>
        </p:nvSpPr>
        <p:spPr>
          <a:xfrm>
            <a:off x="575341" y="35528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4. Research Questions &amp; Gaps</a:t>
            </a:r>
            <a:endParaRPr lang="en-IN" sz="5400" dirty="0"/>
          </a:p>
        </p:txBody>
      </p:sp>
      <p:pic>
        <p:nvPicPr>
          <p:cNvPr id="4" name="Picture 3">
            <a:extLst>
              <a:ext uri="{FF2B5EF4-FFF2-40B4-BE49-F238E27FC236}">
                <a16:creationId xmlns:a16="http://schemas.microsoft.com/office/drawing/2014/main" id="{C610BC7F-29DF-DD9A-B1CE-C1AD76FFBB29}"/>
              </a:ext>
            </a:extLst>
          </p:cNvPr>
          <p:cNvPicPr>
            <a:picLocks noChangeAspect="1"/>
          </p:cNvPicPr>
          <p:nvPr/>
        </p:nvPicPr>
        <p:blipFill>
          <a:blip r:embed="rId2"/>
          <a:srcRect t="31934" b="33169"/>
          <a:stretch>
            <a:fillRect/>
          </a:stretch>
        </p:blipFill>
        <p:spPr>
          <a:xfrm>
            <a:off x="9895220" y="0"/>
            <a:ext cx="2296780" cy="801510"/>
          </a:xfrm>
          <a:prstGeom prst="rect">
            <a:avLst/>
          </a:prstGeom>
        </p:spPr>
      </p:pic>
    </p:spTree>
    <p:extLst>
      <p:ext uri="{BB962C8B-B14F-4D97-AF65-F5344CB8AC3E}">
        <p14:creationId xmlns:p14="http://schemas.microsoft.com/office/powerpoint/2010/main" val="724323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E606F-A699-A9BD-E45B-99E18641608C}"/>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61DF6DF2-DCF7-C5BC-CF84-ABEEE9DBFDF0}"/>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5. Related Products </a:t>
            </a:r>
            <a:endParaRPr lang="en-IN" sz="5400" dirty="0"/>
          </a:p>
        </p:txBody>
      </p:sp>
      <p:graphicFrame>
        <p:nvGraphicFramePr>
          <p:cNvPr id="2" name="Table 1">
            <a:extLst>
              <a:ext uri="{FF2B5EF4-FFF2-40B4-BE49-F238E27FC236}">
                <a16:creationId xmlns:a16="http://schemas.microsoft.com/office/drawing/2014/main" id="{2E0C3FB5-478D-8650-76CA-F74D1EF5D16F}"/>
              </a:ext>
            </a:extLst>
          </p:cNvPr>
          <p:cNvGraphicFramePr>
            <a:graphicFrameLocks noGrp="1"/>
          </p:cNvGraphicFramePr>
          <p:nvPr>
            <p:extLst>
              <p:ext uri="{D42A27DB-BD31-4B8C-83A1-F6EECF244321}">
                <p14:modId xmlns:p14="http://schemas.microsoft.com/office/powerpoint/2010/main" val="3640279841"/>
              </p:ext>
            </p:extLst>
          </p:nvPr>
        </p:nvGraphicFramePr>
        <p:xfrm>
          <a:off x="157481" y="908497"/>
          <a:ext cx="11877038" cy="5041006"/>
        </p:xfrm>
        <a:graphic>
          <a:graphicData uri="http://schemas.openxmlformats.org/drawingml/2006/table">
            <a:tbl>
              <a:tblPr firstRow="1" bandRow="1">
                <a:tableStyleId>{B229F12B-DD2F-434A-8BDD-88915C9BCD54}</a:tableStyleId>
              </a:tblPr>
              <a:tblGrid>
                <a:gridCol w="2528363">
                  <a:extLst>
                    <a:ext uri="{9D8B030D-6E8A-4147-A177-3AD203B41FA5}">
                      <a16:colId xmlns:a16="http://schemas.microsoft.com/office/drawing/2014/main" val="1250080454"/>
                    </a:ext>
                  </a:extLst>
                </a:gridCol>
                <a:gridCol w="3116225">
                  <a:extLst>
                    <a:ext uri="{9D8B030D-6E8A-4147-A177-3AD203B41FA5}">
                      <a16:colId xmlns:a16="http://schemas.microsoft.com/office/drawing/2014/main" val="3936543541"/>
                    </a:ext>
                  </a:extLst>
                </a:gridCol>
                <a:gridCol w="3116225">
                  <a:extLst>
                    <a:ext uri="{9D8B030D-6E8A-4147-A177-3AD203B41FA5}">
                      <a16:colId xmlns:a16="http://schemas.microsoft.com/office/drawing/2014/main" val="1462208224"/>
                    </a:ext>
                  </a:extLst>
                </a:gridCol>
                <a:gridCol w="3116225">
                  <a:extLst>
                    <a:ext uri="{9D8B030D-6E8A-4147-A177-3AD203B41FA5}">
                      <a16:colId xmlns:a16="http://schemas.microsoft.com/office/drawing/2014/main" val="1827975197"/>
                    </a:ext>
                  </a:extLst>
                </a:gridCol>
              </a:tblGrid>
              <a:tr h="743326">
                <a:tc>
                  <a:txBody>
                    <a:bodyPr/>
                    <a:lstStyle/>
                    <a:p>
                      <a:pPr algn="ctr"/>
                      <a:r>
                        <a:rPr lang="en-IN" sz="2400" b="1" dirty="0">
                          <a:latin typeface="Times New Roman" panose="02020603050405020304" pitchFamily="18" charset="0"/>
                          <a:cs typeface="Times New Roman" panose="02020603050405020304" pitchFamily="18" charset="0"/>
                        </a:rPr>
                        <a:t>Product Name </a:t>
                      </a:r>
                    </a:p>
                  </a:txBody>
                  <a:tcPr>
                    <a:solidFill>
                      <a:srgbClr val="B6114D">
                        <a:alpha val="0"/>
                      </a:srgbClr>
                    </a:solidFill>
                  </a:tcPr>
                </a:tc>
                <a:tc>
                  <a:txBody>
                    <a:bodyPr/>
                    <a:lstStyle/>
                    <a:p>
                      <a:pPr algn="ctr"/>
                      <a:r>
                        <a:rPr lang="en-IN" sz="2400" b="1" dirty="0" err="1">
                          <a:latin typeface="Times New Roman" panose="02020603050405020304" pitchFamily="18" charset="0"/>
                          <a:cs typeface="Times New Roman" panose="02020603050405020304" pitchFamily="18" charset="0"/>
                        </a:rPr>
                        <a:t>Url</a:t>
                      </a:r>
                      <a:endParaRPr lang="en-IN" sz="24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2400" b="1" dirty="0">
                          <a:latin typeface="Times New Roman" panose="02020603050405020304" pitchFamily="18" charset="0"/>
                          <a:cs typeface="Times New Roman" panose="02020603050405020304" pitchFamily="18" charset="0"/>
                        </a:rPr>
                        <a:t>Features</a:t>
                      </a:r>
                    </a:p>
                  </a:txBody>
                  <a:tcPr>
                    <a:solidFill>
                      <a:srgbClr val="B6114D">
                        <a:alpha val="0"/>
                      </a:srgbClr>
                    </a:solidFill>
                  </a:tcPr>
                </a:tc>
                <a:tc>
                  <a:txBody>
                    <a:bodyPr/>
                    <a:lstStyle/>
                    <a:p>
                      <a:pPr algn="ctr"/>
                      <a:r>
                        <a:rPr lang="en-IN" sz="2400" b="1" dirty="0">
                          <a:latin typeface="Times New Roman" panose="02020603050405020304" pitchFamily="18" charset="0"/>
                          <a:cs typeface="Times New Roman" panose="02020603050405020304" pitchFamily="18" charset="0"/>
                        </a:rPr>
                        <a:t>Limitations</a:t>
                      </a:r>
                    </a:p>
                  </a:txBody>
                  <a:tcPr>
                    <a:solidFill>
                      <a:srgbClr val="B6114D">
                        <a:alpha val="0"/>
                      </a:srgbClr>
                    </a:solidFill>
                  </a:tcPr>
                </a:tc>
                <a:extLst>
                  <a:ext uri="{0D108BD9-81ED-4DB2-BD59-A6C34878D82A}">
                    <a16:rowId xmlns:a16="http://schemas.microsoft.com/office/drawing/2014/main" val="1083485926"/>
                  </a:ext>
                </a:extLst>
              </a:tr>
              <a:tr h="404508">
                <a:tc>
                  <a:txBody>
                    <a:bodyPr/>
                    <a:lstStyle/>
                    <a:p>
                      <a:pPr>
                        <a:buNone/>
                      </a:pPr>
                      <a:r>
                        <a:rPr lang="en-IN" sz="1800" b="1" dirty="0" err="1">
                          <a:latin typeface="Times New Roman" panose="02020603050405020304" pitchFamily="18" charset="0"/>
                          <a:cs typeface="Times New Roman" panose="02020603050405020304" pitchFamily="18" charset="0"/>
                        </a:rPr>
                        <a:t>Petriage</a:t>
                      </a:r>
                      <a:endParaRPr lang="en-IN" sz="1800" dirty="0">
                        <a:latin typeface="Times New Roman" panose="02020603050405020304" pitchFamily="18" charset="0"/>
                        <a:cs typeface="Times New Roman" panose="02020603050405020304" pitchFamily="18" charset="0"/>
                      </a:endParaRPr>
                    </a:p>
                  </a:txBody>
                  <a:tcPr anchor="ctr">
                    <a:solidFill>
                      <a:srgbClr val="B6114D">
                        <a:alpha val="0"/>
                      </a:srgbClr>
                    </a:solidFill>
                  </a:tcPr>
                </a:tc>
                <a:tc>
                  <a:txBody>
                    <a:bodyPr/>
                    <a:lstStyle/>
                    <a:p>
                      <a:pPr>
                        <a:buNone/>
                      </a:pPr>
                      <a:r>
                        <a:rPr lang="en-IN" sz="1800">
                          <a:latin typeface="Times New Roman" panose="02020603050405020304" pitchFamily="18" charset="0"/>
                          <a:cs typeface="Times New Roman" panose="02020603050405020304" pitchFamily="18" charset="0"/>
                          <a:hlinkClick r:id="rId2"/>
                        </a:rPr>
                        <a:t>https://petriage.com</a:t>
                      </a:r>
                      <a:endParaRPr lang="en-IN" sz="1800">
                        <a:latin typeface="Times New Roman" panose="02020603050405020304" pitchFamily="18" charset="0"/>
                        <a:cs typeface="Times New Roman" panose="02020603050405020304" pitchFamily="18" charset="0"/>
                      </a:endParaRPr>
                    </a:p>
                  </a:txBody>
                  <a:tcPr anchor="ctr">
                    <a:solidFill>
                      <a:srgbClr val="B6114D">
                        <a:alpha val="0"/>
                      </a:srgbClr>
                    </a:solidFill>
                  </a:tcPr>
                </a:tc>
                <a:tc>
                  <a:txBody>
                    <a:bodyPr/>
                    <a:lstStyle/>
                    <a:p>
                      <a:pPr>
                        <a:buNone/>
                      </a:pPr>
                      <a:r>
                        <a:rPr lang="en-IN" sz="1800">
                          <a:latin typeface="Times New Roman" panose="02020603050405020304" pitchFamily="18" charset="0"/>
                          <a:cs typeface="Times New Roman" panose="02020603050405020304" pitchFamily="18" charset="0"/>
                        </a:rPr>
                        <a:t>AI symptom checker, teletriage, emergency guidance</a:t>
                      </a:r>
                    </a:p>
                  </a:txBody>
                  <a:tcPr anchor="ctr">
                    <a:solidFill>
                      <a:srgbClr val="B6114D">
                        <a:alpha val="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Symptom-based; no image analysis or treatment prioritization.</a:t>
                      </a:r>
                    </a:p>
                  </a:txBody>
                  <a:tcPr anchor="ctr">
                    <a:solidFill>
                      <a:srgbClr val="B6114D">
                        <a:alpha val="0"/>
                      </a:srgbClr>
                    </a:solidFill>
                  </a:tcPr>
                </a:tc>
                <a:extLst>
                  <a:ext uri="{0D108BD9-81ED-4DB2-BD59-A6C34878D82A}">
                    <a16:rowId xmlns:a16="http://schemas.microsoft.com/office/drawing/2014/main" val="10768018"/>
                  </a:ext>
                </a:extLst>
              </a:tr>
              <a:tr h="404508">
                <a:tc>
                  <a:txBody>
                    <a:bodyPr/>
                    <a:lstStyle/>
                    <a:p>
                      <a:pPr>
                        <a:buNone/>
                      </a:pPr>
                      <a:r>
                        <a:rPr lang="en-IN" sz="1800" b="1">
                          <a:latin typeface="Times New Roman" panose="02020603050405020304" pitchFamily="18" charset="0"/>
                          <a:cs typeface="Times New Roman" panose="02020603050405020304" pitchFamily="18" charset="0"/>
                        </a:rPr>
                        <a:t>Vetster</a:t>
                      </a:r>
                      <a:endParaRPr lang="en-IN" sz="1800">
                        <a:latin typeface="Times New Roman" panose="02020603050405020304" pitchFamily="18" charset="0"/>
                        <a:cs typeface="Times New Roman" panose="02020603050405020304" pitchFamily="18" charset="0"/>
                      </a:endParaRPr>
                    </a:p>
                  </a:txBody>
                  <a:tcPr anchor="ctr">
                    <a:solidFill>
                      <a:srgbClr val="B6114D">
                        <a:alpha val="0"/>
                      </a:srgbClr>
                    </a:solidFill>
                  </a:tcPr>
                </a:tc>
                <a:tc>
                  <a:txBody>
                    <a:bodyPr/>
                    <a:lstStyle/>
                    <a:p>
                      <a:pPr>
                        <a:buNone/>
                      </a:pPr>
                      <a:r>
                        <a:rPr lang="en-IN" sz="1800" dirty="0">
                          <a:latin typeface="Times New Roman" panose="02020603050405020304" pitchFamily="18" charset="0"/>
                          <a:cs typeface="Times New Roman" panose="02020603050405020304" pitchFamily="18" charset="0"/>
                          <a:hlinkClick r:id="rId3"/>
                        </a:rPr>
                        <a:t>https://vetster.com</a:t>
                      </a:r>
                      <a:endParaRPr lang="en-IN" sz="1800" dirty="0">
                        <a:latin typeface="Times New Roman" panose="02020603050405020304" pitchFamily="18" charset="0"/>
                        <a:cs typeface="Times New Roman" panose="02020603050405020304" pitchFamily="18" charset="0"/>
                      </a:endParaRPr>
                    </a:p>
                  </a:txBody>
                  <a:tcPr anchor="ctr">
                    <a:solidFill>
                      <a:srgbClr val="B6114D">
                        <a:alpha val="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Online veterinary consultations, video appointments</a:t>
                      </a:r>
                    </a:p>
                  </a:txBody>
                  <a:tcPr anchor="ctr">
                    <a:solidFill>
                      <a:srgbClr val="B6114D">
                        <a:alpha val="0"/>
                      </a:srgbClr>
                    </a:solidFill>
                  </a:tcPr>
                </a:tc>
                <a:tc>
                  <a:txBody>
                    <a:bodyPr/>
                    <a:lstStyle/>
                    <a:p>
                      <a:pPr>
                        <a:buNone/>
                      </a:pPr>
                      <a:r>
                        <a:rPr lang="en-IN" sz="1800">
                          <a:latin typeface="Times New Roman" panose="02020603050405020304" pitchFamily="18" charset="0"/>
                          <a:cs typeface="Times New Roman" panose="02020603050405020304" pitchFamily="18" charset="0"/>
                        </a:rPr>
                        <a:t>Requires live veterinarians; no automated AI triage.</a:t>
                      </a:r>
                    </a:p>
                  </a:txBody>
                  <a:tcPr anchor="ctr">
                    <a:solidFill>
                      <a:srgbClr val="B6114D">
                        <a:alpha val="0"/>
                      </a:srgbClr>
                    </a:solidFill>
                  </a:tcPr>
                </a:tc>
                <a:extLst>
                  <a:ext uri="{0D108BD9-81ED-4DB2-BD59-A6C34878D82A}">
                    <a16:rowId xmlns:a16="http://schemas.microsoft.com/office/drawing/2014/main" val="366560856"/>
                  </a:ext>
                </a:extLst>
              </a:tr>
              <a:tr h="404508">
                <a:tc>
                  <a:txBody>
                    <a:bodyPr/>
                    <a:lstStyle/>
                    <a:p>
                      <a:pPr>
                        <a:buNone/>
                      </a:pPr>
                      <a:r>
                        <a:rPr lang="en-IN" sz="1800" b="1">
                          <a:latin typeface="Times New Roman" panose="02020603050405020304" pitchFamily="18" charset="0"/>
                          <a:cs typeface="Times New Roman" panose="02020603050405020304" pitchFamily="18" charset="0"/>
                        </a:rPr>
                        <a:t>Vet-AI Symptom Checker</a:t>
                      </a:r>
                      <a:endParaRPr lang="en-IN" sz="1800">
                        <a:latin typeface="Times New Roman" panose="02020603050405020304" pitchFamily="18" charset="0"/>
                        <a:cs typeface="Times New Roman" panose="02020603050405020304" pitchFamily="18" charset="0"/>
                      </a:endParaRPr>
                    </a:p>
                  </a:txBody>
                  <a:tcPr anchor="ctr">
                    <a:solidFill>
                      <a:srgbClr val="B6114D">
                        <a:alpha val="0"/>
                      </a:srgbClr>
                    </a:solidFill>
                  </a:tcPr>
                </a:tc>
                <a:tc>
                  <a:txBody>
                    <a:bodyPr/>
                    <a:lstStyle/>
                    <a:p>
                      <a:pPr>
                        <a:buNone/>
                      </a:pPr>
                      <a:r>
                        <a:rPr lang="en-IN" sz="1800" dirty="0">
                          <a:latin typeface="Times New Roman" panose="02020603050405020304" pitchFamily="18" charset="0"/>
                          <a:cs typeface="Times New Roman" panose="02020603050405020304" pitchFamily="18" charset="0"/>
                          <a:hlinkClick r:id="rId4"/>
                        </a:rPr>
                        <a:t>https://www.vet-ai.com/symptomchecker</a:t>
                      </a:r>
                      <a:endParaRPr lang="en-IN" sz="1800" dirty="0">
                        <a:latin typeface="Times New Roman" panose="02020603050405020304" pitchFamily="18" charset="0"/>
                        <a:cs typeface="Times New Roman" panose="02020603050405020304" pitchFamily="18" charset="0"/>
                      </a:endParaRPr>
                    </a:p>
                  </a:txBody>
                  <a:tcPr anchor="ctr">
                    <a:solidFill>
                      <a:srgbClr val="B6114D">
                        <a:alpha val="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AI symptom assessment, health recommendations</a:t>
                      </a:r>
                    </a:p>
                  </a:txBody>
                  <a:tcPr anchor="ctr">
                    <a:solidFill>
                      <a:srgbClr val="B6114D">
                        <a:alpha val="0"/>
                      </a:srgbClr>
                    </a:solidFill>
                  </a:tcPr>
                </a:tc>
                <a:tc>
                  <a:txBody>
                    <a:bodyPr/>
                    <a:lstStyle/>
                    <a:p>
                      <a:pPr>
                        <a:buNone/>
                      </a:pPr>
                      <a:r>
                        <a:rPr lang="en-IN" sz="1800">
                          <a:latin typeface="Times New Roman" panose="02020603050405020304" pitchFamily="18" charset="0"/>
                          <a:cs typeface="Times New Roman" panose="02020603050405020304" pitchFamily="18" charset="0"/>
                        </a:rPr>
                        <a:t>Questionnaire-based; no computer vision or severity analysis.</a:t>
                      </a:r>
                    </a:p>
                  </a:txBody>
                  <a:tcPr anchor="ctr">
                    <a:solidFill>
                      <a:srgbClr val="B6114D">
                        <a:alpha val="0"/>
                      </a:srgbClr>
                    </a:solidFill>
                  </a:tcPr>
                </a:tc>
                <a:extLst>
                  <a:ext uri="{0D108BD9-81ED-4DB2-BD59-A6C34878D82A}">
                    <a16:rowId xmlns:a16="http://schemas.microsoft.com/office/drawing/2014/main" val="3383436331"/>
                  </a:ext>
                </a:extLst>
              </a:tr>
              <a:tr h="404508">
                <a:tc>
                  <a:txBody>
                    <a:bodyPr/>
                    <a:lstStyle/>
                    <a:p>
                      <a:pPr>
                        <a:buNone/>
                      </a:pPr>
                      <a:r>
                        <a:rPr lang="en-IN" sz="1800" b="1">
                          <a:latin typeface="Times New Roman" panose="02020603050405020304" pitchFamily="18" charset="0"/>
                          <a:cs typeface="Times New Roman" panose="02020603050405020304" pitchFamily="18" charset="0"/>
                        </a:rPr>
                        <a:t>AI Vet Doctor</a:t>
                      </a:r>
                      <a:endParaRPr lang="en-IN" sz="1800">
                        <a:latin typeface="Times New Roman" panose="02020603050405020304" pitchFamily="18" charset="0"/>
                        <a:cs typeface="Times New Roman" panose="02020603050405020304" pitchFamily="18" charset="0"/>
                      </a:endParaRPr>
                    </a:p>
                  </a:txBody>
                  <a:tcPr anchor="ctr">
                    <a:solidFill>
                      <a:srgbClr val="B6114D">
                        <a:alpha val="0"/>
                      </a:srgbClr>
                    </a:solidFill>
                  </a:tcPr>
                </a:tc>
                <a:tc>
                  <a:txBody>
                    <a:bodyPr/>
                    <a:lstStyle/>
                    <a:p>
                      <a:pPr>
                        <a:buNone/>
                      </a:pPr>
                      <a:r>
                        <a:rPr lang="en-IN" sz="1800">
                          <a:latin typeface="Times New Roman" panose="02020603050405020304" pitchFamily="18" charset="0"/>
                          <a:cs typeface="Times New Roman" panose="02020603050405020304" pitchFamily="18" charset="0"/>
                          <a:hlinkClick r:id="rId5"/>
                        </a:rPr>
                        <a:t>https://aivetdoctor.com</a:t>
                      </a:r>
                      <a:endParaRPr lang="en-IN" sz="1800">
                        <a:latin typeface="Times New Roman" panose="02020603050405020304" pitchFamily="18" charset="0"/>
                        <a:cs typeface="Times New Roman" panose="02020603050405020304" pitchFamily="18" charset="0"/>
                      </a:endParaRPr>
                    </a:p>
                  </a:txBody>
                  <a:tcPr anchor="ctr">
                    <a:solidFill>
                      <a:srgbClr val="B6114D">
                        <a:alpha val="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AI image analysis, disease suggestions</a:t>
                      </a:r>
                    </a:p>
                  </a:txBody>
                  <a:tcPr anchor="ctr">
                    <a:solidFill>
                      <a:srgbClr val="B6114D">
                        <a:alpha val="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Focuses on disease detection; no shelter-oriented prioritization.</a:t>
                      </a:r>
                    </a:p>
                  </a:txBody>
                  <a:tcPr anchor="ctr">
                    <a:solidFill>
                      <a:srgbClr val="B6114D">
                        <a:alpha val="0"/>
                      </a:srgbClr>
                    </a:solidFill>
                  </a:tcPr>
                </a:tc>
                <a:extLst>
                  <a:ext uri="{0D108BD9-81ED-4DB2-BD59-A6C34878D82A}">
                    <a16:rowId xmlns:a16="http://schemas.microsoft.com/office/drawing/2014/main" val="2449703215"/>
                  </a:ext>
                </a:extLst>
              </a:tr>
              <a:tr h="404508">
                <a:tc>
                  <a:txBody>
                    <a:bodyPr/>
                    <a:lstStyle/>
                    <a:p>
                      <a:pPr>
                        <a:buNone/>
                      </a:pPr>
                      <a:r>
                        <a:rPr lang="en-IN" sz="1800" b="1">
                          <a:latin typeface="Times New Roman" panose="02020603050405020304" pitchFamily="18" charset="0"/>
                          <a:cs typeface="Times New Roman" panose="02020603050405020304" pitchFamily="18" charset="0"/>
                        </a:rPr>
                        <a:t>Whisker Wellness</a:t>
                      </a:r>
                      <a:endParaRPr lang="en-IN" sz="1800">
                        <a:latin typeface="Times New Roman" panose="02020603050405020304" pitchFamily="18" charset="0"/>
                        <a:cs typeface="Times New Roman" panose="02020603050405020304" pitchFamily="18" charset="0"/>
                      </a:endParaRPr>
                    </a:p>
                  </a:txBody>
                  <a:tcPr anchor="ctr">
                    <a:solidFill>
                      <a:srgbClr val="B6114D">
                        <a:alpha val="0"/>
                      </a:srgbClr>
                    </a:solidFill>
                  </a:tcPr>
                </a:tc>
                <a:tc>
                  <a:txBody>
                    <a:bodyPr/>
                    <a:lstStyle/>
                    <a:p>
                      <a:pPr>
                        <a:buNone/>
                      </a:pPr>
                      <a:r>
                        <a:rPr lang="en-IN" sz="1800">
                          <a:latin typeface="Times New Roman" panose="02020603050405020304" pitchFamily="18" charset="0"/>
                          <a:cs typeface="Times New Roman" panose="02020603050405020304" pitchFamily="18" charset="0"/>
                          <a:hlinkClick r:id="rId6"/>
                        </a:rPr>
                        <a:t>https://whiskerwellness.com</a:t>
                      </a:r>
                      <a:endParaRPr lang="en-IN" sz="1800">
                        <a:latin typeface="Times New Roman" panose="02020603050405020304" pitchFamily="18" charset="0"/>
                        <a:cs typeface="Times New Roman" panose="02020603050405020304" pitchFamily="18" charset="0"/>
                      </a:endParaRPr>
                    </a:p>
                  </a:txBody>
                  <a:tcPr anchor="ctr">
                    <a:solidFill>
                      <a:srgbClr val="B6114D">
                        <a:alpha val="0"/>
                      </a:srgbClr>
                    </a:solidFill>
                  </a:tcPr>
                </a:tc>
                <a:tc>
                  <a:txBody>
                    <a:bodyPr/>
                    <a:lstStyle/>
                    <a:p>
                      <a:pPr>
                        <a:buNone/>
                      </a:pPr>
                      <a:r>
                        <a:rPr lang="en-IN" sz="1800">
                          <a:latin typeface="Times New Roman" panose="02020603050405020304" pitchFamily="18" charset="0"/>
                          <a:cs typeface="Times New Roman" panose="02020603050405020304" pitchFamily="18" charset="0"/>
                        </a:rPr>
                        <a:t>Symptom checker, pet health tracking</a:t>
                      </a:r>
                    </a:p>
                  </a:txBody>
                  <a:tcPr anchor="ctr">
                    <a:solidFill>
                      <a:srgbClr val="B6114D">
                        <a:alpha val="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Designed for pet owners; lacks multi-model AI and triage support.</a:t>
                      </a:r>
                    </a:p>
                  </a:txBody>
                  <a:tcPr anchor="ctr">
                    <a:solidFill>
                      <a:srgbClr val="B6114D">
                        <a:alpha val="0"/>
                      </a:srgbClr>
                    </a:solidFill>
                  </a:tcPr>
                </a:tc>
                <a:extLst>
                  <a:ext uri="{0D108BD9-81ED-4DB2-BD59-A6C34878D82A}">
                    <a16:rowId xmlns:a16="http://schemas.microsoft.com/office/drawing/2014/main" val="4271355881"/>
                  </a:ext>
                </a:extLst>
              </a:tr>
            </a:tbl>
          </a:graphicData>
        </a:graphic>
      </p:graphicFrame>
      <p:pic>
        <p:nvPicPr>
          <p:cNvPr id="4" name="Picture 3">
            <a:extLst>
              <a:ext uri="{FF2B5EF4-FFF2-40B4-BE49-F238E27FC236}">
                <a16:creationId xmlns:a16="http://schemas.microsoft.com/office/drawing/2014/main" id="{D48AD86E-C9D8-F72C-5424-D96C3AC5D2A6}"/>
              </a:ext>
            </a:extLst>
          </p:cNvPr>
          <p:cNvPicPr>
            <a:picLocks noChangeAspect="1"/>
          </p:cNvPicPr>
          <p:nvPr/>
        </p:nvPicPr>
        <p:blipFill>
          <a:blip r:embed="rId7"/>
          <a:srcRect t="31934" b="33169"/>
          <a:stretch>
            <a:fillRect/>
          </a:stretch>
        </p:blipFill>
        <p:spPr>
          <a:xfrm>
            <a:off x="9895220" y="0"/>
            <a:ext cx="2296780" cy="801510"/>
          </a:xfrm>
          <a:prstGeom prst="rect">
            <a:avLst/>
          </a:prstGeom>
        </p:spPr>
      </p:pic>
    </p:spTree>
    <p:extLst>
      <p:ext uri="{BB962C8B-B14F-4D97-AF65-F5344CB8AC3E}">
        <p14:creationId xmlns:p14="http://schemas.microsoft.com/office/powerpoint/2010/main" val="1226017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ECA75-2A65-F210-3F25-E6D42F871574}"/>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49307E3B-847F-0305-32E3-59B92F401C11}"/>
              </a:ext>
            </a:extLst>
          </p:cNvPr>
          <p:cNvSpPr txBox="1">
            <a:spLocks noGrp="1"/>
          </p:cNvSpPr>
          <p:nvPr>
            <p:ph type="title"/>
          </p:nvPr>
        </p:nvSpPr>
        <p:spPr>
          <a:xfrm>
            <a:off x="9843911" y="5711036"/>
            <a:ext cx="2460979" cy="407359"/>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sz="2800" b="1" i="1" dirty="0">
                <a:solidFill>
                  <a:srgbClr val="C00000"/>
                </a:solidFill>
                <a:latin typeface="Times New Roman"/>
                <a:cs typeface="Times New Roman"/>
                <a:sym typeface="Times New Roman"/>
              </a:rPr>
              <a:t>SDG Mapping</a:t>
            </a:r>
            <a:endParaRPr lang="en-IN" sz="2800" dirty="0"/>
          </a:p>
        </p:txBody>
      </p:sp>
      <p:sp>
        <p:nvSpPr>
          <p:cNvPr id="9" name="Rectangle 6">
            <a:extLst>
              <a:ext uri="{FF2B5EF4-FFF2-40B4-BE49-F238E27FC236}">
                <a16:creationId xmlns:a16="http://schemas.microsoft.com/office/drawing/2014/main" id="{CA40181E-5C7E-BF46-F30D-65A6352A1FD7}"/>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C1E10F74-317E-6920-8F9B-F1FF851EBE72}"/>
              </a:ext>
            </a:extLst>
          </p:cNvPr>
          <p:cNvSpPr>
            <a:spLocks noChangeArrowheads="1"/>
          </p:cNvSpPr>
          <p:nvPr/>
        </p:nvSpPr>
        <p:spPr bwMode="auto">
          <a:xfrm>
            <a:off x="182881" y="590580"/>
            <a:ext cx="11826238"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400" b="1" dirty="0">
                <a:latin typeface="Times New Roman" panose="02020603050405020304" pitchFamily="18" charset="0"/>
                <a:cs typeface="Times New Roman" panose="02020603050405020304" pitchFamily="18" charset="0"/>
              </a:rPr>
              <a:t>SDG 3 – Good Health and Well-being (Primary SDG)</a:t>
            </a:r>
          </a:p>
          <a:p>
            <a:r>
              <a:rPr lang="en-IN" sz="2000" b="1" dirty="0">
                <a:latin typeface="Times New Roman" panose="02020603050405020304" pitchFamily="18" charset="0"/>
                <a:cs typeface="Times New Roman" panose="02020603050405020304" pitchFamily="18" charset="0"/>
              </a:rPr>
              <a:t>Objective:</a:t>
            </a:r>
            <a:r>
              <a:rPr lang="en-IN" sz="2000" dirty="0">
                <a:latin typeface="Times New Roman" panose="02020603050405020304" pitchFamily="18" charset="0"/>
                <a:cs typeface="Times New Roman" panose="02020603050405020304" pitchFamily="18" charset="0"/>
              </a:rPr>
              <a:t> Ensure healthy lives and promote well-being for all at all ages through improved healthcare systems, disease prevention, and early intervention.</a:t>
            </a:r>
          </a:p>
          <a:p>
            <a:r>
              <a:rPr lang="en-IN" sz="2000" dirty="0">
                <a:latin typeface="Times New Roman" panose="02020603050405020304" pitchFamily="18" charset="0"/>
                <a:cs typeface="Times New Roman" panose="02020603050405020304" pitchFamily="18" charset="0"/>
              </a:rPr>
              <a:t>Although SDG 3 primarily focuses on human health, the </a:t>
            </a:r>
            <a:r>
              <a:rPr lang="en-IN" sz="2000" b="1" dirty="0">
                <a:latin typeface="Times New Roman" panose="02020603050405020304" pitchFamily="18" charset="0"/>
                <a:cs typeface="Times New Roman" panose="02020603050405020304" pitchFamily="18" charset="0"/>
              </a:rPr>
              <a:t>One Health</a:t>
            </a:r>
            <a:r>
              <a:rPr lang="en-IN" sz="2000" dirty="0">
                <a:latin typeface="Times New Roman" panose="02020603050405020304" pitchFamily="18" charset="0"/>
                <a:cs typeface="Times New Roman" panose="02020603050405020304" pitchFamily="18" charset="0"/>
              </a:rPr>
              <a:t> approach recognizes that human, animal, and environmental health are interconnected. Early diagnosis, timely medical intervention, and the use of AI-driven healthcare technologies contribute to improving overall public and animal health. By assisting veterinarians in identifying critical health conditions at an early stage, MediPaw promotes efficient healthcare delivery and better medical decision-making</a:t>
            </a: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SDG 15 – Life on Land (Secondary SDG)</a:t>
            </a:r>
          </a:p>
          <a:p>
            <a:r>
              <a:rPr lang="en-IN" sz="2000" b="1" dirty="0">
                <a:latin typeface="Times New Roman" panose="02020603050405020304" pitchFamily="18" charset="0"/>
                <a:cs typeface="Times New Roman" panose="02020603050405020304" pitchFamily="18" charset="0"/>
              </a:rPr>
              <a:t>Objective:</a:t>
            </a:r>
            <a:r>
              <a:rPr lang="en-IN" sz="2000" dirty="0">
                <a:latin typeface="Times New Roman" panose="02020603050405020304" pitchFamily="18" charset="0"/>
                <a:cs typeface="Times New Roman" panose="02020603050405020304" pitchFamily="18" charset="0"/>
              </a:rPr>
              <a:t> Protect, restore, and promote the sustainable use of terrestrial ecosystems while conserving biodiversity and improving the welfare of terrestrial animals.</a:t>
            </a:r>
          </a:p>
          <a:p>
            <a:r>
              <a:rPr lang="en-IN" sz="2000" dirty="0">
                <a:latin typeface="Times New Roman" panose="02020603050405020304" pitchFamily="18" charset="0"/>
                <a:cs typeface="Times New Roman" panose="02020603050405020304" pitchFamily="18" charset="0"/>
              </a:rPr>
              <a:t>Animal shelters and rescue organizations play an essential role in protecting abandoned, injured, and vulnerable animals. Technologies that improve veterinary care and rehabilitation contribute directly to animal welfare and support responsible management of terrestrial life. MediPaw aligns with SDG 15 by enhancing the quality of healthcare provided to rescued animals and promoting responsible rescue and rehabilitation practices.</a:t>
            </a:r>
          </a:p>
        </p:txBody>
      </p:sp>
      <p:sp>
        <p:nvSpPr>
          <p:cNvPr id="2" name="Google Shape;1035;p46">
            <a:extLst>
              <a:ext uri="{FF2B5EF4-FFF2-40B4-BE49-F238E27FC236}">
                <a16:creationId xmlns:a16="http://schemas.microsoft.com/office/drawing/2014/main" id="{3A72FFB9-1E04-D2F6-F7AD-990D51B87A6C}"/>
              </a:ext>
            </a:extLst>
          </p:cNvPr>
          <p:cNvSpPr txBox="1">
            <a:spLocks/>
          </p:cNvSpPr>
          <p:nvPr/>
        </p:nvSpPr>
        <p:spPr>
          <a:xfrm>
            <a:off x="-257388" y="122464"/>
            <a:ext cx="4660054" cy="456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IN" sz="3600" b="1" dirty="0">
                <a:solidFill>
                  <a:srgbClr val="C00000"/>
                </a:solidFill>
                <a:latin typeface="Times New Roman" panose="02020603050405020304" pitchFamily="18" charset="0"/>
                <a:cs typeface="Times New Roman" panose="02020603050405020304" pitchFamily="18" charset="0"/>
              </a:rPr>
              <a:t>6.1 SDG Identified</a:t>
            </a:r>
          </a:p>
        </p:txBody>
      </p:sp>
      <p:pic>
        <p:nvPicPr>
          <p:cNvPr id="6" name="Picture 5">
            <a:extLst>
              <a:ext uri="{FF2B5EF4-FFF2-40B4-BE49-F238E27FC236}">
                <a16:creationId xmlns:a16="http://schemas.microsoft.com/office/drawing/2014/main" id="{71D80DAE-DF4B-F2E5-0159-9E7B26E31EC0}"/>
              </a:ext>
            </a:extLst>
          </p:cNvPr>
          <p:cNvPicPr>
            <a:picLocks noChangeAspect="1"/>
          </p:cNvPicPr>
          <p:nvPr/>
        </p:nvPicPr>
        <p:blipFill>
          <a:blip r:embed="rId2"/>
          <a:srcRect t="31934" b="33169"/>
          <a:stretch>
            <a:fillRect/>
          </a:stretch>
        </p:blipFill>
        <p:spPr>
          <a:xfrm>
            <a:off x="9895220" y="0"/>
            <a:ext cx="2296780" cy="801510"/>
          </a:xfrm>
          <a:prstGeom prst="rect">
            <a:avLst/>
          </a:prstGeom>
        </p:spPr>
      </p:pic>
    </p:spTree>
    <p:extLst>
      <p:ext uri="{BB962C8B-B14F-4D97-AF65-F5344CB8AC3E}">
        <p14:creationId xmlns:p14="http://schemas.microsoft.com/office/powerpoint/2010/main" val="4211437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32AFE-D0E7-7BAE-E9C8-D1FAE8D8FA95}"/>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FA89821D-B272-DBE7-2CC6-CBB0B8D0AA63}"/>
              </a:ext>
            </a:extLst>
          </p:cNvPr>
          <p:cNvSpPr txBox="1">
            <a:spLocks noGrp="1"/>
          </p:cNvSpPr>
          <p:nvPr>
            <p:ph type="title"/>
          </p:nvPr>
        </p:nvSpPr>
        <p:spPr>
          <a:xfrm>
            <a:off x="0" y="173940"/>
            <a:ext cx="11548533" cy="456600"/>
          </a:xfrm>
          <a:prstGeom prst="rect">
            <a:avLst/>
          </a:prstGeom>
          <a:noFill/>
          <a:ln>
            <a:noFill/>
          </a:ln>
        </p:spPr>
        <p:txBody>
          <a:bodyPr spcFirstLastPara="1" wrap="square" lIns="91425" tIns="45700" rIns="91425" bIns="45700" anchor="ctr" anchorCtr="0">
            <a:noAutofit/>
          </a:bodyPr>
          <a:lstStyle/>
          <a:p>
            <a:r>
              <a:rPr lang="en-IN" sz="3600" b="1" dirty="0">
                <a:solidFill>
                  <a:srgbClr val="C00000"/>
                </a:solidFill>
                <a:latin typeface="Times New Roman" panose="02020603050405020304" pitchFamily="18" charset="0"/>
                <a:cs typeface="Times New Roman" panose="02020603050405020304" pitchFamily="18" charset="0"/>
              </a:rPr>
              <a:t>6.2 How the Case Study is related to the SDG</a:t>
            </a:r>
          </a:p>
        </p:txBody>
      </p:sp>
      <p:sp>
        <p:nvSpPr>
          <p:cNvPr id="9" name="Rectangle 6">
            <a:extLst>
              <a:ext uri="{FF2B5EF4-FFF2-40B4-BE49-F238E27FC236}">
                <a16:creationId xmlns:a16="http://schemas.microsoft.com/office/drawing/2014/main" id="{AF4CF1AC-41C6-68EC-2535-DD7FE4611944}"/>
              </a:ext>
            </a:extLst>
          </p:cNvPr>
          <p:cNvSpPr>
            <a:spLocks noGrp="1" noChangeArrowheads="1"/>
          </p:cNvSpPr>
          <p:nvPr>
            <p:ph type="body" idx="1"/>
          </p:nvPr>
        </p:nvSpPr>
        <p:spPr bwMode="auto">
          <a:xfrm>
            <a:off x="182881" y="1314361"/>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65DB978C-734A-E98F-6433-CAE3A8F8C743}"/>
              </a:ext>
            </a:extLst>
          </p:cNvPr>
          <p:cNvSpPr>
            <a:spLocks noChangeArrowheads="1"/>
          </p:cNvSpPr>
          <p:nvPr/>
        </p:nvSpPr>
        <p:spPr bwMode="auto">
          <a:xfrm>
            <a:off x="182881" y="858480"/>
            <a:ext cx="1182623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400" b="1" dirty="0">
                <a:latin typeface="Times New Roman" panose="02020603050405020304" pitchFamily="18" charset="0"/>
                <a:cs typeface="Times New Roman" panose="02020603050405020304" pitchFamily="18" charset="0"/>
              </a:rPr>
              <a:t>Contribution to SDG 3 – Good Health and Well-being</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Enables </a:t>
            </a:r>
            <a:r>
              <a:rPr lang="en-IN" sz="2400" b="1" dirty="0">
                <a:latin typeface="Times New Roman" panose="02020603050405020304" pitchFamily="18" charset="0"/>
                <a:cs typeface="Times New Roman" panose="02020603050405020304" pitchFamily="18" charset="0"/>
              </a:rPr>
              <a:t>AI-assisted early health assessment</a:t>
            </a:r>
            <a:r>
              <a:rPr lang="en-IN" sz="2400" dirty="0">
                <a:latin typeface="Times New Roman" panose="02020603050405020304" pitchFamily="18" charset="0"/>
                <a:cs typeface="Times New Roman" panose="02020603050405020304" pitchFamily="18" charset="0"/>
              </a:rPr>
              <a:t> for rescued animals.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Detects visible skin diseases, wounds, and health abnormalities using deep learning.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Generates a </a:t>
            </a:r>
            <a:r>
              <a:rPr lang="en-IN" sz="2400" b="1" dirty="0">
                <a:latin typeface="Times New Roman" panose="02020603050405020304" pitchFamily="18" charset="0"/>
                <a:cs typeface="Times New Roman" panose="02020603050405020304" pitchFamily="18" charset="0"/>
              </a:rPr>
              <a:t>treatment priority score</a:t>
            </a:r>
            <a:r>
              <a:rPr lang="en-IN" sz="2400" dirty="0">
                <a:latin typeface="Times New Roman" panose="02020603050405020304" pitchFamily="18" charset="0"/>
                <a:cs typeface="Times New Roman" panose="02020603050405020304" pitchFamily="18" charset="0"/>
              </a:rPr>
              <a:t> to help veterinarians identify critical cases.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Reduces delays in medical intervention and supports faster decision-making.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Optimizes the use of limited veterinary staff and medical resources. </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Contribution to SDG 15 – Life on Land</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Promotes the health and welfare of rescued and abandoned animals.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Assists animal shelters in prioritizing animals requiring urgent care.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Reduces the risk of disease progression through early detection.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Supports efficient rescue and rehabilitation operations.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Encourages responsible and technology-driven animal healthcare practices.</a:t>
            </a:r>
          </a:p>
        </p:txBody>
      </p:sp>
      <p:sp>
        <p:nvSpPr>
          <p:cNvPr id="2" name="Google Shape;1035;p46">
            <a:extLst>
              <a:ext uri="{FF2B5EF4-FFF2-40B4-BE49-F238E27FC236}">
                <a16:creationId xmlns:a16="http://schemas.microsoft.com/office/drawing/2014/main" id="{C573D4D4-E2EA-7F5E-7DB5-1F1BFB4B1455}"/>
              </a:ext>
            </a:extLst>
          </p:cNvPr>
          <p:cNvSpPr txBox="1">
            <a:spLocks/>
          </p:cNvSpPr>
          <p:nvPr/>
        </p:nvSpPr>
        <p:spPr>
          <a:xfrm>
            <a:off x="9731022" y="5649880"/>
            <a:ext cx="2460979" cy="40735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sz="2800" b="1" i="1" dirty="0">
                <a:solidFill>
                  <a:srgbClr val="C00000"/>
                </a:solidFill>
                <a:latin typeface="Times New Roman"/>
                <a:cs typeface="Times New Roman"/>
                <a:sym typeface="Times New Roman"/>
              </a:rPr>
              <a:t>SDG Mapping</a:t>
            </a:r>
            <a:endParaRPr lang="en-IN" sz="2800" dirty="0"/>
          </a:p>
        </p:txBody>
      </p:sp>
      <p:pic>
        <p:nvPicPr>
          <p:cNvPr id="6" name="Picture 5">
            <a:extLst>
              <a:ext uri="{FF2B5EF4-FFF2-40B4-BE49-F238E27FC236}">
                <a16:creationId xmlns:a16="http://schemas.microsoft.com/office/drawing/2014/main" id="{FAE51E5E-01CB-670B-7042-2D8291A7E828}"/>
              </a:ext>
            </a:extLst>
          </p:cNvPr>
          <p:cNvPicPr>
            <a:picLocks noChangeAspect="1"/>
          </p:cNvPicPr>
          <p:nvPr/>
        </p:nvPicPr>
        <p:blipFill>
          <a:blip r:embed="rId2"/>
          <a:srcRect t="31934" b="33169"/>
          <a:stretch>
            <a:fillRect/>
          </a:stretch>
        </p:blipFill>
        <p:spPr>
          <a:xfrm>
            <a:off x="9895220" y="0"/>
            <a:ext cx="2296780" cy="801510"/>
          </a:xfrm>
          <a:prstGeom prst="rect">
            <a:avLst/>
          </a:prstGeom>
        </p:spPr>
      </p:pic>
    </p:spTree>
    <p:extLst>
      <p:ext uri="{BB962C8B-B14F-4D97-AF65-F5344CB8AC3E}">
        <p14:creationId xmlns:p14="http://schemas.microsoft.com/office/powerpoint/2010/main" val="1229897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EE9C7-377C-8634-3670-D163139A0E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802A39E-F05E-6362-10C0-C940C9B9CFA6}"/>
              </a:ext>
            </a:extLst>
          </p:cNvPr>
          <p:cNvSpPr>
            <a:spLocks noGrp="1"/>
          </p:cNvSpPr>
          <p:nvPr>
            <p:ph type="body" idx="1"/>
          </p:nvPr>
        </p:nvSpPr>
        <p:spPr>
          <a:xfrm>
            <a:off x="462280" y="811884"/>
            <a:ext cx="11201400" cy="5253636"/>
          </a:xfrm>
        </p:spPr>
        <p:txBody>
          <a:bodyPr>
            <a:noAutofit/>
          </a:bodyPr>
          <a:lstStyle/>
          <a:p>
            <a:pPr marL="50800" indent="0">
              <a:buNone/>
            </a:pPr>
            <a:r>
              <a:rPr lang="en-IN" sz="2400" dirty="0">
                <a:latin typeface="Times New Roman" panose="02020603050405020304" pitchFamily="18" charset="0"/>
                <a:cs typeface="Times New Roman" panose="02020603050405020304" pitchFamily="18" charset="0"/>
              </a:rPr>
              <a:t>The proposed </a:t>
            </a:r>
            <a:r>
              <a:rPr lang="en-IN" sz="2400" b="1" dirty="0">
                <a:latin typeface="Times New Roman" panose="02020603050405020304" pitchFamily="18" charset="0"/>
                <a:cs typeface="Times New Roman" panose="02020603050405020304" pitchFamily="18" charset="0"/>
              </a:rPr>
              <a:t>MediPaw</a:t>
            </a:r>
            <a:r>
              <a:rPr lang="en-IN" sz="2400" dirty="0">
                <a:latin typeface="Times New Roman" panose="02020603050405020304" pitchFamily="18" charset="0"/>
                <a:cs typeface="Times New Roman" panose="02020603050405020304" pitchFamily="18" charset="0"/>
              </a:rPr>
              <a:t> system utilizes a </a:t>
            </a:r>
            <a:r>
              <a:rPr lang="en-IN" sz="2400" b="1" dirty="0">
                <a:latin typeface="Times New Roman" panose="02020603050405020304" pitchFamily="18" charset="0"/>
                <a:cs typeface="Times New Roman" panose="02020603050405020304" pitchFamily="18" charset="0"/>
              </a:rPr>
              <a:t>multi-source veterinary image dataset</a:t>
            </a:r>
            <a:r>
              <a:rPr lang="en-IN" sz="2400" dirty="0">
                <a:latin typeface="Times New Roman" panose="02020603050405020304" pitchFamily="18" charset="0"/>
                <a:cs typeface="Times New Roman" panose="02020603050405020304" pitchFamily="18" charset="0"/>
              </a:rPr>
              <a:t> created by integrating publicly available datasets from </a:t>
            </a:r>
            <a:r>
              <a:rPr lang="en-IN" sz="2400" b="1" dirty="0">
                <a:latin typeface="Times New Roman" panose="02020603050405020304" pitchFamily="18" charset="0"/>
                <a:cs typeface="Times New Roman" panose="02020603050405020304" pitchFamily="18" charset="0"/>
              </a:rPr>
              <a:t>IEEE DataPort, Kaggle, Roboflow Universe, Mendeley Data, GitHub repositories, and published veterinary research datasets</a:t>
            </a:r>
            <a:r>
              <a:rPr lang="en-IN" sz="2400" dirty="0">
                <a:latin typeface="Times New Roman" panose="02020603050405020304" pitchFamily="18" charset="0"/>
                <a:cs typeface="Times New Roman" panose="02020603050405020304" pitchFamily="18" charset="0"/>
              </a:rPr>
              <a:t>. Since no single dataset comprehensively covers all health conditions required for veterinary triage, images corresponding to </a:t>
            </a:r>
            <a:r>
              <a:rPr lang="en-IN" sz="2400" b="1" dirty="0">
                <a:latin typeface="Times New Roman" panose="02020603050405020304" pitchFamily="18" charset="0"/>
                <a:cs typeface="Times New Roman" panose="02020603050405020304" pitchFamily="18" charset="0"/>
              </a:rPr>
              <a:t>skin diseases, wounds, body condition, and parasite infestations</a:t>
            </a:r>
            <a:r>
              <a:rPr lang="en-IN" sz="2400" dirty="0">
                <a:latin typeface="Times New Roman" panose="02020603050405020304" pitchFamily="18" charset="0"/>
                <a:cs typeface="Times New Roman" panose="02020603050405020304" pitchFamily="18" charset="0"/>
              </a:rPr>
              <a:t> will be collected from multiple sources and merged into a unified dataset. The collected images will be standardized with consistent image resolutions, annotation formats, and class labels to create a comprehensive dataset suitable for training multiple deep learning models. This approach enables each module of MediPaw to be trained using relevant, high-quality data while representing a wider variety of real-world shelter conditions.</a:t>
            </a:r>
          </a:p>
          <a:p>
            <a:pPr marL="50800" indent="0">
              <a:buNone/>
            </a:pPr>
            <a:endParaRPr lang="en-US" sz="2400" b="1"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DE56674D-1503-F999-8D32-9AB227726899}"/>
              </a:ext>
            </a:extLst>
          </p:cNvPr>
          <p:cNvSpPr txBox="1">
            <a:spLocks noGrp="1"/>
          </p:cNvSpPr>
          <p:nvPr>
            <p:ph type="title"/>
          </p:nvPr>
        </p:nvSpPr>
        <p:spPr>
          <a:xfrm>
            <a:off x="331501" y="22320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7.1 Dataset Description</a:t>
            </a:r>
            <a:endParaRPr lang="en-IN" sz="5400" dirty="0"/>
          </a:p>
        </p:txBody>
      </p:sp>
      <p:sp>
        <p:nvSpPr>
          <p:cNvPr id="4" name="Google Shape;1035;p46">
            <a:extLst>
              <a:ext uri="{FF2B5EF4-FFF2-40B4-BE49-F238E27FC236}">
                <a16:creationId xmlns:a16="http://schemas.microsoft.com/office/drawing/2014/main" id="{DB68E408-022F-3E44-1707-9F186804EB58}"/>
              </a:ext>
            </a:extLst>
          </p:cNvPr>
          <p:cNvSpPr txBox="1">
            <a:spLocks/>
          </p:cNvSpPr>
          <p:nvPr/>
        </p:nvSpPr>
        <p:spPr>
          <a:xfrm>
            <a:off x="9731021" y="5658161"/>
            <a:ext cx="2460979" cy="40735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sz="2800" b="1" i="1" dirty="0">
                <a:solidFill>
                  <a:srgbClr val="C00000"/>
                </a:solidFill>
                <a:latin typeface="Times New Roman"/>
                <a:cs typeface="Times New Roman"/>
                <a:sym typeface="Times New Roman"/>
              </a:rPr>
              <a:t>Dataset Details</a:t>
            </a:r>
            <a:endParaRPr lang="en-IN" sz="2800" dirty="0"/>
          </a:p>
        </p:txBody>
      </p:sp>
      <p:pic>
        <p:nvPicPr>
          <p:cNvPr id="7" name="Picture 6">
            <a:extLst>
              <a:ext uri="{FF2B5EF4-FFF2-40B4-BE49-F238E27FC236}">
                <a16:creationId xmlns:a16="http://schemas.microsoft.com/office/drawing/2014/main" id="{19BCDAD1-565D-0ED6-2B07-6495EF4E9507}"/>
              </a:ext>
            </a:extLst>
          </p:cNvPr>
          <p:cNvPicPr>
            <a:picLocks noChangeAspect="1"/>
          </p:cNvPicPr>
          <p:nvPr/>
        </p:nvPicPr>
        <p:blipFill>
          <a:blip r:embed="rId2"/>
          <a:srcRect t="31934" b="33169"/>
          <a:stretch>
            <a:fillRect/>
          </a:stretch>
        </p:blipFill>
        <p:spPr>
          <a:xfrm>
            <a:off x="9895220" y="0"/>
            <a:ext cx="2296780" cy="801510"/>
          </a:xfrm>
          <a:prstGeom prst="rect">
            <a:avLst/>
          </a:prstGeom>
        </p:spPr>
      </p:pic>
    </p:spTree>
    <p:extLst>
      <p:ext uri="{BB962C8B-B14F-4D97-AF65-F5344CB8AC3E}">
        <p14:creationId xmlns:p14="http://schemas.microsoft.com/office/powerpoint/2010/main" val="3997236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29B2FCB-66E7-D04C-73E2-BEC6517B2511}"/>
              </a:ext>
            </a:extLst>
          </p:cNvPr>
          <p:cNvSpPr>
            <a:spLocks noGrp="1"/>
          </p:cNvSpPr>
          <p:nvPr>
            <p:ph type="subTitle" idx="1"/>
          </p:nvPr>
        </p:nvSpPr>
        <p:spPr>
          <a:xfrm>
            <a:off x="589280" y="503238"/>
            <a:ext cx="11064240" cy="5257482"/>
          </a:xfrm>
        </p:spPr>
        <p:txBody>
          <a:bodyPr>
            <a:normAutofit/>
          </a:bodyPr>
          <a:lstStyle/>
          <a:p>
            <a:r>
              <a:rPr lang="en-IN" b="1" dirty="0">
                <a:latin typeface="Times New Roman" panose="02020603050405020304" pitchFamily="18" charset="0"/>
                <a:cs typeface="Times New Roman" panose="02020603050405020304" pitchFamily="18" charset="0"/>
              </a:rPr>
              <a:t>Dataset Links</a:t>
            </a:r>
          </a:p>
          <a:p>
            <a:r>
              <a:rPr lang="en-IN" b="1" dirty="0">
                <a:latin typeface="Times New Roman" panose="02020603050405020304" pitchFamily="18" charset="0"/>
                <a:cs typeface="Times New Roman" panose="02020603050405020304" pitchFamily="18" charset="0"/>
              </a:rPr>
              <a:t>Skin Disease (CNN 1):</a:t>
            </a: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hlinkClick r:id="rId2"/>
              </a:rPr>
              <a:t>Dogs Skin Diseases (</a:t>
            </a:r>
            <a:r>
              <a:rPr lang="en-IN" u="sng" dirty="0" err="1">
                <a:latin typeface="Times New Roman" panose="02020603050405020304" pitchFamily="18" charset="0"/>
                <a:cs typeface="Times New Roman" panose="02020603050405020304" pitchFamily="18" charset="0"/>
                <a:hlinkClick r:id="rId2"/>
              </a:rPr>
              <a:t>Youssefmohmmed</a:t>
            </a:r>
            <a:r>
              <a:rPr lang="en-IN" u="sng" dirty="0">
                <a:latin typeface="Times New Roman" panose="02020603050405020304" pitchFamily="18" charset="0"/>
                <a:cs typeface="Times New Roman" panose="02020603050405020304" pitchFamily="18" charset="0"/>
                <a:hlinkClick r:id="rId2"/>
              </a:rPr>
              <a:t>)</a:t>
            </a:r>
            <a:r>
              <a:rPr lang="en-IN" dirty="0">
                <a:latin typeface="Times New Roman" panose="02020603050405020304" pitchFamily="18" charset="0"/>
                <a:cs typeface="Times New Roman" panose="02020603050405020304" pitchFamily="18" charset="0"/>
              </a:rPr>
              <a:t> | </a:t>
            </a:r>
            <a:r>
              <a:rPr lang="en-IN" u="sng" dirty="0">
                <a:latin typeface="Times New Roman" panose="02020603050405020304" pitchFamily="18" charset="0"/>
                <a:cs typeface="Times New Roman" panose="02020603050405020304" pitchFamily="18" charset="0"/>
                <a:hlinkClick r:id="rId3"/>
              </a:rPr>
              <a:t>Dogs Skin Disease (</a:t>
            </a:r>
            <a:r>
              <a:rPr lang="en-IN" u="sng" dirty="0" err="1">
                <a:latin typeface="Times New Roman" panose="02020603050405020304" pitchFamily="18" charset="0"/>
                <a:cs typeface="Times New Roman" panose="02020603050405020304" pitchFamily="18" charset="0"/>
                <a:hlinkClick r:id="rId3"/>
              </a:rPr>
              <a:t>Yashmotiani</a:t>
            </a:r>
            <a:r>
              <a:rPr lang="en-IN" u="sng" dirty="0">
                <a:latin typeface="Times New Roman" panose="02020603050405020304" pitchFamily="18" charset="0"/>
                <a:cs typeface="Times New Roman" panose="02020603050405020304" pitchFamily="18" charset="0"/>
                <a:hlinkClick r:id="rId3"/>
              </a:rPr>
              <a:t>)</a:t>
            </a:r>
            <a:r>
              <a:rPr lang="en-IN" dirty="0">
                <a:latin typeface="Times New Roman" panose="02020603050405020304" pitchFamily="18" charset="0"/>
                <a:cs typeface="Times New Roman" panose="02020603050405020304" pitchFamily="18" charset="0"/>
              </a:rPr>
              <a:t> | </a:t>
            </a:r>
            <a:r>
              <a:rPr lang="en-IN" u="sng" dirty="0">
                <a:latin typeface="Times New Roman" panose="02020603050405020304" pitchFamily="18" charset="0"/>
                <a:cs typeface="Times New Roman" panose="02020603050405020304" pitchFamily="18" charset="0"/>
                <a:hlinkClick r:id="rId4"/>
              </a:rPr>
              <a:t>Animal Skin Disease Series (</a:t>
            </a:r>
            <a:r>
              <a:rPr lang="en-IN" u="sng" dirty="0" err="1">
                <a:latin typeface="Times New Roman" panose="02020603050405020304" pitchFamily="18" charset="0"/>
                <a:cs typeface="Times New Roman" panose="02020603050405020304" pitchFamily="18" charset="0"/>
                <a:hlinkClick r:id="rId4"/>
              </a:rPr>
              <a:t>Roboflow</a:t>
            </a:r>
            <a:r>
              <a:rPr lang="en-IN" u="sng" dirty="0">
                <a:latin typeface="Times New Roman" panose="02020603050405020304" pitchFamily="18" charset="0"/>
                <a:cs typeface="Times New Roman" panose="02020603050405020304" pitchFamily="18" charset="0"/>
                <a:hlinkClick r:id="rId4"/>
              </a:rPr>
              <a:t>)</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Ocular Pathology (CNN 2):</a:t>
            </a: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hlinkClick r:id="rId5"/>
              </a:rPr>
              <a:t>Dog Eyes Version 4 (</a:t>
            </a:r>
            <a:r>
              <a:rPr lang="en-IN" u="sng" dirty="0" err="1">
                <a:latin typeface="Times New Roman" panose="02020603050405020304" pitchFamily="18" charset="0"/>
                <a:cs typeface="Times New Roman" panose="02020603050405020304" pitchFamily="18" charset="0"/>
                <a:hlinkClick r:id="rId5"/>
              </a:rPr>
              <a:t>Roboflow</a:t>
            </a:r>
            <a:r>
              <a:rPr lang="en-IN" u="sng" dirty="0">
                <a:latin typeface="Times New Roman" panose="02020603050405020304" pitchFamily="18" charset="0"/>
                <a:cs typeface="Times New Roman" panose="02020603050405020304" pitchFamily="18" charset="0"/>
                <a:hlinkClick r:id="rId5"/>
              </a:rPr>
              <a:t>)</a:t>
            </a:r>
            <a:r>
              <a:rPr lang="en-IN" dirty="0">
                <a:latin typeface="Times New Roman" panose="02020603050405020304" pitchFamily="18" charset="0"/>
                <a:cs typeface="Times New Roman" panose="02020603050405020304" pitchFamily="18" charset="0"/>
              </a:rPr>
              <a:t> | </a:t>
            </a:r>
            <a:r>
              <a:rPr lang="en-IN" u="sng" dirty="0">
                <a:latin typeface="Times New Roman" panose="02020603050405020304" pitchFamily="18" charset="0"/>
                <a:cs typeface="Times New Roman" panose="02020603050405020304" pitchFamily="18" charset="0"/>
                <a:hlinkClick r:id="rId6"/>
              </a:rPr>
              <a:t>Dog Eye Problems Detection (</a:t>
            </a:r>
            <a:r>
              <a:rPr lang="en-IN" u="sng" dirty="0" err="1">
                <a:latin typeface="Times New Roman" panose="02020603050405020304" pitchFamily="18" charset="0"/>
                <a:cs typeface="Times New Roman" panose="02020603050405020304" pitchFamily="18" charset="0"/>
                <a:hlinkClick r:id="rId6"/>
              </a:rPr>
              <a:t>Roboflow</a:t>
            </a:r>
            <a:r>
              <a:rPr lang="en-IN" u="sng" dirty="0">
                <a:latin typeface="Times New Roman" panose="02020603050405020304" pitchFamily="18" charset="0"/>
                <a:cs typeface="Times New Roman" panose="02020603050405020304" pitchFamily="18" charset="0"/>
                <a:hlinkClick r:id="rId6"/>
              </a:rPr>
              <a:t>)</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Mucous Membrane Color (CNN 3):</a:t>
            </a: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hlinkClick r:id="rId7"/>
              </a:rPr>
              <a:t>Dog Dental Dataset (</a:t>
            </a:r>
            <a:r>
              <a:rPr lang="en-IN" u="sng" dirty="0" err="1">
                <a:latin typeface="Times New Roman" panose="02020603050405020304" pitchFamily="18" charset="0"/>
                <a:cs typeface="Times New Roman" panose="02020603050405020304" pitchFamily="18" charset="0"/>
                <a:hlinkClick r:id="rId7"/>
              </a:rPr>
              <a:t>Roboflow</a:t>
            </a:r>
            <a:r>
              <a:rPr lang="en-IN" u="sng" dirty="0">
                <a:latin typeface="Times New Roman" panose="02020603050405020304" pitchFamily="18" charset="0"/>
                <a:cs typeface="Times New Roman" panose="02020603050405020304" pitchFamily="18" charset="0"/>
                <a:hlinkClick r:id="rId7"/>
              </a:rPr>
              <a:t>)</a:t>
            </a:r>
            <a:r>
              <a:rPr lang="en-IN" dirty="0">
                <a:latin typeface="Times New Roman" panose="02020603050405020304" pitchFamily="18" charset="0"/>
                <a:cs typeface="Times New Roman" panose="02020603050405020304" pitchFamily="18" charset="0"/>
              </a:rPr>
              <a:t> (Cropped for gum tissue)</a:t>
            </a:r>
          </a:p>
          <a:p>
            <a:r>
              <a:rPr lang="en-IN" b="1" dirty="0">
                <a:latin typeface="Times New Roman" panose="02020603050405020304" pitchFamily="18" charset="0"/>
                <a:cs typeface="Times New Roman" panose="02020603050405020304" pitchFamily="18" charset="0"/>
              </a:rPr>
              <a:t>Parasite &amp; Trauma (YOLOv8 / U-Net):</a:t>
            </a: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hlinkClick r:id="rId8"/>
              </a:rPr>
              <a:t>Tick Detection (</a:t>
            </a:r>
            <a:r>
              <a:rPr lang="en-IN" u="sng" dirty="0" err="1">
                <a:latin typeface="Times New Roman" panose="02020603050405020304" pitchFamily="18" charset="0"/>
                <a:cs typeface="Times New Roman" panose="02020603050405020304" pitchFamily="18" charset="0"/>
                <a:hlinkClick r:id="rId8"/>
              </a:rPr>
              <a:t>Roboflow</a:t>
            </a:r>
            <a:r>
              <a:rPr lang="en-IN" u="sng" dirty="0">
                <a:latin typeface="Times New Roman" panose="02020603050405020304" pitchFamily="18" charset="0"/>
                <a:cs typeface="Times New Roman" panose="02020603050405020304" pitchFamily="18" charset="0"/>
                <a:hlinkClick r:id="rId8"/>
              </a:rPr>
              <a:t>)</a:t>
            </a:r>
            <a:r>
              <a:rPr lang="en-IN" dirty="0">
                <a:latin typeface="Times New Roman" panose="02020603050405020304" pitchFamily="18" charset="0"/>
                <a:cs typeface="Times New Roman" panose="02020603050405020304" pitchFamily="18" charset="0"/>
              </a:rPr>
              <a:t> | </a:t>
            </a:r>
            <a:r>
              <a:rPr lang="en-IN" u="sng" dirty="0">
                <a:latin typeface="Times New Roman" panose="02020603050405020304" pitchFamily="18" charset="0"/>
                <a:cs typeface="Times New Roman" panose="02020603050405020304" pitchFamily="18" charset="0"/>
                <a:hlinkClick r:id="rId9"/>
              </a:rPr>
              <a:t>Animal Wound (</a:t>
            </a:r>
            <a:r>
              <a:rPr lang="en-IN" u="sng" dirty="0" err="1">
                <a:latin typeface="Times New Roman" panose="02020603050405020304" pitchFamily="18" charset="0"/>
                <a:cs typeface="Times New Roman" panose="02020603050405020304" pitchFamily="18" charset="0"/>
                <a:hlinkClick r:id="rId9"/>
              </a:rPr>
              <a:t>Roboflow</a:t>
            </a:r>
            <a:r>
              <a:rPr lang="en-IN" u="sng" dirty="0">
                <a:latin typeface="Times New Roman" panose="02020603050405020304" pitchFamily="18" charset="0"/>
                <a:cs typeface="Times New Roman" panose="02020603050405020304" pitchFamily="18" charset="0"/>
                <a:hlinkClick r:id="rId9"/>
              </a:rPr>
              <a:t>)</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Triage Priority Head (</a:t>
            </a:r>
            <a:r>
              <a:rPr lang="en-IN" b="1" dirty="0" err="1">
                <a:latin typeface="Times New Roman" panose="02020603050405020304" pitchFamily="18" charset="0"/>
                <a:cs typeface="Times New Roman" panose="02020603050405020304" pitchFamily="18" charset="0"/>
              </a:rPr>
              <a:t>ViT</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Clinical mapping data mined from </a:t>
            </a:r>
            <a:r>
              <a:rPr lang="en-IN" u="sng" dirty="0">
                <a:latin typeface="Times New Roman" panose="02020603050405020304" pitchFamily="18" charset="0"/>
                <a:cs typeface="Times New Roman" panose="02020603050405020304" pitchFamily="18" charset="0"/>
                <a:hlinkClick r:id="rId10"/>
              </a:rPr>
              <a:t>IEEE </a:t>
            </a:r>
            <a:r>
              <a:rPr lang="en-IN" u="sng" dirty="0" err="1">
                <a:latin typeface="Times New Roman" panose="02020603050405020304" pitchFamily="18" charset="0"/>
                <a:cs typeface="Times New Roman" panose="02020603050405020304" pitchFamily="18" charset="0"/>
                <a:hlinkClick r:id="rId10"/>
              </a:rPr>
              <a:t>DataPort</a:t>
            </a: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hlinkClick r:id="rId11"/>
              </a:rPr>
              <a:t>Mendeley Data</a:t>
            </a:r>
            <a:r>
              <a:rPr lang="en-IN" dirty="0">
                <a:latin typeface="Times New Roman" panose="02020603050405020304" pitchFamily="18" charset="0"/>
                <a:cs typeface="Times New Roman" panose="02020603050405020304" pitchFamily="18" charset="0"/>
              </a:rPr>
              <a:t>, and </a:t>
            </a:r>
            <a:r>
              <a:rPr lang="en-IN" u="sng" dirty="0" err="1">
                <a:latin typeface="Times New Roman" panose="02020603050405020304" pitchFamily="18" charset="0"/>
                <a:cs typeface="Times New Roman" panose="02020603050405020304" pitchFamily="18" charset="0"/>
                <a:hlinkClick r:id="rId12"/>
              </a:rPr>
              <a:t>Zenodo</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045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A8777-EB23-2509-EA8D-9267F6D021DB}"/>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120ADE61-044B-11B1-3FE5-2180AA9FAD1F}"/>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7.2 Challenges Faced</a:t>
            </a:r>
            <a:endParaRPr lang="en-IN" sz="5400" dirty="0"/>
          </a:p>
        </p:txBody>
      </p:sp>
      <p:sp>
        <p:nvSpPr>
          <p:cNvPr id="9" name="Rectangle 6">
            <a:extLst>
              <a:ext uri="{FF2B5EF4-FFF2-40B4-BE49-F238E27FC236}">
                <a16:creationId xmlns:a16="http://schemas.microsoft.com/office/drawing/2014/main" id="{F221EA70-F096-70B2-5E67-2DAA1BCD9454}"/>
              </a:ext>
            </a:extLst>
          </p:cNvPr>
          <p:cNvSpPr>
            <a:spLocks noGrp="1" noChangeArrowheads="1"/>
          </p:cNvSpPr>
          <p:nvPr>
            <p:ph type="body" idx="1"/>
          </p:nvPr>
        </p:nvSpPr>
        <p:spPr bwMode="auto">
          <a:xfrm>
            <a:off x="182881" y="1066212"/>
            <a:ext cx="1164336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r>
              <a:rPr lang="en-IN" sz="2700" dirty="0">
                <a:latin typeface="Times New Roman" panose="02020603050405020304" pitchFamily="18" charset="0"/>
                <a:cs typeface="Times New Roman" panose="02020603050405020304" pitchFamily="18" charset="0"/>
              </a:rPr>
              <a:t>Collection of images from multiple publicly available sources. </a:t>
            </a:r>
          </a:p>
          <a:p>
            <a:pPr marL="0" lvl="0" indent="0" eaLnBrk="0" fontAlgn="base" hangingPunct="0">
              <a:lnSpc>
                <a:spcPct val="100000"/>
              </a:lnSpc>
              <a:spcBef>
                <a:spcPct val="0"/>
              </a:spcBef>
              <a:spcAft>
                <a:spcPct val="0"/>
              </a:spcAft>
              <a:buClrTx/>
              <a:buSzTx/>
              <a:buFontTx/>
              <a:buChar char="•"/>
            </a:pPr>
            <a:r>
              <a:rPr lang="en-IN" sz="2700" dirty="0">
                <a:latin typeface="Times New Roman" panose="02020603050405020304" pitchFamily="18" charset="0"/>
                <a:cs typeface="Times New Roman" panose="02020603050405020304" pitchFamily="18" charset="0"/>
              </a:rPr>
              <a:t>Standardization of image size, format, and annotation labels.</a:t>
            </a:r>
          </a:p>
          <a:p>
            <a:pPr marL="0" lvl="0" indent="0" eaLnBrk="0" fontAlgn="base" hangingPunct="0">
              <a:lnSpc>
                <a:spcPct val="100000"/>
              </a:lnSpc>
              <a:spcBef>
                <a:spcPct val="0"/>
              </a:spcBef>
              <a:spcAft>
                <a:spcPct val="0"/>
              </a:spcAft>
              <a:buClrTx/>
              <a:buSzTx/>
              <a:buFontTx/>
              <a:buChar char="•"/>
            </a:pPr>
            <a:r>
              <a:rPr lang="en-IN" sz="2700" dirty="0">
                <a:latin typeface="Times New Roman" panose="02020603050405020304" pitchFamily="18" charset="0"/>
                <a:cs typeface="Times New Roman" panose="02020603050405020304" pitchFamily="18" charset="0"/>
              </a:rPr>
              <a:t> Removal of duplicate and low-quality images. </a:t>
            </a:r>
          </a:p>
          <a:p>
            <a:pPr marL="0" lvl="0" indent="0" eaLnBrk="0" fontAlgn="base" hangingPunct="0">
              <a:lnSpc>
                <a:spcPct val="100000"/>
              </a:lnSpc>
              <a:spcBef>
                <a:spcPct val="0"/>
              </a:spcBef>
              <a:spcAft>
                <a:spcPct val="0"/>
              </a:spcAft>
              <a:buClrTx/>
              <a:buSzTx/>
              <a:buFontTx/>
              <a:buChar char="•"/>
            </a:pPr>
            <a:r>
              <a:rPr lang="en-IN" sz="2700" dirty="0">
                <a:latin typeface="Times New Roman" panose="02020603050405020304" pitchFamily="18" charset="0"/>
                <a:cs typeface="Times New Roman" panose="02020603050405020304" pitchFamily="18" charset="0"/>
              </a:rPr>
              <a:t>Class balancing using data augmentation techniques. </a:t>
            </a:r>
          </a:p>
          <a:p>
            <a:pPr marL="0" lvl="0" indent="0" eaLnBrk="0" fontAlgn="base" hangingPunct="0">
              <a:lnSpc>
                <a:spcPct val="100000"/>
              </a:lnSpc>
              <a:spcBef>
                <a:spcPct val="0"/>
              </a:spcBef>
              <a:spcAft>
                <a:spcPct val="0"/>
              </a:spcAft>
              <a:buClrTx/>
              <a:buSzTx/>
              <a:buFontTx/>
              <a:buChar char="•"/>
            </a:pPr>
            <a:r>
              <a:rPr lang="en-IN" sz="2700" dirty="0">
                <a:latin typeface="Times New Roman" panose="02020603050405020304" pitchFamily="18" charset="0"/>
                <a:cs typeface="Times New Roman" panose="02020603050405020304" pitchFamily="18" charset="0"/>
              </a:rPr>
              <a:t>Image preprocessing including resizing, normalization, and contrast enhancement.</a:t>
            </a:r>
          </a:p>
          <a:p>
            <a:pPr marL="0" lvl="0" indent="0" eaLnBrk="0" fontAlgn="base" hangingPunct="0">
              <a:lnSpc>
                <a:spcPct val="100000"/>
              </a:lnSpc>
              <a:spcBef>
                <a:spcPct val="0"/>
              </a:spcBef>
              <a:spcAft>
                <a:spcPct val="0"/>
              </a:spcAft>
              <a:buClrTx/>
              <a:buSzTx/>
              <a:buFontTx/>
              <a:buChar char="•"/>
            </a:pPr>
            <a:r>
              <a:rPr lang="en-IN" sz="2700" dirty="0">
                <a:latin typeface="Times New Roman" panose="02020603050405020304" pitchFamily="18" charset="0"/>
                <a:cs typeface="Times New Roman" panose="02020603050405020304" pitchFamily="18" charset="0"/>
              </a:rPr>
              <a:t> Introduction of synthetic noise (Gaussian noise, blur, varying illumination) to improve model robustness.</a:t>
            </a:r>
          </a:p>
          <a:p>
            <a:pPr marL="0" lvl="0" indent="0" eaLnBrk="0" fontAlgn="base" hangingPunct="0">
              <a:lnSpc>
                <a:spcPct val="100000"/>
              </a:lnSpc>
              <a:spcBef>
                <a:spcPct val="0"/>
              </a:spcBef>
              <a:spcAft>
                <a:spcPct val="0"/>
              </a:spcAft>
              <a:buClrTx/>
              <a:buSzTx/>
              <a:buFontTx/>
              <a:buChar char="•"/>
            </a:pPr>
            <a:r>
              <a:rPr lang="en-IN" sz="2700" dirty="0">
                <a:latin typeface="Times New Roman" panose="02020603050405020304" pitchFamily="18" charset="0"/>
                <a:cs typeface="Times New Roman" panose="02020603050405020304" pitchFamily="18" charset="0"/>
              </a:rPr>
              <a:t> Creation of a unified dataset suitable for training multiple deep learning models</a:t>
            </a:r>
          </a:p>
          <a:p>
            <a:pPr marL="0" lvl="0" indent="0" eaLnBrk="0" fontAlgn="base" hangingPunct="0">
              <a:lnSpc>
                <a:spcPct val="100000"/>
              </a:lnSpc>
              <a:spcBef>
                <a:spcPct val="0"/>
              </a:spcBef>
              <a:spcAft>
                <a:spcPct val="0"/>
              </a:spcAft>
              <a:buClrTx/>
              <a:buSzTx/>
              <a:buFontTx/>
              <a:buChar char="•"/>
            </a:pPr>
            <a:r>
              <a:rPr lang="en-IN" sz="2700" dirty="0">
                <a:latin typeface="Times New Roman" panose="02020603050405020304" pitchFamily="18" charset="0"/>
                <a:cs typeface="Times New Roman" panose="02020603050405020304" pitchFamily="18" charset="0"/>
              </a:rPr>
              <a:t>Organizing the dataset separately for CNN classification, U-Net segmentation, Vision Transformer severity assessment, and YOLO object detection</a:t>
            </a:r>
            <a:r>
              <a:rPr lang="en-IN" sz="2700" dirty="0"/>
              <a:t>.</a:t>
            </a:r>
            <a:endParaRPr kumimoji="0" lang="en-US" altLang="en-US"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Google Shape;1035;p46">
            <a:extLst>
              <a:ext uri="{FF2B5EF4-FFF2-40B4-BE49-F238E27FC236}">
                <a16:creationId xmlns:a16="http://schemas.microsoft.com/office/drawing/2014/main" id="{2AE9A499-D742-BA83-5285-1DE50EF1CA77}"/>
              </a:ext>
            </a:extLst>
          </p:cNvPr>
          <p:cNvSpPr txBox="1">
            <a:spLocks/>
          </p:cNvSpPr>
          <p:nvPr/>
        </p:nvSpPr>
        <p:spPr>
          <a:xfrm>
            <a:off x="9731021" y="5658161"/>
            <a:ext cx="2460979" cy="40735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sz="2800" b="1" i="1" dirty="0">
                <a:solidFill>
                  <a:srgbClr val="C00000"/>
                </a:solidFill>
                <a:latin typeface="Times New Roman"/>
                <a:cs typeface="Times New Roman"/>
                <a:sym typeface="Times New Roman"/>
              </a:rPr>
              <a:t>Dataset Details</a:t>
            </a:r>
            <a:endParaRPr lang="en-IN" sz="2800" dirty="0"/>
          </a:p>
        </p:txBody>
      </p:sp>
      <p:pic>
        <p:nvPicPr>
          <p:cNvPr id="6" name="Picture 5">
            <a:extLst>
              <a:ext uri="{FF2B5EF4-FFF2-40B4-BE49-F238E27FC236}">
                <a16:creationId xmlns:a16="http://schemas.microsoft.com/office/drawing/2014/main" id="{17EFDDDD-5B26-3820-8947-A212A4A4987A}"/>
              </a:ext>
            </a:extLst>
          </p:cNvPr>
          <p:cNvPicPr>
            <a:picLocks noChangeAspect="1"/>
          </p:cNvPicPr>
          <p:nvPr/>
        </p:nvPicPr>
        <p:blipFill>
          <a:blip r:embed="rId2"/>
          <a:srcRect t="31934" b="33169"/>
          <a:stretch>
            <a:fillRect/>
          </a:stretch>
        </p:blipFill>
        <p:spPr>
          <a:xfrm>
            <a:off x="9895220" y="0"/>
            <a:ext cx="2296780" cy="801510"/>
          </a:xfrm>
          <a:prstGeom prst="rect">
            <a:avLst/>
          </a:prstGeom>
        </p:spPr>
      </p:pic>
    </p:spTree>
    <p:extLst>
      <p:ext uri="{BB962C8B-B14F-4D97-AF65-F5344CB8AC3E}">
        <p14:creationId xmlns:p14="http://schemas.microsoft.com/office/powerpoint/2010/main" val="1901952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F7351-9A8C-81F7-87B9-366B5981F140}"/>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3FD78781-FB64-50E3-7015-AEEB6560B33C}"/>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8. Novelty of the product</a:t>
            </a:r>
            <a:endParaRPr lang="en-IN" sz="5400" dirty="0"/>
          </a:p>
        </p:txBody>
      </p:sp>
      <p:sp>
        <p:nvSpPr>
          <p:cNvPr id="9" name="Rectangle 6">
            <a:extLst>
              <a:ext uri="{FF2B5EF4-FFF2-40B4-BE49-F238E27FC236}">
                <a16:creationId xmlns:a16="http://schemas.microsoft.com/office/drawing/2014/main" id="{8C021BC8-BE99-E32B-9FB2-DF622A2E841D}"/>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lnSpc>
                <a:spcPct val="100000"/>
              </a:lnSpc>
              <a:spcBef>
                <a:spcPct val="0"/>
              </a:spcBef>
              <a:spcAft>
                <a:spcPct val="0"/>
              </a:spcAft>
              <a:buClrTx/>
              <a:buSzTx/>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indent="-342900" eaLnBrk="0" fontAlgn="base"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lnSpc>
                <a:spcPct val="100000"/>
              </a:lnSpc>
              <a:spcBef>
                <a:spcPct val="0"/>
              </a:spcBef>
              <a:spcAft>
                <a:spcPct val="0"/>
              </a:spcAft>
              <a:buClrTx/>
              <a:buSzTx/>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indent="-342900" eaLnBrk="0" fontAlgn="base"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lnSpc>
                <a:spcPct val="100000"/>
              </a:lnSpc>
              <a:spcBef>
                <a:spcPct val="0"/>
              </a:spcBef>
              <a:spcAft>
                <a:spcPct val="0"/>
              </a:spcAft>
              <a:buClrTx/>
              <a:buSzTx/>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indent="-342900" eaLnBrk="0" fontAlgn="base"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lnSpc>
                <a:spcPct val="100000"/>
              </a:lnSpc>
              <a:spcBef>
                <a:spcPct val="0"/>
              </a:spcBef>
              <a:spcAft>
                <a:spcPct val="0"/>
              </a:spcAft>
              <a:buClrTx/>
              <a:buSzTx/>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indent="-342900" eaLnBrk="0" fontAlgn="base"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12AFFD0-D694-C084-EDE6-23C6C1D2B2DD}"/>
              </a:ext>
            </a:extLst>
          </p:cNvPr>
          <p:cNvSpPr>
            <a:spLocks noChangeArrowheads="1"/>
          </p:cNvSpPr>
          <p:nvPr/>
        </p:nvSpPr>
        <p:spPr bwMode="auto">
          <a:xfrm>
            <a:off x="345441" y="945321"/>
            <a:ext cx="11318240"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dirty="0">
                <a:latin typeface="Times New Roman" panose="02020603050405020304" pitchFamily="18" charset="0"/>
                <a:cs typeface="Times New Roman" panose="02020603050405020304" pitchFamily="18" charset="0"/>
              </a:rPr>
              <a:t>Unlike existing veterinary AI applications that focus only on disease detection or symptom checking, </a:t>
            </a:r>
            <a:r>
              <a:rPr lang="en-IN" sz="2000" b="1" dirty="0">
                <a:latin typeface="Times New Roman" panose="02020603050405020304" pitchFamily="18" charset="0"/>
                <a:cs typeface="Times New Roman" panose="02020603050405020304" pitchFamily="18" charset="0"/>
              </a:rPr>
              <a:t>MediPaw</a:t>
            </a:r>
            <a:r>
              <a:rPr lang="en-IN" sz="2000" dirty="0">
                <a:latin typeface="Times New Roman" panose="02020603050405020304" pitchFamily="18" charset="0"/>
                <a:cs typeface="Times New Roman" panose="02020603050405020304" pitchFamily="18" charset="0"/>
              </a:rPr>
              <a:t> is designed as an </a:t>
            </a:r>
            <a:r>
              <a:rPr lang="en-IN" sz="2000" b="1" dirty="0">
                <a:latin typeface="Times New Roman" panose="02020603050405020304" pitchFamily="18" charset="0"/>
                <a:cs typeface="Times New Roman" panose="02020603050405020304" pitchFamily="18" charset="0"/>
              </a:rPr>
              <a:t>AI-assisted veterinary triage platform</a:t>
            </a:r>
            <a:r>
              <a:rPr lang="en-IN" sz="2000" dirty="0">
                <a:latin typeface="Times New Roman" panose="02020603050405020304" pitchFamily="18" charset="0"/>
                <a:cs typeface="Times New Roman" panose="02020603050405020304" pitchFamily="18" charset="0"/>
              </a:rPr>
              <a:t> for animal shelters and rescue organizations. Rather than simply identifying a disease, the system evaluates multiple visible health indicators to determine the urgency of medical care.</a:t>
            </a:r>
          </a:p>
          <a:p>
            <a:endParaRPr lang="en-IN" sz="2000" dirty="0">
              <a:latin typeface="Times New Roman" panose="02020603050405020304" pitchFamily="18" charset="0"/>
              <a:cs typeface="Times New Roman" panose="02020603050405020304" pitchFamily="18" charset="0"/>
            </a:endParaRPr>
          </a:p>
          <a:p>
            <a:r>
              <a:rPr lang="en-IN" sz="2400" b="1" dirty="0">
                <a:solidFill>
                  <a:srgbClr val="C00000"/>
                </a:solidFill>
                <a:latin typeface="Times New Roman" panose="02020603050405020304" pitchFamily="18" charset="0"/>
                <a:cs typeface="Times New Roman" panose="02020603050405020304" pitchFamily="18" charset="0"/>
              </a:rPr>
              <a:t>Key Novel Features: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AI-driven </a:t>
            </a:r>
            <a:r>
              <a:rPr lang="en-IN" sz="2000" b="1" dirty="0">
                <a:latin typeface="Times New Roman" panose="02020603050405020304" pitchFamily="18" charset="0"/>
                <a:cs typeface="Times New Roman" panose="02020603050405020304" pitchFamily="18" charset="0"/>
              </a:rPr>
              <a:t>veterinary triage</a:t>
            </a:r>
            <a:r>
              <a:rPr lang="en-IN" sz="2000" dirty="0">
                <a:latin typeface="Times New Roman" panose="02020603050405020304" pitchFamily="18" charset="0"/>
                <a:cs typeface="Times New Roman" panose="02020603050405020304" pitchFamily="18" charset="0"/>
              </a:rPr>
              <a:t> instead of standalone disease classification.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Integrates multiple deep learning models (CNN, U-Net, Vision Transformer, and YOLO) for comprehensive health assessment.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Generates a </a:t>
            </a:r>
            <a:r>
              <a:rPr lang="en-IN" sz="2000" b="1" dirty="0">
                <a:latin typeface="Times New Roman" panose="02020603050405020304" pitchFamily="18" charset="0"/>
                <a:cs typeface="Times New Roman" panose="02020603050405020304" pitchFamily="18" charset="0"/>
              </a:rPr>
              <a:t>treatment priority score</a:t>
            </a:r>
            <a:r>
              <a:rPr lang="en-IN" sz="2000" dirty="0">
                <a:latin typeface="Times New Roman" panose="02020603050405020304" pitchFamily="18" charset="0"/>
                <a:cs typeface="Times New Roman" panose="02020603050405020304" pitchFamily="18" charset="0"/>
              </a:rPr>
              <a:t> (Low, Medium, High, Critical) to assist veterinarians.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Designed specifically for </a:t>
            </a:r>
            <a:r>
              <a:rPr lang="en-IN" sz="2000" b="1" dirty="0">
                <a:latin typeface="Times New Roman" panose="02020603050405020304" pitchFamily="18" charset="0"/>
                <a:cs typeface="Times New Roman" panose="02020603050405020304" pitchFamily="18" charset="0"/>
              </a:rPr>
              <a:t>animal shelters and rescue organizations</a:t>
            </a:r>
            <a:r>
              <a:rPr lang="en-IN" sz="2000" dirty="0">
                <a:latin typeface="Times New Roman" panose="02020603050405020304" pitchFamily="18" charset="0"/>
                <a:cs typeface="Times New Roman" panose="02020603050405020304" pitchFamily="18" charset="0"/>
              </a:rPr>
              <a:t>, where resources are often limited.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Uses a </a:t>
            </a:r>
            <a:r>
              <a:rPr lang="en-IN" sz="2000" b="1" dirty="0">
                <a:latin typeface="Times New Roman" panose="02020603050405020304" pitchFamily="18" charset="0"/>
                <a:cs typeface="Times New Roman" panose="02020603050405020304" pitchFamily="18" charset="0"/>
              </a:rPr>
              <a:t>multi-source unified veterinary dataset</a:t>
            </a:r>
            <a:r>
              <a:rPr lang="en-IN" sz="2000" dirty="0">
                <a:latin typeface="Times New Roman" panose="02020603050405020304" pitchFamily="18" charset="0"/>
                <a:cs typeface="Times New Roman" panose="02020603050405020304" pitchFamily="18" charset="0"/>
              </a:rPr>
              <a:t>, improving diversity and robustness compared to single-dataset approaches.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Supports </a:t>
            </a:r>
            <a:r>
              <a:rPr lang="en-IN" sz="2000" b="1" dirty="0">
                <a:latin typeface="Times New Roman" panose="02020603050405020304" pitchFamily="18" charset="0"/>
                <a:cs typeface="Times New Roman" panose="02020603050405020304" pitchFamily="18" charset="0"/>
              </a:rPr>
              <a:t>near real-time image-based assessment</a:t>
            </a:r>
            <a:r>
              <a:rPr lang="en-IN" sz="2000" dirty="0">
                <a:latin typeface="Times New Roman" panose="02020603050405020304" pitchFamily="18" charset="0"/>
                <a:cs typeface="Times New Roman" panose="02020603050405020304" pitchFamily="18" charset="0"/>
              </a:rPr>
              <a:t> for faster decision-making.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Functions as a </a:t>
            </a:r>
            <a:r>
              <a:rPr lang="en-IN" sz="2000" b="1" dirty="0">
                <a:latin typeface="Times New Roman" panose="02020603050405020304" pitchFamily="18" charset="0"/>
                <a:cs typeface="Times New Roman" panose="02020603050405020304" pitchFamily="18" charset="0"/>
              </a:rPr>
              <a:t>decision-support tool</a:t>
            </a:r>
            <a:r>
              <a:rPr lang="en-IN" sz="2000" dirty="0">
                <a:latin typeface="Times New Roman" panose="02020603050405020304" pitchFamily="18" charset="0"/>
                <a:cs typeface="Times New Roman" panose="02020603050405020304" pitchFamily="18" charset="0"/>
              </a:rPr>
              <a:t>, assisting veterinarians rather than replacing clinical expertise. </a:t>
            </a:r>
          </a:p>
        </p:txBody>
      </p:sp>
      <p:pic>
        <p:nvPicPr>
          <p:cNvPr id="3" name="Picture 2">
            <a:extLst>
              <a:ext uri="{FF2B5EF4-FFF2-40B4-BE49-F238E27FC236}">
                <a16:creationId xmlns:a16="http://schemas.microsoft.com/office/drawing/2014/main" id="{F237937D-59E3-D42D-AC6B-F1E4113AC0B2}"/>
              </a:ext>
            </a:extLst>
          </p:cNvPr>
          <p:cNvPicPr>
            <a:picLocks noChangeAspect="1"/>
          </p:cNvPicPr>
          <p:nvPr/>
        </p:nvPicPr>
        <p:blipFill>
          <a:blip r:embed="rId2"/>
          <a:srcRect t="31934" b="33169"/>
          <a:stretch>
            <a:fillRect/>
          </a:stretch>
        </p:blipFill>
        <p:spPr>
          <a:xfrm>
            <a:off x="9895220" y="0"/>
            <a:ext cx="2296780" cy="801510"/>
          </a:xfrm>
          <a:prstGeom prst="rect">
            <a:avLst/>
          </a:prstGeom>
        </p:spPr>
      </p:pic>
    </p:spTree>
    <p:extLst>
      <p:ext uri="{BB962C8B-B14F-4D97-AF65-F5344CB8AC3E}">
        <p14:creationId xmlns:p14="http://schemas.microsoft.com/office/powerpoint/2010/main" val="571499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ED3A1-785F-937E-7081-3A658CAA4F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B24E4-AA81-4C16-CF7E-43C70C99648C}"/>
              </a:ext>
            </a:extLst>
          </p:cNvPr>
          <p:cNvSpPr>
            <a:spLocks noGrp="1"/>
          </p:cNvSpPr>
          <p:nvPr>
            <p:ph type="title"/>
          </p:nvPr>
        </p:nvSpPr>
        <p:spPr>
          <a:xfrm>
            <a:off x="1952978" y="1921211"/>
            <a:ext cx="8286044" cy="3015578"/>
          </a:xfrm>
        </p:spPr>
        <p:txBody>
          <a:bodyPr>
            <a:normAutofit/>
          </a:bodyPr>
          <a:lstStyle/>
          <a:p>
            <a:pPr algn="ctr"/>
            <a:r>
              <a:rPr lang="en-IN" sz="8000" b="1" i="1" dirty="0">
                <a:solidFill>
                  <a:srgbClr val="C00000"/>
                </a:solidFill>
                <a:latin typeface="Calisto MT" panose="02040603050505030304" pitchFamily="18" charset="0"/>
                <a:cs typeface="Times New Roman"/>
                <a:sym typeface="Times New Roman"/>
              </a:rPr>
              <a:t>  Thank You </a:t>
            </a:r>
            <a:br>
              <a:rPr lang="en-IN" sz="48400" dirty="0">
                <a:latin typeface="Calisto MT" panose="02040603050505030304" pitchFamily="18" charset="0"/>
              </a:rPr>
            </a:br>
            <a:endParaRPr lang="en-IN" sz="8000" dirty="0">
              <a:latin typeface="Calisto MT" panose="02040603050505030304" pitchFamily="18" charset="0"/>
            </a:endParaRPr>
          </a:p>
        </p:txBody>
      </p:sp>
      <p:pic>
        <p:nvPicPr>
          <p:cNvPr id="5" name="Picture 4">
            <a:extLst>
              <a:ext uri="{FF2B5EF4-FFF2-40B4-BE49-F238E27FC236}">
                <a16:creationId xmlns:a16="http://schemas.microsoft.com/office/drawing/2014/main" id="{A362DF3E-393A-7FBE-B72F-D000AC38F891}"/>
              </a:ext>
            </a:extLst>
          </p:cNvPr>
          <p:cNvPicPr>
            <a:picLocks noChangeAspect="1"/>
          </p:cNvPicPr>
          <p:nvPr/>
        </p:nvPicPr>
        <p:blipFill>
          <a:blip r:embed="rId2"/>
          <a:srcRect t="31934" b="33169"/>
          <a:stretch>
            <a:fillRect/>
          </a:stretch>
        </p:blipFill>
        <p:spPr>
          <a:xfrm>
            <a:off x="9895220" y="0"/>
            <a:ext cx="2296780" cy="801510"/>
          </a:xfrm>
          <a:prstGeom prst="rect">
            <a:avLst/>
          </a:prstGeom>
        </p:spPr>
      </p:pic>
    </p:spTree>
    <p:extLst>
      <p:ext uri="{BB962C8B-B14F-4D97-AF65-F5344CB8AC3E}">
        <p14:creationId xmlns:p14="http://schemas.microsoft.com/office/powerpoint/2010/main" val="797639142"/>
      </p:ext>
    </p:extLst>
  </p:cSld>
  <p:clrMapOvr>
    <a:masterClrMapping/>
  </p:clrMapOvr>
</p:sld>
</file>

<file path=ppt/theme/theme1.xml><?xml version="1.0" encoding="utf-8"?>
<a:theme xmlns:a="http://schemas.openxmlformats.org/drawingml/2006/main" name="2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947</TotalTime>
  <Words>1552</Words>
  <Application>Microsoft Office PowerPoint</Application>
  <PresentationFormat>Widescreen</PresentationFormat>
  <Paragraphs>165</Paragraphs>
  <Slides>14</Slides>
  <Notes>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14</vt:i4>
      </vt:variant>
    </vt:vector>
  </HeadingPairs>
  <TitlesOfParts>
    <vt:vector size="25" baseType="lpstr">
      <vt:lpstr>Arial</vt:lpstr>
      <vt:lpstr>Avenir</vt:lpstr>
      <vt:lpstr>Calibri</vt:lpstr>
      <vt:lpstr>Calisto MT</vt:lpstr>
      <vt:lpstr>Garamond</vt:lpstr>
      <vt:lpstr>Poppins</vt:lpstr>
      <vt:lpstr>Times New Roman</vt:lpstr>
      <vt:lpstr>2_Presentation slides</vt:lpstr>
      <vt:lpstr>Presentation Cover page</vt:lpstr>
      <vt:lpstr>1_Presentation Cover page</vt:lpstr>
      <vt:lpstr>1_Presentation slides</vt:lpstr>
      <vt:lpstr>23CSE473   Neural Networks &amp; Deep Learning    “MediPaw – Because every Paw deserves a chance”  GitHub URL: https://github.com/sanhithaac/MediPaw </vt:lpstr>
      <vt:lpstr>PowerPoint Presentation</vt:lpstr>
      <vt:lpstr>1. Introduction</vt:lpstr>
      <vt:lpstr>2. Problem Statement</vt:lpstr>
      <vt:lpstr>3. Motivation</vt:lpstr>
      <vt:lpstr>4. Research Questions &amp; Gaps</vt:lpstr>
      <vt:lpstr>5. Related Products </vt:lpstr>
      <vt:lpstr>SDG Mapping</vt:lpstr>
      <vt:lpstr>6.2 How the Case Study is related to the SDG</vt:lpstr>
      <vt:lpstr>7.1 Dataset Description</vt:lpstr>
      <vt:lpstr>PowerPoint Presentation</vt:lpstr>
      <vt:lpstr>7.2 Challenges Faced</vt:lpstr>
      <vt:lpstr>8. Novelty of the product</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Senthil</dc:creator>
  <cp:lastModifiedBy>Sanhitha AC</cp:lastModifiedBy>
  <cp:revision>46</cp:revision>
  <dcterms:modified xsi:type="dcterms:W3CDTF">2026-07-23T05:12:32Z</dcterms:modified>
</cp:coreProperties>
</file>