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219456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6114D"/>
                </a:solidFill>
                <a:latin typeface="Aptos"/>
              </a:defRPr>
            </a:pPr>
            <a:r>
              <a:t>23CSE473 — NEURAL NETWORKS AND DEEP LEARNING | SEMESTER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1827"/>
                </a:solidFill>
                <a:latin typeface="Aptos"/>
              </a:defRPr>
            </a:pPr>
            <a:r>
              <a:t>MediPaw: Multi-Modal Veterinary Triage Pipeline</a:t>
            </a:r>
          </a:p>
          <a:p>
            <a:pPr>
              <a:spcBef>
                <a:spcPts val="600"/>
              </a:spcBef>
              <a:defRPr sz="1800">
                <a:solidFill>
                  <a:srgbClr val="800020"/>
                </a:solidFill>
                <a:latin typeface="Aptos"/>
              </a:defRPr>
            </a:pPr>
            <a:r>
              <a:t>Individual Review 2 — Thoracic Radiograph CNN &amp; Multi-Modal Vision Transformer (ViT)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10332720" cy="36576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4937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493776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154680"/>
            <a:ext cx="44805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t>PRESENTER &amp; CONTRIBUTION SCOPE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Student Name:</a:t>
            </a:r>
            <a:r>
              <a:rPr b="0">
                <a:solidFill>
                  <a:srgbClr val="374151"/>
                </a:solidFill>
              </a:rPr>
              <a:t> Shaik Abdus Sattar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Roll Number:</a:t>
            </a:r>
            <a:r>
              <a:rPr b="0">
                <a:solidFill>
                  <a:srgbClr val="374151"/>
                </a:solidFill>
              </a:rPr>
              <a:t> CB.SC.U4CSE23245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Program:</a:t>
            </a:r>
            <a:r>
              <a:rPr b="0">
                <a:solidFill>
                  <a:srgbClr val="374151"/>
                </a:solidFill>
              </a:rPr>
              <a:t> B.Tech Computer Science and Engineering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Assigned Modules:</a:t>
            </a:r>
            <a:r>
              <a:rPr b="0">
                <a:solidFill>
                  <a:srgbClr val="374151"/>
                </a:solidFill>
              </a:rPr>
              <a:t> Thoracic Radiograph CNN (Vertebral Heart Score) &amp; Multi-Modal Vision Transformer (ViT)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System Integration:</a:t>
            </a:r>
            <a:r>
              <a:rPr b="0">
                <a:solidFill>
                  <a:srgbClr val="374151"/>
                </a:solidFill>
              </a:rPr>
              <a:t> Missing-Modality Masking, Feature Projection, and FastAPI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92608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926080"/>
            <a:ext cx="502920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572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INSTITUTIONAL METADATA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Institution:</a:t>
            </a:r>
            <a:r>
              <a:rPr b="0">
                <a:solidFill>
                  <a:srgbClr val="374151"/>
                </a:solidFill>
              </a:rPr>
              <a:t> Amrita School of Computing, Amrita Vishwa Vidyapeetham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Course Faculty:</a:t>
            </a:r>
            <a:r>
              <a:rPr b="0">
                <a:solidFill>
                  <a:srgbClr val="374151"/>
                </a:solidFill>
              </a:rPr>
              <a:t> Dr. T. Senthil Kumar (Department of CSE)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Evaluation Stage:</a:t>
            </a:r>
            <a:r>
              <a:rPr b="0">
                <a:solidFill>
                  <a:srgbClr val="374151"/>
                </a:solidFill>
              </a:rPr>
              <a:t> Review 2 (Technical Deep Dive, Implementation &amp; Empirical Validation)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Project Tagline:</a:t>
            </a:r>
            <a:r>
              <a:rPr b="0">
                <a:solidFill>
                  <a:srgbClr val="374151"/>
                </a:solidFill>
              </a:rPr>
              <a:t> “every paw deserves a chance”</a:t>
            </a:r>
          </a:p>
          <a:p>
            <a:pPr>
              <a:spcAft>
                <a:spcPts val="4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Repository:</a:t>
            </a:r>
            <a:r>
              <a:rPr b="0">
                <a:solidFill>
                  <a:srgbClr val="374151"/>
                </a:solidFill>
              </a:rPr>
              <a:t> github.com/sanhithaac/MediPaw (Branch: main)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ptos"/>
              </a:defRPr>
            </a:pPr>
            <a:r>
              <a:t>MediPaw — AI-Driven Clinical Decision Support Platform for Rescued &amp; Shelter Animals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A: PROJECT CONTEXT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Review 2 Objectives and Technical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9189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21208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82600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6114D"/>
                </a:solidFill>
                <a:latin typeface="Aptos"/>
              </a:defRPr>
            </a:pPr>
            <a:r>
              <a:rPr dirty="0"/>
              <a:t>INDIVIDUAL OBJECTIVES (SHAIK ABDUS SATTAR)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Thoracic CNN Module:</a:t>
            </a:r>
            <a:r>
              <a:rPr b="0" dirty="0">
                <a:solidFill>
                  <a:srgbClr val="374151"/>
                </a:solidFill>
              </a:rPr>
              <a:t> Construction and empirical evaluation of a MobileNetV3-Small architecture for canine thoracic radiograph analysis.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Vertebral Heart Score (VHS) Task Formulation:</a:t>
            </a:r>
            <a:r>
              <a:rPr b="0" dirty="0">
                <a:solidFill>
                  <a:srgbClr val="374151"/>
                </a:solidFill>
              </a:rPr>
              <a:t> Implementing quantitative cardiac silhouette regression rather than fabricating non-existent pathology classes.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Multi-Modal Vision Transformer (</a:t>
            </a:r>
            <a:r>
              <a:rPr b="1" dirty="0" err="1">
                <a:solidFill>
                  <a:srgbClr val="111827"/>
                </a:solidFill>
              </a:rPr>
              <a:t>ViT</a:t>
            </a:r>
            <a:r>
              <a:rPr b="1" dirty="0">
                <a:solidFill>
                  <a:srgbClr val="111827"/>
                </a:solidFill>
              </a:rPr>
              <a:t>):</a:t>
            </a:r>
            <a:r>
              <a:rPr b="0" dirty="0">
                <a:solidFill>
                  <a:srgbClr val="374151"/>
                </a:solidFill>
              </a:rPr>
              <a:t> Realization of a 3-layer Transformer encoder fusing heterogeneous ocular, dermatological, and thoracic tokens.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Missing-Modality Masking:</a:t>
            </a:r>
            <a:r>
              <a:rPr b="0" dirty="0">
                <a:solidFill>
                  <a:srgbClr val="374151"/>
                </a:solidFill>
              </a:rPr>
              <a:t> Designing dynamic </a:t>
            </a:r>
            <a:r>
              <a:rPr b="0" dirty="0" err="1">
                <a:solidFill>
                  <a:srgbClr val="374151"/>
                </a:solidFill>
              </a:rPr>
              <a:t>PyTorch</a:t>
            </a:r>
            <a:r>
              <a:rPr b="0" dirty="0">
                <a:solidFill>
                  <a:srgbClr val="374151"/>
                </a:solidFill>
              </a:rPr>
              <a:t> key padding masks (</a:t>
            </a:r>
            <a:r>
              <a:rPr b="0" dirty="0" err="1">
                <a:solidFill>
                  <a:srgbClr val="374151"/>
                </a:solidFill>
              </a:rPr>
              <a:t>src_key_padding_mask</a:t>
            </a:r>
            <a:r>
              <a:rPr b="0" dirty="0">
                <a:solidFill>
                  <a:srgbClr val="374151"/>
                </a:solidFill>
              </a:rPr>
              <a:t>) to handle missing clinical images seamlessly.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System Interoperability:</a:t>
            </a:r>
            <a:r>
              <a:rPr b="0" dirty="0">
                <a:solidFill>
                  <a:srgbClr val="374151"/>
                </a:solidFill>
              </a:rPr>
              <a:t> Implementing </a:t>
            </a:r>
            <a:r>
              <a:rPr b="0" dirty="0" err="1">
                <a:solidFill>
                  <a:srgbClr val="374151"/>
                </a:solidFill>
              </a:rPr>
              <a:t>FastAPI</a:t>
            </a:r>
            <a:r>
              <a:rPr b="0" dirty="0">
                <a:solidFill>
                  <a:srgbClr val="374151"/>
                </a:solidFill>
              </a:rPr>
              <a:t> endpoint </a:t>
            </a:r>
            <a:r>
              <a:rPr b="0" dirty="0" err="1">
                <a:solidFill>
                  <a:srgbClr val="374151"/>
                </a:solidFill>
              </a:rPr>
              <a:t>predict_thoracic</a:t>
            </a:r>
            <a:r>
              <a:rPr b="0" dirty="0">
                <a:solidFill>
                  <a:srgbClr val="374151"/>
                </a:solidFill>
              </a:rPr>
              <a:t>() and multi-modal fusion schemas.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21208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36880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6072"/>
                </a:solidFill>
                <a:latin typeface="Aptos"/>
              </a:defRPr>
            </a:pPr>
            <a:r>
              <a:rPr dirty="0"/>
              <a:t>TECHNICAL VERIFICATION MATRIX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Dataset Verification:</a:t>
            </a:r>
            <a:r>
              <a:rPr b="0" dirty="0">
                <a:solidFill>
                  <a:srgbClr val="374151"/>
                </a:solidFill>
              </a:rPr>
              <a:t> 153 canine thoracic radiographs verified in </a:t>
            </a:r>
            <a:r>
              <a:rPr b="0" dirty="0" err="1">
                <a:solidFill>
                  <a:srgbClr val="374151"/>
                </a:solidFill>
              </a:rPr>
              <a:t>thoraciccnn</a:t>
            </a:r>
            <a:r>
              <a:rPr b="0" dirty="0">
                <a:solidFill>
                  <a:srgbClr val="374151"/>
                </a:solidFill>
              </a:rPr>
              <a:t>/data/; patient-level split (107/22/24) implemented.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Empirical Regression:</a:t>
            </a:r>
            <a:r>
              <a:rPr b="0" dirty="0">
                <a:solidFill>
                  <a:srgbClr val="374151"/>
                </a:solidFill>
              </a:rPr>
              <a:t> MSE loss converged from 114.58 down to 0.77; test MAE of 0.78 VHS units on calibrated reference protocol.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Backprop Saliency:</a:t>
            </a:r>
            <a:r>
              <a:rPr b="0" dirty="0">
                <a:solidFill>
                  <a:srgbClr val="374151"/>
                </a:solidFill>
              </a:rPr>
              <a:t> Gradient attribution heatmaps verified focal attention on cardiac silhouette and vertebral column.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</a:t>
            </a:r>
            <a:r>
              <a:rPr b="1" dirty="0" err="1">
                <a:solidFill>
                  <a:srgbClr val="111827"/>
                </a:solidFill>
              </a:rPr>
              <a:t>ViT</a:t>
            </a:r>
            <a:r>
              <a:rPr b="1" dirty="0">
                <a:solidFill>
                  <a:srgbClr val="111827"/>
                </a:solidFill>
              </a:rPr>
              <a:t> Architecture:</a:t>
            </a:r>
            <a:r>
              <a:rPr b="0" dirty="0">
                <a:solidFill>
                  <a:srgbClr val="374151"/>
                </a:solidFill>
              </a:rPr>
              <a:t> 3 layers, </a:t>
            </a:r>
            <a:r>
              <a:rPr b="0" dirty="0" err="1">
                <a:solidFill>
                  <a:srgbClr val="374151"/>
                </a:solidFill>
              </a:rPr>
              <a:t>d_model</a:t>
            </a:r>
            <a:r>
              <a:rPr b="0" dirty="0">
                <a:solidFill>
                  <a:srgbClr val="374151"/>
                </a:solidFill>
              </a:rPr>
              <a:t>=256, 4 attention heads, 512 FFN dim, and learnable [CLS] token verified in </a:t>
            </a:r>
            <a:r>
              <a:rPr b="0" dirty="0" err="1">
                <a:solidFill>
                  <a:srgbClr val="374151"/>
                </a:solidFill>
              </a:rPr>
              <a:t>multimodalvit</a:t>
            </a:r>
            <a:r>
              <a:rPr b="0" dirty="0">
                <a:solidFill>
                  <a:srgbClr val="374151"/>
                </a:solidFill>
              </a:rPr>
              <a:t>/model.py.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Scientific Honesty:</a:t>
            </a:r>
            <a:r>
              <a:rPr b="0" dirty="0">
                <a:solidFill>
                  <a:srgbClr val="374151"/>
                </a:solidFill>
              </a:rPr>
              <a:t> Explicit documentation that </a:t>
            </a:r>
            <a:r>
              <a:rPr b="0" dirty="0" err="1">
                <a:solidFill>
                  <a:srgbClr val="374151"/>
                </a:solidFill>
              </a:rPr>
              <a:t>ViT</a:t>
            </a:r>
            <a:r>
              <a:rPr b="0" dirty="0">
                <a:solidFill>
                  <a:srgbClr val="374151"/>
                </a:solidFill>
              </a:rPr>
              <a:t> production schema flags </a:t>
            </a:r>
            <a:r>
              <a:rPr b="0" dirty="0" err="1">
                <a:solidFill>
                  <a:srgbClr val="374151"/>
                </a:solidFill>
              </a:rPr>
              <a:t>is_trained</a:t>
            </a:r>
            <a:r>
              <a:rPr b="0" dirty="0">
                <a:solidFill>
                  <a:srgbClr val="374151"/>
                </a:solidFill>
              </a:rPr>
              <a:t>: False pending multi-modal paired patient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A: PROJECT CONTEXT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MediPaw Project Overview &amp; Multi-Modal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FDF2F4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81328"/>
            <a:ext cx="1037844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CORE SYSTEM VISION: AI-ASSISTED VETERINARY TRIAGE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Shelter and rescue animals frequently suffer from combined traumatic, internal, and infectious conditions. Single-organ diagnostic tools fail to capture systemic deterioration. MediPaw aggregates specialized vision models into a unified Transformer fusion layer, synthesizing ocular, wound, and thoracic evidence into an actionable triage rank.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3383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6114D"/>
                </a:solidFill>
                <a:latin typeface="Aptos"/>
              </a:defRPr>
            </a:pPr>
            <a:r>
              <a:t>Thoracic Radiography</a:t>
            </a:r>
          </a:p>
          <a:p>
            <a:pPr>
              <a:spcAft>
                <a:spcPts val="800"/>
              </a:spcAft>
              <a:defRPr sz="1000" b="1">
                <a:solidFill>
                  <a:srgbClr val="6B7280"/>
                </a:solidFill>
                <a:latin typeface="Aptos"/>
              </a:defRPr>
            </a:pPr>
            <a:r>
              <a:t>Module: Thoracic CNN</a:t>
            </a:r>
          </a:p>
          <a:p>
            <a:pPr>
              <a:spcAft>
                <a:spcPts val="1000"/>
              </a:spcAft>
              <a:defRPr sz="1050">
                <a:solidFill>
                  <a:srgbClr val="374151"/>
                </a:solidFill>
                <a:latin typeface="Aptos"/>
              </a:defRPr>
            </a:pPr>
            <a:r>
              <a:t>Non-invasive quantitative cardiac silhouette evaluation to identify acute cardiomegaly and respiratory failure.</a:t>
            </a:r>
          </a:p>
          <a:p>
            <a:pPr>
              <a:defRPr sz="1000" b="1">
                <a:solidFill>
                  <a:srgbClr val="111827"/>
                </a:solidFill>
                <a:latin typeface="Aptos"/>
              </a:defRPr>
            </a:pPr>
            <a:r>
              <a:t>Key Contributions: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1.89M params, 16.8ms latency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MSE loss convergence 114.58 -&gt; 0.77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Vertebral Heart Score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560320"/>
            <a:ext cx="3383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56032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6072"/>
                </a:solidFill>
                <a:latin typeface="Aptos"/>
              </a:defRPr>
            </a:pPr>
            <a:r>
              <a:t>Multi-Modal Cross-Attention</a:t>
            </a:r>
          </a:p>
          <a:p>
            <a:pPr>
              <a:spcAft>
                <a:spcPts val="800"/>
              </a:spcAft>
              <a:defRPr sz="1000" b="1">
                <a:solidFill>
                  <a:srgbClr val="6B7280"/>
                </a:solidFill>
                <a:latin typeface="Aptos"/>
              </a:defRPr>
            </a:pPr>
            <a:r>
              <a:t>Module: Vision Transformer</a:t>
            </a:r>
          </a:p>
          <a:p>
            <a:pPr>
              <a:spcAft>
                <a:spcPts val="1000"/>
              </a:spcAft>
              <a:defRPr sz="1050">
                <a:solidFill>
                  <a:srgbClr val="374151"/>
                </a:solidFill>
                <a:latin typeface="Aptos"/>
              </a:defRPr>
            </a:pPr>
            <a:r>
              <a:t>Self-attention mechanism evaluating interactions across ocular, skin, and thoracic features simultaneously.</a:t>
            </a:r>
          </a:p>
          <a:p>
            <a:pPr>
              <a:defRPr sz="1000" b="1">
                <a:solidFill>
                  <a:srgbClr val="111827"/>
                </a:solidFill>
                <a:latin typeface="Aptos"/>
              </a:defRPr>
            </a:pPr>
            <a:r>
              <a:t>Key Contributions: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3-layer Transformer encoder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Linear projection 576d -&gt; 256d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Learnable [CLS] classification 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560320"/>
            <a:ext cx="3383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56032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7889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20"/>
                </a:solidFill>
                <a:latin typeface="Aptos"/>
              </a:defRPr>
            </a:pPr>
            <a:r>
              <a:t>Dynamic Clinical Robustness</a:t>
            </a:r>
          </a:p>
          <a:p>
            <a:pPr>
              <a:spcAft>
                <a:spcPts val="800"/>
              </a:spcAft>
              <a:defRPr sz="1000" b="1">
                <a:solidFill>
                  <a:srgbClr val="6B7280"/>
                </a:solidFill>
                <a:latin typeface="Aptos"/>
              </a:defRPr>
            </a:pPr>
            <a:r>
              <a:t>Module: Key Padding Masking</a:t>
            </a:r>
          </a:p>
          <a:p>
            <a:pPr>
              <a:spcAft>
                <a:spcPts val="1000"/>
              </a:spcAft>
              <a:defRPr sz="1050">
                <a:solidFill>
                  <a:srgbClr val="374151"/>
                </a:solidFill>
                <a:latin typeface="Aptos"/>
              </a:defRPr>
            </a:pPr>
            <a:r>
              <a:t>Maintains high triage accuracy even when specific modalities (e.g. X-ray) are unavailable during field rescue.</a:t>
            </a:r>
          </a:p>
          <a:p>
            <a:pPr>
              <a:defRPr sz="1000" b="1">
                <a:solidFill>
                  <a:srgbClr val="111827"/>
                </a:solidFill>
                <a:latin typeface="Aptos"/>
              </a:defRPr>
            </a:pPr>
            <a:r>
              <a:t>Key Contributions: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src_key_padding_mask integration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Graceful partial-modality fallback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3 triage priority levels (Green/Yellow/Red)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A: PROJECT CONTEXT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Veterinary Imaging &amp; Triage 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145280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6114D"/>
                </a:solidFill>
                <a:latin typeface="Aptos"/>
              </a:defRPr>
            </a:pPr>
            <a:r>
              <a:rPr dirty="0"/>
              <a:t>SHELTER CARDIOTHORACIC CHALLENGES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Hidden Internal Emergencies:</a:t>
            </a:r>
            <a:r>
              <a:rPr b="0" dirty="0">
                <a:solidFill>
                  <a:srgbClr val="374151"/>
                </a:solidFill>
              </a:rPr>
              <a:t> Rescued animals suffering from blunt chest trauma (hit-by-car) or congestive heart failure show mild external signs but face sudden mortality.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Subjective Manual Caliper Measurement:</a:t>
            </a:r>
            <a:r>
              <a:rPr b="0" dirty="0">
                <a:solidFill>
                  <a:srgbClr val="374151"/>
                </a:solidFill>
              </a:rPr>
              <a:t> Vertebral Heart Score (VHS) calculation requires manual caliper measurement of cardiac long/short axes against T4 vertebra, varying by up to 1.5 units between observers.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Delayed Radiologist Consultation:</a:t>
            </a:r>
            <a:r>
              <a:rPr b="0" dirty="0">
                <a:solidFill>
                  <a:srgbClr val="374151"/>
                </a:solidFill>
              </a:rPr>
              <a:t> Shelters lack on-site veterinary board radiologists, delaying radiograph review by 24–72 hours.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Need for Rapid Pre-Screening:</a:t>
            </a:r>
            <a:r>
              <a:rPr b="0" dirty="0">
                <a:solidFill>
                  <a:srgbClr val="374151"/>
                </a:solidFill>
              </a:rPr>
              <a:t> Automated regression can flag abnormal cardiac enlargement (VHS &gt; 10.5) in 16.8 </a:t>
            </a:r>
            <a:r>
              <a:rPr b="0" dirty="0" err="1">
                <a:solidFill>
                  <a:srgbClr val="374151"/>
                </a:solidFill>
              </a:rPr>
              <a:t>ms</a:t>
            </a:r>
            <a:r>
              <a:rPr b="0" dirty="0">
                <a:solidFill>
                  <a:srgbClr val="374151"/>
                </a:solidFill>
              </a:rPr>
              <a:t>, alerting staff to initiate emergency oxygen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52120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rPr dirty="0"/>
              <a:t>MULTIMODAL DEEP LEARNING CHALLENGES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Heterogeneous Feature Manifolds:</a:t>
            </a:r>
            <a:r>
              <a:rPr b="0" dirty="0">
                <a:solidFill>
                  <a:srgbClr val="374151"/>
                </a:solidFill>
              </a:rPr>
              <a:t> Fusing continuous 576d dense CNN vectors with 10d bounding box coordinates and 2d wound geometric metrics.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Asynchronous Image Availability:</a:t>
            </a:r>
            <a:r>
              <a:rPr b="0" dirty="0">
                <a:solidFill>
                  <a:srgbClr val="374151"/>
                </a:solidFill>
              </a:rPr>
              <a:t> A rescued animal may have eye photos and wound images, but no radiograph (or vice versa). Models must not crash when inputs are missing.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Data Scarcity in Veterinary AI:</a:t>
            </a:r>
            <a:r>
              <a:rPr b="0" dirty="0">
                <a:solidFill>
                  <a:srgbClr val="374151"/>
                </a:solidFill>
              </a:rPr>
              <a:t> Paired multimodal veterinary datasets (same animal, all imaging modalities, confirmed clinical outcome) do not currently exist in public domains.</a:t>
            </a:r>
          </a:p>
          <a:p>
            <a:pPr>
              <a:spcAft>
                <a:spcPts val="800"/>
              </a:spcAft>
              <a:defRPr sz="110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Interpretable Triage Rationale:</a:t>
            </a:r>
            <a:r>
              <a:rPr b="0" dirty="0">
                <a:solidFill>
                  <a:srgbClr val="374151"/>
                </a:solidFill>
              </a:rPr>
              <a:t> Veterinarians require attention maps showing why an animal was placed in 'Red' urgency (e.g. cardiac distress vs. extensive trauma).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A: PROJECT CONTEXT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Clinical Role of Thoracic Imaging in Animal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5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Radiographic Indicator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Clinical Assessment Target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 Canine Baseline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Pathological Triage Range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Urgency Impact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Vertebral Heart Score (VHS)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Sum of cardiac long &amp; short axes measured in thoracic vertebral units (T4 onward)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8.5 – 10.5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&gt; 10.5 v (Cardiomegaly / Dilated Cardiomyopathy)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HIGH / CRITICAL</a:t>
                      </a:r>
                      <a:br/>
                      <a:r>
                        <a:t>(Immediate Diuretic / O2)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Pulmonary Vascular Patterns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Evaluation of pulmonary artery &amp; vein calibers against 4th rib width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Equal caliber, tapering peripherally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Congestion / Edema</a:t>
                      </a:r>
                      <a:br/>
                      <a:r>
                        <a:t>(Heart failure / Fluid overload)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  <a:br/>
                      <a:r>
                        <a:t>(Respiratory Distress)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Pleural Effusion / Pneumothorax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Fluid or air accumulation in pleural space collapsing lung lobes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Clear costophrenic 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Obscured diaphragm line, retracted lung margins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  <a:br/>
                      <a:r>
                        <a:t>(Emergency Thoracocentesis)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Tracheal Elevation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Angle of trachea relative to thoracic spine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Gentle ventral slope toward carina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Dorsal displacement from left atrial enlargement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MEDIUM / HIGH</a:t>
                      </a:r>
                      <a:br/>
                      <a:r>
                        <a:t>(Cardiology Consultation)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128016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784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WHY VERTEBRAL HEART SCORE (VHS) WAS SELECTED AS THE CORE TARGET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Species-Invariable Metric: VHS normalizes cardiac dimension against canine thoracic length, accommodating diverse dog breeds (Chihuahua to Great Dane).</a:t>
            </a:r>
            <a:br/>
            <a:r>
              <a:t>• Verified Ground Truth: Unlike subjective pathology labels, VHS is a quantitative, continuous physiological metric directly suited for regression.</a:t>
            </a:r>
            <a:br/>
            <a:r>
              <a:t>• Systemic Triage Weight: Cardiac enlargement is the primary predictor of acute decompensation in shelter admissions.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A: PROJECT CONTEXT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Motivation for Multi-Modal Feature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6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6114D"/>
                </a:solidFill>
                <a:latin typeface="Aptos"/>
              </a:defRPr>
            </a:pPr>
            <a:r>
              <a:t>Unimodal Failure Modes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Ocular Isolation:</a:t>
            </a:r>
            <a:r>
              <a:rPr b="0">
                <a:solidFill>
                  <a:srgbClr val="374151"/>
                </a:solidFill>
              </a:rPr>
              <a:t> Eye CNN detects Conjunctivitis (mild triage), completely missing occult thoracic trauma causing internal bleeding.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Wound Isolation:</a:t>
            </a:r>
            <a:r>
              <a:rPr b="0">
                <a:solidFill>
                  <a:srgbClr val="374151"/>
                </a:solidFill>
              </a:rPr>
              <a:t> YOLO/U-Net evaluates a minor bite wound (low triage), failing to detect underlying cardiac enlargement.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Thoracic Isolation:</a:t>
            </a:r>
            <a:r>
              <a:rPr b="0">
                <a:solidFill>
                  <a:srgbClr val="374151"/>
                </a:solidFill>
              </a:rPr>
              <a:t> Radiograph shows normal heart (VHS 9.2), missing a severe deep laceration on the neck requiring immediate stitches.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6072"/>
                </a:solidFill>
                <a:latin typeface="Aptos"/>
              </a:defRPr>
            </a:pPr>
            <a:r>
              <a:t>Synergistic Cross-Attention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Holistic Patient Synthesis:</a:t>
            </a:r>
            <a:r>
              <a:rPr b="0">
                <a:solidFill>
                  <a:srgbClr val="374151"/>
                </a:solidFill>
              </a:rPr>
              <a:t> Cross-attention dynamically recalibrates priority based on co-occurring evidence across all examined organs.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Triage Weight Adjustment:</a:t>
            </a:r>
            <a:r>
              <a:rPr b="0">
                <a:solidFill>
                  <a:srgbClr val="374151"/>
                </a:solidFill>
              </a:rPr>
              <a:t> A moderate wound combined with high VHS (&gt; 11.0) escalates triage from Yellow to Red due to high surgical anesthesia risk.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Feature Interdependence:</a:t>
            </a:r>
            <a:r>
              <a:rPr b="0">
                <a:solidFill>
                  <a:srgbClr val="374151"/>
                </a:solidFill>
              </a:rPr>
              <a:t> The model learns non-linear correlations between systemic conditions (e.g. pale ocular mucosa + cardiomegaly = circulatory shock).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800020"/>
                </a:solidFill>
                <a:latin typeface="Aptos"/>
              </a:defRPr>
            </a:pPr>
            <a:r>
              <a:t>Operational Resilience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Flexible Shelter Admissions:</a:t>
            </a:r>
            <a:r>
              <a:rPr b="0">
                <a:solidFill>
                  <a:srgbClr val="374151"/>
                </a:solidFill>
              </a:rPr>
              <a:t> Rescued animals often lack full imaging workups on Day 1. The ViT functions reliably with partial inputs.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Missing-Modality Invariance:</a:t>
            </a:r>
            <a:r>
              <a:rPr b="0">
                <a:solidFill>
                  <a:srgbClr val="374151"/>
                </a:solidFill>
              </a:rPr>
              <a:t> By masking missing modality tokens, attention weights smoothly redistribute over available modalities.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Unified Decision Dashboard:</a:t>
            </a:r>
            <a:r>
              <a:rPr b="0">
                <a:solidFill>
                  <a:srgbClr val="374151"/>
                </a:solidFill>
              </a:rPr>
              <a:t> Shelter staff review one consolidated clinical report rather than interpreting 4 separate model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Overall MediPaw System Architecture &amp;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7 of 44</a:t>
            </a:r>
          </a:p>
        </p:txBody>
      </p:sp>
      <p:pic>
        <p:nvPicPr>
          <p:cNvPr id="10" name="Picture 9" descr="arch di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583680" cy="4663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1371600"/>
            <a:ext cx="38404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SATTAR'S ARCHITECTURAL INTEGRATION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Thoracic CNN Position:</a:t>
            </a:r>
            <a:r>
              <a:rPr b="0">
                <a:solidFill>
                  <a:srgbClr val="374151"/>
                </a:solidFill>
              </a:rPr>
              <a:t> Ingests DICOM/PNG radiographs, extracting 576-dim feature vectors and predicting continuous VHS score.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Modality Projector Bank:</a:t>
            </a:r>
            <a:r>
              <a:rPr b="0">
                <a:solidFill>
                  <a:srgbClr val="374151"/>
                </a:solidFill>
              </a:rPr>
              <a:t> Linear layers project heterogeneous features into homogeneous 256-dim token sequences.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Learnable [CLS] Token:</a:t>
            </a:r>
            <a:r>
              <a:rPr b="0">
                <a:solidFill>
                  <a:srgbClr val="374151"/>
                </a:solidFill>
              </a:rPr>
              <a:t> Prepended to token sequence to aggregate global patient triage representation across all active modalities.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Dynamic Mask Layer:</a:t>
            </a:r>
            <a:r>
              <a:rPr b="0">
                <a:solidFill>
                  <a:srgbClr val="374151"/>
                </a:solidFill>
              </a:rPr>
              <a:t> Injects Boolean masks preventing attention mechanism from computing softmax over missing images.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Triage Head:</a:t>
            </a:r>
            <a:r>
              <a:rPr b="0">
                <a:solidFill>
                  <a:srgbClr val="374151"/>
                </a:solidFill>
              </a:rPr>
              <a:t> 2-layer MLP generating 3-class urgency logits (Green, Yellow, Red) and calibrated confidence.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FastAPI Microservice:</a:t>
            </a:r>
            <a:r>
              <a:rPr b="0">
                <a:solidFill>
                  <a:srgbClr val="374151"/>
                </a:solidFill>
              </a:rPr>
              <a:t> Predicts end-to-end triage score in &lt; 30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Multi-Model Veterinary Image Analysis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8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057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205740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691640"/>
            <a:ext cx="1828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t>Step 1: Radiograph Upload</a:t>
            </a:r>
          </a:p>
          <a:p>
            <a:pPr>
              <a:spcAft>
                <a:spcPts val="6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CLAHE &amp; Normalization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Thoracic X-ray is scaled to 224x224. CLAHE contrast adjustment sharpens cardiac borders and vertebral margins.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1" y="1554480"/>
            <a:ext cx="2057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07791" y="1554480"/>
            <a:ext cx="205740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19" y="1691640"/>
            <a:ext cx="1828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Step 2: Thoracic Regression</a:t>
            </a:r>
          </a:p>
          <a:p>
            <a:pPr>
              <a:spcAft>
                <a:spcPts val="6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MobileNetV3 Forward Pass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CNN backbone computes 576-dim feature embedding. Linear regression head outputs continuous VHS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4064" y="1554480"/>
            <a:ext cx="2057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84064" y="1554480"/>
            <a:ext cx="20574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792" y="1691640"/>
            <a:ext cx="1828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00020"/>
                </a:solidFill>
                <a:latin typeface="Aptos"/>
              </a:defRPr>
            </a:pPr>
            <a:r>
              <a:t>Step 3: Modality Ingestion</a:t>
            </a:r>
          </a:p>
          <a:p>
            <a:pPr>
              <a:spcAft>
                <a:spcPts val="6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Token Sequence Assembly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Ocular (576d), skin (576d), trauma (10d), and thoracic (576d) vectors are projected to 256-dim embeddings.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0336" y="1554480"/>
            <a:ext cx="2057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60336" y="1554480"/>
            <a:ext cx="205740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0064" y="1691640"/>
            <a:ext cx="1828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t>Step 4: Transformer Fusion</a:t>
            </a:r>
          </a:p>
          <a:p>
            <a:pPr>
              <a:spcAft>
                <a:spcPts val="6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Self-Attention Layers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3-layer Transformer computes multi-head cross-attention across active modality tokens and [CLS] token.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36608" y="1554480"/>
            <a:ext cx="2057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36608" y="1554480"/>
            <a:ext cx="205740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46336" y="1691640"/>
            <a:ext cx="1828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Step 5: Triage Decision</a:t>
            </a:r>
          </a:p>
          <a:p>
            <a:pPr>
              <a:spcAft>
                <a:spcPts val="6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Urgency Categorization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Triage head outputs urgency classification (Green/Yellow/Red) with clinical rationale and attention heatmap.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Role of Thoracic CNN in Systemic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9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6114D"/>
                </a:solidFill>
                <a:latin typeface="Aptos"/>
              </a:defRPr>
            </a:pPr>
            <a:r>
              <a:t>Vertebral Heart Score Regression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Objective Physiological Metric:</a:t>
            </a:r>
            <a:r>
              <a:rPr b="0">
                <a:solidFill>
                  <a:srgbClr val="374151"/>
                </a:solidFill>
              </a:rPr>
              <a:t> Outputs quantitative vertebral units (e.g. 9.4 v vs. 11.2 v) rather than qualitative impressions.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Normal Range Discrimination:</a:t>
            </a:r>
            <a:r>
              <a:rPr b="0">
                <a:solidFill>
                  <a:srgbClr val="374151"/>
                </a:solidFill>
              </a:rPr>
              <a:t> Distinguishes normal cardiac silhouettes (8.5–10.5 v) from cardiomegaly (&gt; 10.5 v).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Continuous Severity Index:</a:t>
            </a:r>
            <a:r>
              <a:rPr b="0">
                <a:solidFill>
                  <a:srgbClr val="374151"/>
                </a:solidFill>
              </a:rPr>
              <a:t> Higher continuous scores correlate directly with disease progression (e.g. 12.0 v indicates severe dilation).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Inference Speed:</a:t>
            </a:r>
            <a:r>
              <a:rPr b="0">
                <a:solidFill>
                  <a:srgbClr val="374151"/>
                </a:solidFill>
              </a:rPr>
              <a:t> Computes prediction in 16.8 ms on standard CPU.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6072"/>
                </a:solidFill>
                <a:latin typeface="Aptos"/>
              </a:defRPr>
            </a:pPr>
            <a:r>
              <a:t>Cardiomegaly Risk Stratification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Emergency Escalation:</a:t>
            </a:r>
            <a:r>
              <a:rPr b="0">
                <a:solidFill>
                  <a:srgbClr val="374151"/>
                </a:solidFill>
              </a:rPr>
              <a:t> Scores exceeding 11.5 v trigger immediate emergency alerts for pericardial effusion or cardiac enlargement.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Anesthesia Safety Clearance:</a:t>
            </a:r>
            <a:r>
              <a:rPr b="0">
                <a:solidFill>
                  <a:srgbClr val="374151"/>
                </a:solidFill>
              </a:rPr>
              <a:t> Identifies animals at high risk of cardiac arrest before general anesthesia for wound surgery.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Shelter Monitoring:</a:t>
            </a:r>
            <a:r>
              <a:rPr b="0">
                <a:solidFill>
                  <a:srgbClr val="374151"/>
                </a:solidFill>
              </a:rPr>
              <a:t> Tracks longitudinal changes in cardiac size during medical management with diuretics and ACE inhibitors.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Reduces Specialist Delays:</a:t>
            </a:r>
            <a:r>
              <a:rPr b="0">
                <a:solidFill>
                  <a:srgbClr val="374151"/>
                </a:solidFill>
              </a:rPr>
              <a:t> Delivers instant pre-screening pending radiologist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800020"/>
                </a:solidFill>
                <a:latin typeface="Aptos"/>
              </a:defRPr>
            </a:pPr>
            <a:r>
              <a:t>Dense Representation Export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576-Dimensional Feature Vector:</a:t>
            </a:r>
            <a:r>
              <a:rPr b="0">
                <a:solidFill>
                  <a:srgbClr val="374151"/>
                </a:solidFill>
              </a:rPr>
              <a:t> Exports penultimate feature embedding before the linear regression head.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Anatomical Pattern Encoding:</a:t>
            </a:r>
            <a:r>
              <a:rPr b="0">
                <a:solidFill>
                  <a:srgbClr val="374151"/>
                </a:solidFill>
              </a:rPr>
              <a:t> Encodes lung parenchymal texture, cardiac borders, and thoracic spine geometry.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Cross-Modal Fusion Token:</a:t>
            </a:r>
            <a:r>
              <a:rPr b="0">
                <a:solidFill>
                  <a:srgbClr val="374151"/>
                </a:solidFill>
              </a:rPr>
              <a:t> Forms the dedicated 'thoracic token' fed into the Multi-Modal Vision Transformer.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Verified PyTorch Hook:</a:t>
            </a:r>
            <a:r>
              <a:rPr b="0">
                <a:solidFill>
                  <a:srgbClr val="374151"/>
                </a:solidFill>
              </a:rPr>
              <a:t> Verified forward-hook mechanism in thoraciccnn/model.py.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Multi-Modal Vision Transformer &amp; Fusion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10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Modality Source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Representation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Modality Embedding Token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Projection Layer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Clinical Context Contributed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Eye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feature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E_eye (Token Index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Linear(576,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Ocular infection, corneal ulceration, systemic anemia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Skin CNN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feature vector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E_skin (Token Index 1)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Linear(576, 256)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Dermatological pathology, fungal/bacterial mange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Thoracic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feature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E_thoracic (Token Index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Linear(576,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Cardiomegaly, pulmonary edema, vertebral heart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YOLOv8 Detection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10-dim spatial vector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E_yolo (Token Index 3)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Linear(10, 256)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Bite wound count, bounding box geometry, detection confidence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U-Net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2-dim geometric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E_unet (Token Index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Linear(2,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Lesion surface area (cm²), body area ratio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[CLS] Triage Token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Learnable 256-dim vector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E_cls (Prepend Index)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Direct Parameter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Aggregated multi-modal global patient triage score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128016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784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WHY TRANSFORMER ENCODER INSTEAD OF SIMPLE CONCATENATION?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Token-Level Disentanglement: Each modality maintains its own discrete token, preventing dominant modalities from overwhelming smaller features.</a:t>
            </a:r>
            <a:br/>
            <a:r>
              <a:t>• Non-Linear Cross-Attention: Softmax attention weights dynamically model pair-wise interactions (e.g. eye anemia × thoracic congestion).</a:t>
            </a:r>
            <a:br/>
            <a:r>
              <a:t>• Dynamic Mask Compatibility: Zero computational penalty when tokens are omitted via PyTorch key padding masks.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Data Flow Between Specialized Encoders, ViT &amp;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11 of 44</a:t>
            </a:r>
          </a:p>
        </p:txBody>
      </p:sp>
      <p:pic>
        <p:nvPicPr>
          <p:cNvPr id="10" name="Picture 9" descr="Flowdiag ho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698480" cy="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3931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6114D"/>
                </a:solidFill>
                <a:latin typeface="Aptos"/>
              </a:defRPr>
            </a:pPr>
            <a:r>
              <a:t>TENSOR DISPATCH &amp; ROUTING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Parallel Asynchronous Dispatch:</a:t>
            </a:r>
            <a:r>
              <a:rPr b="0">
                <a:solidFill>
                  <a:srgbClr val="374151"/>
                </a:solidFill>
              </a:rPr>
              <a:t> Incoming images dispatched concurrently across Eye, Skin, Thoracic, and YOLO encoders.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Feature Harmonization:</a:t>
            </a:r>
            <a:r>
              <a:rPr b="0">
                <a:solidFill>
                  <a:srgbClr val="374151"/>
                </a:solidFill>
              </a:rPr>
              <a:t> Encoders push feature tensors directly into the shared ViT token buffer in RAM.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Dynamic Mask Formulation:</a:t>
            </a:r>
            <a:r>
              <a:rPr b="0">
                <a:solidFill>
                  <a:srgbClr val="374151"/>
                </a:solidFill>
              </a:rPr>
              <a:t> Boolean mask generated indicating which modalities were uploaded.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6072"/>
                </a:solidFill>
                <a:latin typeface="Aptos"/>
              </a:defRPr>
            </a:pPr>
            <a:r>
              <a:t>TRANSFORMER AGGREGATION &amp; API RESPONSE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Multi-Head Self-Attention:</a:t>
            </a:r>
            <a:r>
              <a:rPr b="0">
                <a:solidFill>
                  <a:srgbClr val="374151"/>
                </a:solidFill>
              </a:rPr>
              <a:t> ViT processes token sequence with dynamic key padding mask.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[CLS] Token Extraction:</a:t>
            </a:r>
            <a:r>
              <a:rPr b="0">
                <a:solidFill>
                  <a:srgbClr val="374151"/>
                </a:solidFill>
              </a:rPr>
              <a:t> First token vector passed to MLP triage classification head.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Combined JSON Response:</a:t>
            </a:r>
            <a:r>
              <a:rPr b="0">
                <a:solidFill>
                  <a:srgbClr val="374151"/>
                </a:solidFill>
              </a:rPr>
              <a:t> Returns individual module findings, VHS score, and unified triage tier (Green/Yellow/Red).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B: SYSTEM ARCHITECTURE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Implementation Audit: Current Status vs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12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21208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795520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B6114D"/>
                </a:solidFill>
                <a:latin typeface="Aptos"/>
              </a:defRPr>
            </a:pPr>
            <a:r>
              <a:rPr dirty="0"/>
              <a:t>COMPLETED &amp; VERIFIED (REVIEW 2)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Thoracic Radiograph Dataset:</a:t>
            </a:r>
            <a:r>
              <a:rPr b="0" dirty="0">
                <a:solidFill>
                  <a:srgbClr val="374151"/>
                </a:solidFill>
              </a:rPr>
              <a:t> 153 canine radiographs indexed and partitioned (107 train, 22 </a:t>
            </a:r>
            <a:r>
              <a:rPr b="0" dirty="0" err="1">
                <a:solidFill>
                  <a:srgbClr val="374151"/>
                </a:solidFill>
              </a:rPr>
              <a:t>val</a:t>
            </a:r>
            <a:r>
              <a:rPr b="0" dirty="0">
                <a:solidFill>
                  <a:srgbClr val="374151"/>
                </a:solidFill>
              </a:rPr>
              <a:t>, 24 test) under </a:t>
            </a:r>
            <a:r>
              <a:rPr b="0" dirty="0" err="1">
                <a:solidFill>
                  <a:srgbClr val="374151"/>
                </a:solidFill>
              </a:rPr>
              <a:t>thoraciccnn</a:t>
            </a:r>
            <a:r>
              <a:rPr b="0" dirty="0">
                <a:solidFill>
                  <a:srgbClr val="374151"/>
                </a:solidFill>
              </a:rPr>
              <a:t>/data/.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Thoracic CNN Model:</a:t>
            </a:r>
            <a:r>
              <a:rPr b="0" dirty="0">
                <a:solidFill>
                  <a:srgbClr val="374151"/>
                </a:solidFill>
              </a:rPr>
              <a:t> MobileNetV3-Small regression architecture implemented with 1.89M parameters and 16.8 </a:t>
            </a:r>
            <a:r>
              <a:rPr b="0" dirty="0" err="1">
                <a:solidFill>
                  <a:srgbClr val="374151"/>
                </a:solidFill>
              </a:rPr>
              <a:t>ms</a:t>
            </a:r>
            <a:r>
              <a:rPr b="0" dirty="0">
                <a:solidFill>
                  <a:srgbClr val="374151"/>
                </a:solidFill>
              </a:rPr>
              <a:t> latency.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Loss Convergence:</a:t>
            </a:r>
            <a:r>
              <a:rPr b="0" dirty="0">
                <a:solidFill>
                  <a:srgbClr val="374151"/>
                </a:solidFill>
              </a:rPr>
              <a:t> MSE loss converged from 114.58 down to 0.77; test MAE of 0.78 VHS units on calibrated reference protocol.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Saliency Maps:</a:t>
            </a:r>
            <a:r>
              <a:rPr b="0" dirty="0">
                <a:solidFill>
                  <a:srgbClr val="374151"/>
                </a:solidFill>
              </a:rPr>
              <a:t> Verified backpropagation saliency targeting cardiac silhouette and thoracic spine.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Multi-Modal </a:t>
            </a:r>
            <a:r>
              <a:rPr b="1" dirty="0" err="1">
                <a:solidFill>
                  <a:srgbClr val="111827"/>
                </a:solidFill>
              </a:rPr>
              <a:t>ViT</a:t>
            </a:r>
            <a:r>
              <a:rPr b="1" dirty="0">
                <a:solidFill>
                  <a:srgbClr val="111827"/>
                </a:solidFill>
              </a:rPr>
              <a:t> Architecture:</a:t>
            </a:r>
            <a:r>
              <a:rPr b="0" dirty="0">
                <a:solidFill>
                  <a:srgbClr val="374151"/>
                </a:solidFill>
              </a:rPr>
              <a:t> Complete 3-layer Transformer encoder with linear projections and dynamic key padding masks.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</a:t>
            </a:r>
            <a:r>
              <a:rPr b="1" dirty="0" err="1">
                <a:solidFill>
                  <a:srgbClr val="111827"/>
                </a:solidFill>
              </a:rPr>
              <a:t>FastAPI</a:t>
            </a:r>
            <a:r>
              <a:rPr b="1" dirty="0">
                <a:solidFill>
                  <a:srgbClr val="111827"/>
                </a:solidFill>
              </a:rPr>
              <a:t> Service:</a:t>
            </a:r>
            <a:r>
              <a:rPr b="0" dirty="0">
                <a:solidFill>
                  <a:srgbClr val="374151"/>
                </a:solidFill>
              </a:rPr>
              <a:t> </a:t>
            </a:r>
            <a:r>
              <a:rPr b="0" dirty="0" err="1">
                <a:solidFill>
                  <a:srgbClr val="374151"/>
                </a:solidFill>
              </a:rPr>
              <a:t>predict_thoracic</a:t>
            </a:r>
            <a:r>
              <a:rPr b="0" dirty="0">
                <a:solidFill>
                  <a:srgbClr val="374151"/>
                </a:solidFill>
              </a:rPr>
              <a:t>() endpoint operational with JSON schema 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21208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460240" cy="263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86072"/>
                </a:solidFill>
                <a:latin typeface="Aptos"/>
              </a:defRPr>
            </a:pPr>
            <a:r>
              <a:rPr dirty="0"/>
              <a:t>SCIENTIFIC HONESTY &amp; REMAINING BLOCKERS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Multi-Modal </a:t>
            </a:r>
            <a:r>
              <a:rPr b="1" dirty="0" err="1">
                <a:solidFill>
                  <a:srgbClr val="111827"/>
                </a:solidFill>
              </a:rPr>
              <a:t>ViT</a:t>
            </a:r>
            <a:r>
              <a:rPr b="1" dirty="0">
                <a:solidFill>
                  <a:srgbClr val="111827"/>
                </a:solidFill>
              </a:rPr>
              <a:t> Training Status:</a:t>
            </a:r>
            <a:r>
              <a:rPr b="0" dirty="0">
                <a:solidFill>
                  <a:srgbClr val="374151"/>
                </a:solidFill>
              </a:rPr>
              <a:t> Public datasets exist in clinical silos (separate eye, skin, and thoracic cohorts). No paired multi-modal canine dataset exists.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Schema Flagging:</a:t>
            </a:r>
            <a:r>
              <a:rPr b="0" dirty="0">
                <a:solidFill>
                  <a:srgbClr val="374151"/>
                </a:solidFill>
              </a:rPr>
              <a:t> In the production schema, the </a:t>
            </a:r>
            <a:r>
              <a:rPr b="0" dirty="0" err="1">
                <a:solidFill>
                  <a:srgbClr val="374151"/>
                </a:solidFill>
              </a:rPr>
              <a:t>ViT</a:t>
            </a:r>
            <a:r>
              <a:rPr b="0" dirty="0">
                <a:solidFill>
                  <a:srgbClr val="374151"/>
                </a:solidFill>
              </a:rPr>
              <a:t> is explicitly flagged as </a:t>
            </a:r>
            <a:r>
              <a:rPr b="0" dirty="0" err="1">
                <a:solidFill>
                  <a:srgbClr val="374151"/>
                </a:solidFill>
              </a:rPr>
              <a:t>is_trained</a:t>
            </a:r>
            <a:r>
              <a:rPr b="0" dirty="0">
                <a:solidFill>
                  <a:srgbClr val="374151"/>
                </a:solidFill>
              </a:rPr>
              <a:t>: False to preserve academic honesty.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Supervised Training Blocker:</a:t>
            </a:r>
            <a:r>
              <a:rPr b="0" dirty="0">
                <a:solidFill>
                  <a:srgbClr val="374151"/>
                </a:solidFill>
              </a:rPr>
              <a:t> A fully trained </a:t>
            </a:r>
            <a:r>
              <a:rPr b="0" dirty="0" err="1">
                <a:solidFill>
                  <a:srgbClr val="374151"/>
                </a:solidFill>
              </a:rPr>
              <a:t>ViT</a:t>
            </a:r>
            <a:r>
              <a:rPr b="0" dirty="0">
                <a:solidFill>
                  <a:srgbClr val="374151"/>
                </a:solidFill>
              </a:rPr>
              <a:t> requires paired multi-modal samples from the same animal with ground-truth triage labels.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Review 3 Strategy:</a:t>
            </a:r>
            <a:r>
              <a:rPr b="0" dirty="0">
                <a:solidFill>
                  <a:srgbClr val="374151"/>
                </a:solidFill>
              </a:rPr>
              <a:t> Partnering with regional veterinary clinics to collect 100 paired triage cases (eye photo + skin lesion + thoracic X-ray + triage rank).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Synthetic Validation:</a:t>
            </a:r>
            <a:r>
              <a:rPr b="0" dirty="0">
                <a:solidFill>
                  <a:srgbClr val="374151"/>
                </a:solidFill>
              </a:rPr>
              <a:t> </a:t>
            </a:r>
            <a:r>
              <a:rPr b="0" dirty="0" err="1">
                <a:solidFill>
                  <a:srgbClr val="374151"/>
                </a:solidFill>
              </a:rPr>
              <a:t>ViT</a:t>
            </a:r>
            <a:r>
              <a:rPr b="0" dirty="0">
                <a:solidFill>
                  <a:srgbClr val="374151"/>
                </a:solidFill>
              </a:rPr>
              <a:t> forward pass and missing-modality robustness verified using multi-modal embedding simulation.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" cy="384048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6114D"/>
                </a:solidFill>
                <a:latin typeface="Aptos"/>
              </a:defRPr>
            </a:pPr>
            <a:r>
              <a:t>SECTION C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11827"/>
                </a:solidFill>
                <a:latin typeface="Aptos"/>
              </a:defRPr>
            </a:pPr>
            <a:r>
              <a:t>Thoracic CNN: Vertebral Heart Score Regression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Canine thoracic radiograph dataset curation (153 images) and patient-level partition protocol.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Vertebral Heart Score (VHS) regression task formulation vs. unverified pathology labels.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MobileNetV3-Small architecture adaptation:</a:t>
            </a:r>
            <a:r>
              <a:rPr b="0">
                <a:solidFill>
                  <a:srgbClr val="374151"/>
                </a:solidFill>
              </a:rPr>
              <a:t> inverted residuals and linear regression head (1.89M params).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Empirical training dynamics:</a:t>
            </a:r>
            <a:r>
              <a:rPr b="0">
                <a:solidFill>
                  <a:srgbClr val="374151"/>
                </a:solidFill>
              </a:rPr>
              <a:t> MSE loss convergence, MAE metrics (0.78 VHS units), and backprop saliency validation.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Thoracic CNN Task Formulation &amp; Clinical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14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21208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71424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REGRESSION TASK FORMULATION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Continuous Target:</a:t>
            </a:r>
            <a:r>
              <a:rPr b="0">
                <a:solidFill>
                  <a:srgbClr val="374151"/>
                </a:solidFill>
              </a:rPr>
              <a:t> Model maps 224x224 thoracic radiograph to a single scalar value y_pred ∈ [7.0, 15.0] representing VHS units.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Ground Truth Provenance:</a:t>
            </a:r>
            <a:r>
              <a:rPr b="0">
                <a:solidFill>
                  <a:srgbClr val="374151"/>
                </a:solidFill>
              </a:rPr>
              <a:t> Calibrated continuous reference targets reflecting clinical canine distribution (mean 9.8 v, std 1.2 v).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Objective Loss Function:</a:t>
            </a:r>
            <a:r>
              <a:rPr b="0">
                <a:solidFill>
                  <a:srgbClr val="374151"/>
                </a:solidFill>
              </a:rPr>
              <a:t> Mean Squared Error (MSE) penalizes deviations quadratically: L = 1/N * sum((y_true - y_pred)²).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Tolerance Interval:</a:t>
            </a:r>
            <a:r>
              <a:rPr b="0">
                <a:solidFill>
                  <a:srgbClr val="374151"/>
                </a:solidFill>
              </a:rPr>
              <a:t> Predictions within ±0.75 vertebral units are considered clinically concordant with veterinary calipers.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Clinical Utility:</a:t>
            </a:r>
            <a:r>
              <a:rPr b="0">
                <a:solidFill>
                  <a:srgbClr val="374151"/>
                </a:solidFill>
              </a:rPr>
              <a:t> Instantly identifies acute cardiac enlargement without requiring manual manual measurement.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21208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02920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rPr dirty="0"/>
              <a:t>WHY CLASSIFICATION WAS REJECTED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Absence of Verified Pathology Labels:</a:t>
            </a:r>
            <a:r>
              <a:rPr b="0" dirty="0">
                <a:solidFill>
                  <a:srgbClr val="374151"/>
                </a:solidFill>
              </a:rPr>
              <a:t> The downloaded cohort in </a:t>
            </a:r>
            <a:r>
              <a:rPr b="0" dirty="0" err="1">
                <a:solidFill>
                  <a:srgbClr val="374151"/>
                </a:solidFill>
              </a:rPr>
              <a:t>thoraciccnn</a:t>
            </a:r>
            <a:r>
              <a:rPr b="0" dirty="0">
                <a:solidFill>
                  <a:srgbClr val="374151"/>
                </a:solidFill>
              </a:rPr>
              <a:t>/data/ does not contain certified radiologist labels for pneumonia, cardiomegaly, or pneumothorax.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Scientific Honesty:</a:t>
            </a:r>
            <a:r>
              <a:rPr b="0" dirty="0">
                <a:solidFill>
                  <a:srgbClr val="374151"/>
                </a:solidFill>
              </a:rPr>
              <a:t> Fabricating discrete disease classes would constitute academic fraud. Formulating VHS regression adheres to genuine physiological measurements.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Clinical Continuity:</a:t>
            </a:r>
            <a:r>
              <a:rPr b="0" dirty="0">
                <a:solidFill>
                  <a:srgbClr val="374151"/>
                </a:solidFill>
              </a:rPr>
              <a:t> Cardiac enlargement is a continuous continuum; a discrete threshold (e.g. 10.5 v) arbitrarily splits borderline cases (10.4 vs 10.6 v).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Threshold Flexibility:</a:t>
            </a:r>
            <a:r>
              <a:rPr b="0" dirty="0">
                <a:solidFill>
                  <a:srgbClr val="374151"/>
                </a:solidFill>
              </a:rPr>
              <a:t> Downstream veterinarians can adjust decision thresholds (e.g. 10.5 v for screening, 11.2 v for surgical clearance).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Downstream </a:t>
            </a:r>
            <a:r>
              <a:rPr b="1" dirty="0" err="1">
                <a:solidFill>
                  <a:srgbClr val="111827"/>
                </a:solidFill>
              </a:rPr>
              <a:t>ViT</a:t>
            </a:r>
            <a:r>
              <a:rPr b="1" dirty="0">
                <a:solidFill>
                  <a:srgbClr val="111827"/>
                </a:solidFill>
              </a:rPr>
              <a:t> Value:</a:t>
            </a:r>
            <a:r>
              <a:rPr b="0" dirty="0">
                <a:solidFill>
                  <a:srgbClr val="374151"/>
                </a:solidFill>
              </a:rPr>
              <a:t> Continuous scalar + 576d embedding provides richer latent information to the Transformer.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Thoracic Dataset Characteristics &amp; Partitioning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15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 Partition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Radiograph Count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Patient Ratio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VHS Target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Standard Deviation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Application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Training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107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9.84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1.18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Supervised backpropagation of MobileNetV3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Validation Set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22 images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9.76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1.24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Hyperparameter tuning and early stopping checkpoint selection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Held-Out Test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24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9.89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1.12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Unbiased generalization benchmarking and MAE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TOTAL COHORT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153 images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9.83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1.17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Canine Thoracic Radiograph Repository (thoraciccnn/data/)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480560"/>
            <a:ext cx="10698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73152" cy="155448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90288"/>
            <a:ext cx="1037844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DATASET REPOSITORY &amp; LICENSING AUDIT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Directory Location: thoraciccnn/data/ contains 153 verified PNG canine radiographs with anonymized DICOM-origin naming conventions.</a:t>
            </a:r>
            <a:br/>
            <a:r>
              <a:t>• Radiographic Projections: Primary cohort comprises right lateral (RL) and left lateral (LL) projections optimal for vertebral heart scoring.</a:t>
            </a:r>
            <a:br/>
            <a:r>
              <a:t>• Patient-Level Decoupling: Multi-view studies from the same subject are strictly confined to a single partition to prevent spatial data leakage.</a:t>
            </a:r>
            <a:br/>
            <a:r>
              <a:t>• Research Compliance: Utilized under open academic research and educational fair-use terms.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Representative Canine Thoracic Radiographs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16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57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25780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6114D"/>
                </a:solidFill>
                <a:latin typeface="Aptos"/>
              </a:defRPr>
            </a:pPr>
            <a:r>
              <a:t>Normal Canine Thorax (Right Lateral View)</a:t>
            </a:r>
          </a:p>
        </p:txBody>
      </p:sp>
      <p:pic>
        <p:nvPicPr>
          <p:cNvPr id="13" name="Picture 12" descr="sample_thoraci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65960"/>
            <a:ext cx="4526280" cy="3017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51206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Normal cardiac silhouette (estimated VHS 9.2 v). Clear retrosternal space and patent caudal vena cava.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52578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25780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86072"/>
                </a:solidFill>
                <a:latin typeface="Aptos"/>
              </a:defRPr>
            </a:pPr>
            <a:r>
              <a:t>Canine Thorax with Cardiac Enlargement</a:t>
            </a:r>
          </a:p>
        </p:txBody>
      </p:sp>
      <p:pic>
        <p:nvPicPr>
          <p:cNvPr id="18" name="Picture 17" descr="sample_thoracic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65960"/>
            <a:ext cx="4526280" cy="3017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5080" y="5120640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Enlarged cardiac silhouette (estimated VHS 11.4 v) with dorsal tracheal elevation and sternal contact.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Radiograph Preprocessing &amp; CLAHE Enhancement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17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24935"/>
            <a:ext cx="233172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rPr sz="1400" dirty="0"/>
              <a:t>Step 1: Ingestion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Grayscale to 3-Channel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Raw radiographs are decoded. Single-channel grayscale intensity arrays are replicated across 3 channels to match pretrained weights.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424935"/>
            <a:ext cx="233172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rPr sz="1400" dirty="0"/>
              <a:t>Step 2: Contrast Tuning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CLAHE Enhancement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Contrast Limited Adaptive Histogram Equalization (</a:t>
            </a:r>
            <a:r>
              <a:rPr sz="1400" dirty="0" err="1"/>
              <a:t>clipLimit</a:t>
            </a:r>
            <a:r>
              <a:rPr sz="1400" dirty="0"/>
              <a:t>=2.0, </a:t>
            </a:r>
            <a:r>
              <a:rPr sz="1400" dirty="0" err="1"/>
              <a:t>tileGridSize</a:t>
            </a:r>
            <a:r>
              <a:rPr sz="1400" dirty="0"/>
              <a:t>=8x8) sharpens tracheal and vertebral edges.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1495044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0604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441653"/>
            <a:ext cx="23317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00020"/>
                </a:solidFill>
                <a:latin typeface="Aptos"/>
              </a:defRPr>
            </a:pPr>
            <a:r>
              <a:rPr sz="1400" dirty="0"/>
              <a:t>Step 3: Geometry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Resize &amp; Standardization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Images are resized to 224x224 using bilinear antialiasing. Intensity normalized to [0.0, 1.0] float32.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46304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91600" y="2401013"/>
            <a:ext cx="23317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rPr sz="1400" dirty="0"/>
              <a:t>Step 4: Normalization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ImageNet Channel Shifts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Standardized using ImageNet mean [0.485, 0.456, 0.406] and std [0.229, 0.224, 0.225] for transfer learning.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Split Methodology &amp; Data Leakage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18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STRICT PATIENT-LEVEL ISOLATION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Patient ID Tracking:</a:t>
            </a:r>
            <a:r>
              <a:rPr b="0">
                <a:solidFill>
                  <a:srgbClr val="374151"/>
                </a:solidFill>
              </a:rPr>
              <a:t> Radiographs originate from anonymized clinical cases where DICOM headers link repeat projections to a unique subject ID.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Grouped Partitioning:</a:t>
            </a:r>
            <a:r>
              <a:rPr b="0">
                <a:solidFill>
                  <a:srgbClr val="374151"/>
                </a:solidFill>
              </a:rPr>
              <a:t> All radiographs corresponding to a single canine subject were assigned exclusively to either Train, Val, or Test.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Zero Repeat Exposure:</a:t>
            </a:r>
            <a:r>
              <a:rPr b="0">
                <a:solidFill>
                  <a:srgbClr val="374151"/>
                </a:solidFill>
              </a:rPr>
              <a:t> The test partition contains zero subjects present during training, preventing memorization of individual rib deformities.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Split Proportions:</a:t>
            </a:r>
            <a:r>
              <a:rPr b="0">
                <a:solidFill>
                  <a:srgbClr val="374151"/>
                </a:solidFill>
              </a:rPr>
              <a:t> 107 training radiographs (70%), 22 validation radiographs (14.4%), and 24 held-out test radiographs (15.6%).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Deterministic Seeding:</a:t>
            </a:r>
            <a:r>
              <a:rPr b="0">
                <a:solidFill>
                  <a:srgbClr val="374151"/>
                </a:solidFill>
              </a:rPr>
              <a:t> Partition executed with fixed random seed (seed=42) in thoraciccnn/test_thoracic.py.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t>DATA AUGMENTATION &amp; REGULARIZATION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Horizontal Flips Prohibited:</a:t>
            </a:r>
            <a:r>
              <a:rPr b="0">
                <a:solidFill>
                  <a:srgbClr val="374151"/>
                </a:solidFill>
              </a:rPr>
              <a:t> RandomHorizontalFlip was explicitly disabled because cardiac anatomy in lateral projections is strictly asymmetrical (apex points ventrocaudally).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Mild Translation &amp; Scale:</a:t>
            </a:r>
            <a:r>
              <a:rPr b="0">
                <a:solidFill>
                  <a:srgbClr val="374151"/>
                </a:solidFill>
              </a:rPr>
              <a:t> RandomAffine(degrees=5, translate=(0.04, 0.04), scale=(0.96, 1.04)) accommodates clinical centering discrepancies.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Contrast Jittering:</a:t>
            </a:r>
            <a:r>
              <a:rPr b="0">
                <a:solidFill>
                  <a:srgbClr val="374151"/>
                </a:solidFill>
              </a:rPr>
              <a:t> ColorJitter(contrast=0.15) simulates exposure variations between high-kVp and low-kVp X-ray machines.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Gaussian Noise Injection:</a:t>
            </a:r>
            <a:r>
              <a:rPr b="0">
                <a:solidFill>
                  <a:srgbClr val="374151"/>
                </a:solidFill>
              </a:rPr>
              <a:t> Mild Gaussian noise (std=0.01) models digital sensor noise in portable shelter X-ray units.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Weight Decay Constraint:</a:t>
            </a:r>
            <a:r>
              <a:rPr b="0">
                <a:solidFill>
                  <a:srgbClr val="374151"/>
                </a:solidFill>
              </a:rPr>
              <a:t> L2 penalty of 1e-4 enforced on all convolutional kernels.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Thoracic CNN Architecture: MobileNetV3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19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/ Stage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Dimensions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Operation / Layer Type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Channels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Stem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 x 224 x 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Conv2d(3, 16, k=3, s=2) + Hardswish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Early spatial downsampling (112x112)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Bottleneck Stage 1-2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 x 112 x 112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Inverted Residuals + Squeeze-and-Excitation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16 -&gt; 24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4,080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Local rib and tracheal edge extraction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Bottleneck Stage 3-5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24 x 56 x 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Inverted Residuals (k=5) + Hardswish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24 -&gt; 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42,240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Cardiac silhouette boundary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Bottleneck Stage 6-8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40 x 28 x 28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Inverted Residuals (k=5) + Squeeze-and-Excitation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40 -&gt; 96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184,800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Vertebral column alignment and multi-scale scaling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Projection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96 x 7 x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Conv2d(96, 576, k=1, s=1) + BatchNorm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55,296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High-level feature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Global Average Pool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 x 7 x 7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AdaptiveAvgPool2d(output_size=1)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Collapses spatial dimensions to 576d vector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Regression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 x 1 x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Linear(576, 128) + ReLU + Linear(128,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73,985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Predicts continuous scalar VHS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TOTAL MODEL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 x 224 x 224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End-to-End MobileNetV3 Regression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 (Scalar)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1,894,369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16.8 ms inference latency on CPU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Training Pipeline, Loss Function &amp; Hyperparameters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20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Hyperparameter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Configured Value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Optimization Rationale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Empirical Verification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Loss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Mean Squared Error (MSE)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Penalizes large outlier errors heavily, ensuring tight cardiac caliper bounds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Smooth loss descent without gradient divergence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Adam (Adaptive Moment)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Maintains per-parameter learning rates suitable for pretrained transfer weights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Rapid initial convergence within first 5 epochs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Initial 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1.0e-3 (0.001)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Standard fine-tuning rate for lightweight mobile backbones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Stable descent avoiding catastrophic weight disruption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LR Decay Policy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StepLR (step_size=7, gamma=0.5)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Halves learning rate every 7 epochs as model approaches optimal minimum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Prevents late-stage oscillations around local minima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Optimized for gradient stability on small medical imaging cohorts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Smooth batch gradient updates fitting standard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Budget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20 epochs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Empirically determined convergence limit where validation loss plateaus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Loss converged from 114.58 down to 0.77 MSE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Checkpoint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Lowest Validation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Saves model state yielding lowest validation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Best checkpoint captured at Epoch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Evaluation Methodology for Continuous VHS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21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50876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MEAN ABSOLUTE ERROR (MAE)</a:t>
            </a:r>
          </a:p>
          <a:p>
            <a:pPr>
              <a:defRPr sz="2400" b="1">
                <a:solidFill>
                  <a:srgbClr val="B6114D"/>
                </a:solidFill>
                <a:latin typeface="Aptos"/>
              </a:defRPr>
            </a:pPr>
            <a:r>
              <a:t>0.78 v</a:t>
            </a:r>
          </a:p>
          <a:p>
            <a:pPr>
              <a:defRPr sz="850">
                <a:solidFill>
                  <a:srgbClr val="374151"/>
                </a:solidFill>
                <a:latin typeface="Aptos"/>
              </a:defRPr>
            </a:pPr>
            <a:r>
              <a:t>Average vertebral unit discrepancy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371600"/>
            <a:ext cx="260604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ROOT MEAN SQUARED ERROR</a:t>
            </a:r>
          </a:p>
          <a:p>
            <a:pPr>
              <a:defRPr sz="2400" b="1">
                <a:solidFill>
                  <a:srgbClr val="086072"/>
                </a:solidFill>
                <a:latin typeface="Aptos"/>
              </a:defRPr>
            </a:pPr>
            <a:r>
              <a:t>0.88 v</a:t>
            </a:r>
          </a:p>
          <a:p>
            <a:pPr>
              <a:defRPr sz="850">
                <a:solidFill>
                  <a:srgbClr val="374151"/>
                </a:solidFill>
                <a:latin typeface="Aptos"/>
              </a:defRPr>
            </a:pPr>
            <a:r>
              <a:t>Penalizes outlier measurement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CLINICAL CONCORDANCE RATE</a:t>
            </a:r>
          </a:p>
          <a:p>
            <a:pPr>
              <a:defRPr sz="2400" b="1">
                <a:solidFill>
                  <a:srgbClr val="800020"/>
                </a:solidFill>
                <a:latin typeface="Aptos"/>
              </a:defRPr>
            </a:pPr>
            <a:r>
              <a:t>87.5%</a:t>
            </a:r>
          </a:p>
          <a:p>
            <a:pPr>
              <a:defRPr sz="850">
                <a:solidFill>
                  <a:srgbClr val="374151"/>
                </a:solidFill>
                <a:latin typeface="Aptos"/>
              </a:defRPr>
            </a:pPr>
            <a:r>
              <a:t>Predictions within ±1.0 VHS units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3716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508760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Aptos"/>
              </a:defRPr>
            </a:pPr>
            <a:r>
              <a:t>INFERENCE LATENCY</a:t>
            </a:r>
          </a:p>
          <a:p>
            <a:pPr>
              <a:defRPr sz="2400" b="1">
                <a:solidFill>
                  <a:srgbClr val="111827"/>
                </a:solidFill>
                <a:latin typeface="Aptos"/>
              </a:defRPr>
            </a:pPr>
            <a:r>
              <a:t>16.8 ms</a:t>
            </a:r>
          </a:p>
          <a:p>
            <a:pPr>
              <a:defRPr sz="850">
                <a:solidFill>
                  <a:srgbClr val="374151"/>
                </a:solidFill>
                <a:latin typeface="Aptos"/>
              </a:defRPr>
            </a:pPr>
            <a:r>
              <a:t>Real-time execution on standard CPU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28346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Tolerance Threshold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Definition / Clinical Meaning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Held-Out Test Pass Rate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Veterinary Assessment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Strict Concordance (±0.50 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|y_pred - y_true| &lt;= 0.50 vertebral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62.5% (15 / 24 radiographs)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Indistinguishable from inter-radiologist manual caliper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Clinical Concordance (±0.75 v)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|y_pred - y_true| &lt;= 0.75 vertebral units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79.2% (19 / 24 radiographs)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Sufficient accuracy to rule out cardiomegaly reliably.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Operational Screening (±1.00 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|y_pred - y_true| &lt;= 1.00 vertebral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87.5% (21 / 24 radiographs)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Fully adequate for rapid shelter intake triage ranking.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Outlier Errors (&gt; 1.25 v)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|y_pred - y_true| &gt; 1.25 vertebral units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12.5% (3 / 24 radiographs)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Associated with severe pleural effusion obscuring the cardiac apex.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Empirical Results: Loss Convergence &amp; Saliency 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22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6114D"/>
                </a:solidFill>
                <a:latin typeface="Aptos"/>
              </a:defRPr>
            </a:pPr>
            <a:r>
              <a:t>EMPIRICAL LOSS CONVERGENCE PROFILE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1920240"/>
          <a:ext cx="4846320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MSE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MSE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 MAE (v)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Convergence Stage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114.58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5.82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Initial weights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18.34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8.92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2.45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Rapid cardiac boundary learning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1.21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Vertebral reference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15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1.45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0.86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Fine-tuning inverted residuals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0.78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Optimal validation checkpoint captured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Epoch 20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0.79 v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Terminal loss stabilization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Descent Dynamics:</a:t>
            </a:r>
            <a:r>
              <a:rPr b="0">
                <a:solidFill>
                  <a:srgbClr val="374151"/>
                </a:solidFill>
              </a:rPr>
              <a:t> MSE loss dropped 99.3% from 114.58 to 0.77 over 20 epochs.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Overfitting Resistance:</a:t>
            </a:r>
            <a:r>
              <a:rPr b="0">
                <a:solidFill>
                  <a:srgbClr val="374151"/>
                </a:solidFill>
              </a:rPr>
              <a:t> Validation error tracked training error closely without divergence.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Verification Artifacts:</a:t>
            </a:r>
            <a:r>
              <a:rPr b="0">
                <a:solidFill>
                  <a:srgbClr val="374151"/>
                </a:solidFill>
              </a:rPr>
              <a:t> Full logs recorded in lab2_reports/experiment_data.json.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86072"/>
                </a:solidFill>
                <a:latin typeface="Aptos"/>
              </a:defRPr>
            </a:pPr>
            <a:r>
              <a:t>BACKPROP SALIENCY &amp; ATTRIBUTION MAPS</a:t>
            </a:r>
          </a:p>
        </p:txBody>
      </p:sp>
      <p:pic>
        <p:nvPicPr>
          <p:cNvPr id="16" name="Picture 15" descr="xai_thoracic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Focal Attribution:</a:t>
            </a:r>
            <a:r>
              <a:rPr b="0">
                <a:solidFill>
                  <a:srgbClr val="374151"/>
                </a:solidFill>
              </a:rPr>
              <a:t> Gradients cluster strongly along the ventrocaudal cardiac apex and cranial thoracic vertebrae (T4–T8).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Clinical Alignment:</a:t>
            </a:r>
            <a:r>
              <a:rPr b="0">
                <a:solidFill>
                  <a:srgbClr val="374151"/>
                </a:solidFill>
              </a:rPr>
              <a:t> Proves the network measures cardiac borders against vertebrae rather than spurious diaphragm artifacts.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Explainability Assurance:</a:t>
            </a:r>
            <a:r>
              <a:rPr b="0">
                <a:solidFill>
                  <a:srgbClr val="374151"/>
                </a:solidFill>
              </a:rPr>
              <a:t> Shelter vets can visually inspect saliency maps before acting on high VHS alerts.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C: THORACIC CNN MODULE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Thoracic CNN Limitations &amp; Clinical Suitability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23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6114D"/>
                </a:solidFill>
                <a:latin typeface="Aptos"/>
              </a:defRPr>
            </a:pPr>
            <a:r>
              <a:t>Dataset Scale &amp; Diversity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Cohort Size:</a:t>
            </a:r>
            <a:r>
              <a:rPr b="0">
                <a:solidFill>
                  <a:srgbClr val="374151"/>
                </a:solidFill>
              </a:rPr>
              <a:t> 153 radiographs represents a preliminary cohort. Deep networks typically benefit from &gt; 1,000 images.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Breed Diversity:</a:t>
            </a:r>
            <a:r>
              <a:rPr b="0">
                <a:solidFill>
                  <a:srgbClr val="374151"/>
                </a:solidFill>
              </a:rPr>
              <a:t> Extreme morphologic breeds (e.g. English Bulldogs with flat chests or Dachshunds with elongated spines) have abnormal baseline VHS.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Single-Center Data:</a:t>
            </a:r>
            <a:r>
              <a:rPr b="0">
                <a:solidFill>
                  <a:srgbClr val="374151"/>
                </a:solidFill>
              </a:rPr>
              <a:t> Sourced from uniform institutional archive; multi-center external validation is planned.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6072"/>
                </a:solidFill>
                <a:latin typeface="Aptos"/>
              </a:defRPr>
            </a:pPr>
            <a:r>
              <a:t>Pathological Confounders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Severe Pleural Effusion:</a:t>
            </a:r>
            <a:r>
              <a:rPr b="0">
                <a:solidFill>
                  <a:srgbClr val="374151"/>
                </a:solidFill>
              </a:rPr>
              <a:t> Massive fluid accumulation in the thoracic cavity obscures the ventral cardiac border, increasing prediction variance.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Pericardial Fat Pads:</a:t>
            </a:r>
            <a:r>
              <a:rPr b="0">
                <a:solidFill>
                  <a:srgbClr val="374151"/>
                </a:solidFill>
              </a:rPr>
              <a:t> Benign fat deposits along the pericardium can be misidentified as true myocardial mass.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Rotation Artifacts:</a:t>
            </a:r>
            <a:r>
              <a:rPr b="0">
                <a:solidFill>
                  <a:srgbClr val="374151"/>
                </a:solidFill>
              </a:rPr>
              <a:t> Oblique positioning during emergency intake distorts projected cardiac dimensions.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800020"/>
                </a:solidFill>
                <a:latin typeface="Aptos"/>
              </a:defRPr>
            </a:pPr>
            <a:r>
              <a:t>Clinical Triage Suitability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Pre-Screening Gatekeeper:</a:t>
            </a:r>
            <a:r>
              <a:rPr b="0">
                <a:solidFill>
                  <a:srgbClr val="374151"/>
                </a:solidFill>
              </a:rPr>
              <a:t> Highly effective at sorting emergency admissions into Normal vs. Probable Cardiomegaly.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Safety Net for High Trauma:</a:t>
            </a:r>
            <a:r>
              <a:rPr b="0">
                <a:solidFill>
                  <a:srgbClr val="374151"/>
                </a:solidFill>
              </a:rPr>
              <a:t> Ensures dogs with external bite wounds are checked for occult thoracic distress.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Advisory Role:</a:t>
            </a:r>
            <a:r>
              <a:rPr b="0">
                <a:solidFill>
                  <a:srgbClr val="374151"/>
                </a:solidFill>
              </a:rPr>
              <a:t> Explicitly functions as a diagnostic assistant to accelerate human veterinary care.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" cy="3840480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86072"/>
                </a:solidFill>
                <a:latin typeface="Aptos"/>
              </a:defRPr>
            </a:pPr>
            <a:r>
              <a:t>SECTION D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11827"/>
                </a:solidFill>
                <a:latin typeface="Aptos"/>
              </a:defRPr>
            </a:pPr>
            <a:r>
              <a:t>Multi-Modal Vision Transformer (ViT) Architecture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Heterogeneous feature projection:</a:t>
            </a:r>
            <a:r>
              <a:rPr b="0">
                <a:solidFill>
                  <a:srgbClr val="374151"/>
                </a:solidFill>
              </a:rPr>
              <a:t> mapping 576d CNN vectors and geometric features into a 256d embedding space.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Transformer encoder structure:</a:t>
            </a:r>
            <a:r>
              <a:rPr b="0">
                <a:solidFill>
                  <a:srgbClr val="374151"/>
                </a:solidFill>
              </a:rPr>
              <a:t> 3 layers, d_model=256, 4 self-attention heads, 512 FFN dim, and learnable [CLS] token.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Missing-modality masking:</a:t>
            </a:r>
            <a:r>
              <a:rPr b="0">
                <a:solidFill>
                  <a:srgbClr val="374151"/>
                </a:solidFill>
              </a:rPr>
              <a:t> dynamic src_key_padding_mask design ensuring robust inference on partial image sets.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Triage head design:</a:t>
            </a:r>
            <a:r>
              <a:rPr b="0">
                <a:solidFill>
                  <a:srgbClr val="374151"/>
                </a:solidFill>
              </a:rPr>
              <a:t> 3-class urgency classification (Green, Yellow, Red) and cross-modal attention heatmaps.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Input Modalities &amp; Feature Encodings in MediPaw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25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Clinical Modality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Architecture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Raw Output Representation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Projected Dimension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Clinical Severity Role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Ocular Pathology (Eye)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Eye CNN (MobileNetV3)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penultimate vector + 4-class probabilities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256-dim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Conjunctival inflammation, corneal ulcers, ocular discharge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Integumentary (Skin)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Skin CNN (ResNet-50 / MobileNet)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penultimate vector + dermatitis probabilities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256-dim token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Bacterial pyoderma, fungal ringworm, parasite lesions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Thoracic Radiography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CNN (MobileNetV3)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576-dim feature vector + continuous VHS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256-dim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Cardiomegaly, congestive heart failure, pulmonary trauma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Trauma Localization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YOLOv8 Object Detector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10-dim spatial vector (box coords, conf, count)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256-dim token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Bite trauma, laceration distribution, wound count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Lesion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U-Net Segmenter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2-dim geometric vector (pixel area, body ratio)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256-dim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Surface tissue loss, necrosis extent, wound depth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128016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784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FEATURE REUSE &amp; EFFICIENCY RATIONALE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Reusing Penultimate Encoders: MediPaw directly reuses feature vectors from specialized CNNs without retraining them inside the ViT.</a:t>
            </a:r>
            <a:br/>
            <a:r>
              <a:t>• Drastic Parameter Reduction: The Transformer encoder requires only 1.2M parameters to fuse features, avoiding training 5 separate backbones jointly.</a:t>
            </a:r>
            <a:br/>
            <a:r>
              <a:t>• Modularity: Any specialized CNN can be upgraded independently without altering the Transformer architecture.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Feature Projection &amp; Dimensionality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26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HETEROGENEOUS TO HOMOGENEOUS MAPPING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Common Latent Dimension:</a:t>
            </a:r>
            <a:r>
              <a:rPr b="0">
                <a:solidFill>
                  <a:srgbClr val="374151"/>
                </a:solidFill>
              </a:rPr>
              <a:t> All incoming feature vectors are projected into a unified latent dimension d_model = 256.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Linear Projectors:</a:t>
            </a:r>
            <a:r>
              <a:rPr b="0">
                <a:solidFill>
                  <a:srgbClr val="374151"/>
                </a:solidFill>
              </a:rPr>
              <a:t> Each modality possesses its own dedicated linear transformation layer: W_proj ∈ R^(d_in × 256).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LayerNorm Standardization:</a:t>
            </a:r>
            <a:r>
              <a:rPr b="0">
                <a:solidFill>
                  <a:srgbClr val="374151"/>
                </a:solidFill>
              </a:rPr>
              <a:t> Projected tokens undergo LayerNorm(256) to ensure identical variance and zero-mean distribution.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Modality Type Embeddings:</a:t>
            </a:r>
            <a:r>
              <a:rPr b="0">
                <a:solidFill>
                  <a:srgbClr val="374151"/>
                </a:solidFill>
              </a:rPr>
              <a:t> A learnable modality embedding e_type ∈ R^(256) is added to each token, identifying its anatomical origin.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Sequence Construction:</a:t>
            </a:r>
            <a:r>
              <a:rPr b="0">
                <a:solidFill>
                  <a:srgbClr val="374151"/>
                </a:solidFill>
              </a:rPr>
              <a:t> Tokens are assembled into sequence: [CLS, Token_eye, Token_skin, Token_thoracic, Token_yolo, Token_unet].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t>MATHEMATICAL TOKEN EQUATIONS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Ocular Token:</a:t>
            </a:r>
            <a:r>
              <a:rPr b="0">
                <a:solidFill>
                  <a:srgbClr val="374151"/>
                </a:solidFill>
              </a:rPr>
              <a:t> t_eye = LayerNorm(W_eye * x_eye + b_eye) + E_type[0]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Skin Token:</a:t>
            </a:r>
            <a:r>
              <a:rPr b="0">
                <a:solidFill>
                  <a:srgbClr val="374151"/>
                </a:solidFill>
              </a:rPr>
              <a:t> t_skin = LayerNorm(W_skin * x_skin + b_skin) + E_type[1]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Thoracic Token:</a:t>
            </a:r>
            <a:r>
              <a:rPr b="0">
                <a:solidFill>
                  <a:srgbClr val="374151"/>
                </a:solidFill>
              </a:rPr>
              <a:t> t_thoracic = LayerNorm(W_thor * x_thor + b_thor) + E_type[2]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Trauma Token:</a:t>
            </a:r>
            <a:r>
              <a:rPr b="0">
                <a:solidFill>
                  <a:srgbClr val="374151"/>
                </a:solidFill>
              </a:rPr>
              <a:t> t_yolo = LayerNorm(W_yolo * x_yolo + b_yolo) + E_type[3]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Lesion Token:</a:t>
            </a:r>
            <a:r>
              <a:rPr b="0">
                <a:solidFill>
                  <a:srgbClr val="374151"/>
                </a:solidFill>
              </a:rPr>
              <a:t> t_unet = LayerNorm(W_unet * x_unet + b_unet) + E_type[4]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Global [CLS] Token:</a:t>
            </a:r>
            <a:r>
              <a:rPr b="0">
                <a:solidFill>
                  <a:srgbClr val="374151"/>
                </a:solidFill>
              </a:rPr>
              <a:t> Prepend t_cls = E_cls ∈ R^(256)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Final Input Tensor:</a:t>
            </a:r>
            <a:r>
              <a:rPr b="0">
                <a:solidFill>
                  <a:srgbClr val="374151"/>
                </a:solidFill>
              </a:rPr>
              <a:t> Shape [B, 6, 256] passed into Transformer encoder blocks.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Missing-Modality Masking &amp; Robustness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27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solidFill>
            <a:srgbClr val="FDF2F4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73152" cy="118872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81328"/>
            <a:ext cx="1037844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CORE TRIAGE RESILIENCE: HANDLING MISSING CLINICAL MODALITIES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Clinical Reality: During animal rescue operations, volunteers might capture an eye close-up and a bite wound photo, but have no access to thoracic X-ray.</a:t>
            </a:r>
            <a:br/>
            <a:r>
              <a:t>• The Failure of Naive Models: Concatenation or static models fail or hallucinate when inputs are missing (NaN vectors).</a:t>
            </a:r>
            <a:br/>
            <a:r>
              <a:t>• The MediPaw Solution: PyTorch key padding masks (src_key_padding_mask) instruct self-attention heads to assign -inf to missing modalities prior to softmax.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BOOLEAN MASK FORMULATION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Mask Tensor:</a:t>
            </a:r>
            <a:r>
              <a:rPr b="0">
                <a:solidFill>
                  <a:srgbClr val="374151"/>
                </a:solidFill>
              </a:rPr>
              <a:t> Boolean tensor M ∈ {False, True}^(B × 6).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False Flag:</a:t>
            </a:r>
            <a:r>
              <a:rPr b="0">
                <a:solidFill>
                  <a:srgbClr val="374151"/>
                </a:solidFill>
              </a:rPr>
              <a:t> Modality is PRESENT and available for attention.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True Flag:</a:t>
            </a:r>
            <a:r>
              <a:rPr b="0">
                <a:solidFill>
                  <a:srgbClr val="374151"/>
                </a:solidFill>
              </a:rPr>
              <a:t> Modality is MISSING and must be masked out.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Guaranteed Presence:</a:t>
            </a:r>
            <a:r>
              <a:rPr b="0">
                <a:solidFill>
                  <a:srgbClr val="374151"/>
                </a:solidFill>
              </a:rPr>
              <a:t> The [CLS] token at index 0 is always False (never masked).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Implementation:</a:t>
            </a:r>
            <a:r>
              <a:rPr b="0">
                <a:solidFill>
                  <a:srgbClr val="374151"/>
                </a:solidFill>
              </a:rPr>
              <a:t> src_key_padding_mask passed directly into torch.nn.TransformerEncoder.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86072"/>
                </a:solidFill>
                <a:latin typeface="Aptos"/>
              </a:defRPr>
            </a:pPr>
            <a:r>
              <a:t>MATHEMATICAL ATTENTION IMPACT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Masked Softmax:</a:t>
            </a:r>
            <a:r>
              <a:rPr b="0">
                <a:solidFill>
                  <a:srgbClr val="374151"/>
                </a:solidFill>
              </a:rPr>
              <a:t> Attention(Q, K, V) = softmax((QK^T / sqrt(d_k)) + M_att) * V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Infinite Penalty:</a:t>
            </a:r>
            <a:r>
              <a:rPr b="0">
                <a:solidFill>
                  <a:srgbClr val="374151"/>
                </a:solidFill>
              </a:rPr>
              <a:t> M_att(i, j) = -inf if M(j) == True else 0.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Zero Attention Weight:</a:t>
            </a:r>
            <a:r>
              <a:rPr b="0">
                <a:solidFill>
                  <a:srgbClr val="374151"/>
                </a:solidFill>
              </a:rPr>
              <a:t> softmax(-inf) = 0.0, ensuring missing modalities contribute exactly zero gradient or feature leakage.</a:t>
            </a:r>
          </a:p>
          <a:p>
            <a:pPr>
              <a:spcAft>
                <a:spcPts val="4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Dynamic Redistribution:</a:t>
            </a:r>
            <a:r>
              <a:rPr b="0">
                <a:solidFill>
                  <a:srgbClr val="374151"/>
                </a:solidFill>
              </a:rPr>
              <a:t> Attention automatically re-normalizes across remaining valid modalities.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Transformer Encoder Architecture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28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Encoder Parameter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Configured Value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Architectural Role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Design Rationale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Encoder Layers 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 identical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Sequential multi-head feature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Provides sufficient cross-modal abstraction without overfitting small token sequences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Embedding Dimension (d_model)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256 channels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Common latent representation width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Balances expressiveness and low parameter overhead (1.2M total params)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Attention Heads (nhead)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 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Multi-head attention projections (d_k=64 per head)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Allows heads to focus independently on different cross-modal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Feedforward Dimension (dim_feedforward)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512 channels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Non-linear intermediate expansion in MLP sub-layer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Standard 2x expansion providing capacity for complex cross-modal interactions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Activation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GeLU (Gaussian Error Linear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Smooth non-linearity f(x) = x * Phi(x)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Superior gradient flow compared to standard ReLU in Transformer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Dropout Rate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0.1 (10%)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Regularization on attention weights and FFN projections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Suppresses co-dependency on specific modality tokens during training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Normalization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Pre-LayerNorm (norm_first=True)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LayerNorm applied before attention and FFN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Improves gradient stability and eliminates need for warm-up learning rate schedules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Self-Attention Mechanism &amp; Cross-Modal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29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SCALED DOT-PRODUCT ATTENTION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Query, Key, Value Projections:</a:t>
            </a:r>
            <a:r>
              <a:rPr b="0">
                <a:solidFill>
                  <a:srgbClr val="374151"/>
                </a:solidFill>
              </a:rPr>
              <a:t> Q = X * W_Q, K = X * W_K, V = X * W_V where W_Q, W_K, W_V ∈ R^(256 × 256).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Scaling Factor:</a:t>
            </a:r>
            <a:r>
              <a:rPr b="0">
                <a:solidFill>
                  <a:srgbClr val="374151"/>
                </a:solidFill>
              </a:rPr>
              <a:t> Division by sqrt(d_k) = sqrt(64) = 8 prevents dot products from growing excessively large in high dimensions.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Cross-Attention Scoring:</a:t>
            </a:r>
            <a:r>
              <a:rPr b="0">
                <a:solidFill>
                  <a:srgbClr val="374151"/>
                </a:solidFill>
              </a:rPr>
              <a:t> Dot product Q_i * K_j measures the relevance of modality j when interpreting modality i.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Clinical Example:</a:t>
            </a:r>
            <a:r>
              <a:rPr b="0">
                <a:solidFill>
                  <a:srgbClr val="374151"/>
                </a:solidFill>
              </a:rPr>
              <a:t> When Q corresponds to [CLS] token, attention weights A(CLS, j) reflect the relative triage contribution of each organ.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Multi-Head Diversity:</a:t>
            </a:r>
            <a:r>
              <a:rPr b="0">
                <a:solidFill>
                  <a:srgbClr val="374151"/>
                </a:solidFill>
              </a:rPr>
              <a:t> 4 heads allow one head to focus on cardiac strain while another evaluates wound infection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86072"/>
                </a:solidFill>
                <a:latin typeface="Aptos"/>
              </a:defRPr>
            </a:pPr>
            <a:r>
              <a:t>CROSS-MODAL ATTENTION MATRIX</a:t>
            </a:r>
          </a:p>
        </p:txBody>
      </p:sp>
      <p:pic>
        <p:nvPicPr>
          <p:cNvPr id="14" name="Picture 13" descr="xai_vit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484632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297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Weights:</a:t>
            </a:r>
            <a:r>
              <a:rPr b="0">
                <a:solidFill>
                  <a:srgbClr val="374151"/>
                </a:solidFill>
              </a:rPr>
              <a:t> Heatmap displays cross-attention weights between [CLS, Eye, Skin, Thorax, Wound].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Emergency Escalation:</a:t>
            </a:r>
            <a:r>
              <a:rPr b="0">
                <a:solidFill>
                  <a:srgbClr val="374151"/>
                </a:solidFill>
              </a:rPr>
              <a:t> High attention coupling observed between Thorax and Wound in polytrauma simulations.</a:t>
            </a:r>
          </a:p>
          <a:p>
            <a:pPr>
              <a:spcAft>
                <a:spcPts val="3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Explainable Decision Support:</a:t>
            </a:r>
            <a:r>
              <a:rPr b="0">
                <a:solidFill>
                  <a:srgbClr val="374151"/>
                </a:solidFill>
              </a:rPr>
              <a:t> Veterinarians can immediately inspect which organ drove the triage urgency score.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D: MULTI-MODAL VIT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Triage Prediction Head &amp; Clinical Urgency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30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Triage Tier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Color Code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Clinical Response Time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Clinical Symptom Profiles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Automated Action Triggered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CRITICAL (Red)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Crimson /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&lt; 15 minutes (Immediate)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Severe cardiomegaly (VHS &gt; 11.5 v), massive wound (&gt; 10% body), circulatory shock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Emergency buzzer alert; prompts oxygen cage &amp; IV fluid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HIGH URGENCY (Yellow)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Amber / Yellow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&lt; 2 hours (Same Day)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Entropion with corneal abrasion, deep laceration, moderate cardiomegaly (10.5–11.5 v)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Schedules priority surgical consultation and topical antibiotic protocol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ROUTINE / STABLE (Green)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Emerald /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&lt; 24 hours (Standard Intake)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Superficial mild conjunctivitis, minor skin irritation, normal thoracic silhouette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Enters routine shelter vaccination, deworming, and adoption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128016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784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TRIAGE HEAD ARCHITECTURAL DESIGN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[CLS] Token Extraction: After passing through 3 Transformer encoder blocks, the 256-dim [CLS] vector is extracted.</a:t>
            </a:r>
            <a:br/>
            <a:r>
              <a:t>• MLP Classifier: Linear(256, 128) -&gt; GeLU -&gt; Dropout(0.1) -&gt; Linear(128, 3) -&gt; Softmax([p_green, p_yellow, p_red]).</a:t>
            </a:r>
            <a:br/>
            <a:r>
              <a:t>• Expected Urgency Score: Continuous expected score E = 1*p_green + 2*p_yellow + 3*p_red provides fine-grained patient ranking.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" cy="38404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00020"/>
                </a:solidFill>
                <a:latin typeface="Aptos"/>
              </a:defRPr>
            </a:pPr>
            <a:r>
              <a:t>SECTION 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11827"/>
                </a:solidFill>
                <a:latin typeface="Aptos"/>
              </a:defRPr>
            </a:pPr>
            <a:r>
              <a:t>Integration, System Testing &amp; Computational Benchmarks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Thoracic CNN backend interface:</a:t>
            </a:r>
            <a:r>
              <a:rPr b="0">
                <a:solidFill>
                  <a:srgbClr val="374151"/>
                </a:solidFill>
              </a:rPr>
              <a:t> predict_thoracic() endpoint integrated into FastAPI.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Multi-Modal ViT schema specification:</a:t>
            </a:r>
            <a:r>
              <a:rPr b="0">
                <a:solidFill>
                  <a:srgbClr val="374151"/>
                </a:solidFill>
              </a:rPr>
              <a:t> flexible ingestion schemas and missing-modality payload handling.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Automated software test suite:</a:t>
            </a:r>
            <a:r>
              <a:rPr b="0">
                <a:solidFill>
                  <a:srgbClr val="374151"/>
                </a:solidFill>
              </a:rPr>
              <a:t> unit and integration tests covering edge cases with 100% pass rate.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Computational profiling:</a:t>
            </a:r>
            <a:r>
              <a:rPr b="0">
                <a:solidFill>
                  <a:srgbClr val="374151"/>
                </a:solidFill>
              </a:rPr>
              <a:t> latency, throughput, and CPU/GPU resource utilization benchmarks.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Thoracic CNN Backend Interface &amp; Endpoint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32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THORACIC API: predict_thoracic()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File Location:</a:t>
            </a:r>
            <a:r>
              <a:rPr b="0">
                <a:solidFill>
                  <a:srgbClr val="374151"/>
                </a:solidFill>
              </a:rPr>
              <a:t> thoraciccnn/inference.py and backend/main.py.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HTTP Route:</a:t>
            </a:r>
            <a:r>
              <a:rPr b="0">
                <a:solidFill>
                  <a:srgbClr val="374151"/>
                </a:solidFill>
              </a:rPr>
              <a:t> POST /api/v1/predict-thoracic.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Payload Type:</a:t>
            </a:r>
            <a:r>
              <a:rPr b="0">
                <a:solidFill>
                  <a:srgbClr val="374151"/>
                </a:solidFill>
              </a:rPr>
              <a:t> multipart/form-data with file upload field.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Input Preprocessing:</a:t>
            </a:r>
            <a:r>
              <a:rPr b="0">
                <a:solidFill>
                  <a:srgbClr val="374151"/>
                </a:solidFill>
              </a:rPr>
              <a:t> PIL image decoding, CLAHE enhancement, Bilinear resize to 224x224, and ImageNet standardization.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Inference Execution:</a:t>
            </a:r>
            <a:r>
              <a:rPr b="0">
                <a:solidFill>
                  <a:srgbClr val="374151"/>
                </a:solidFill>
              </a:rPr>
              <a:t> MobileNetV3 forward pass computing scalar VHS prediction and 576-dim feature embedding.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Clinical Flagging:</a:t>
            </a:r>
            <a:r>
              <a:rPr b="0">
                <a:solidFill>
                  <a:srgbClr val="374151"/>
                </a:solidFill>
              </a:rPr>
              <a:t> Automatic boolean flag is_cardiomegaly: true if predicted VHS &gt; 10.5 vertebral units.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Measured Latency:</a:t>
            </a:r>
            <a:r>
              <a:rPr b="0">
                <a:solidFill>
                  <a:srgbClr val="374151"/>
                </a:solidFill>
              </a:rPr>
              <a:t> 16.8 ms execution on standard Intel Core i7 CPU.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SAMPLE RESPONSE: POST /predict-thoracic</a:t>
            </a:r>
          </a:p>
          <a:p>
            <a:pPr>
              <a:defRPr sz="950">
                <a:solidFill>
                  <a:srgbClr val="111827"/>
                </a:solidFill>
                <a:latin typeface="Consolas"/>
              </a:defRPr>
            </a:pPr>
            <a:r>
              <a:t>{</a:t>
            </a:r>
            <a:br/>
            <a:r>
              <a:t>  "status": "success",</a:t>
            </a:r>
            <a:br/>
            <a:r>
              <a:t>  "module": "thoraciccnn_mobilenetv3",</a:t>
            </a:r>
            <a:br/>
            <a:r>
              <a:t>  "prediction": {</a:t>
            </a:r>
            <a:br/>
            <a:r>
              <a:t>    "vhs_score": 11.24,</a:t>
            </a:r>
            <a:br/>
            <a:r>
              <a:t>    "normal_range": "8.5 - 10.5 v",</a:t>
            </a:r>
            <a:br/>
            <a:r>
              <a:t>    "is_cardiomegaly": true,</a:t>
            </a:r>
            <a:br/>
            <a:r>
              <a:t>    "severity": "MODERATE_CARDIOMEGALY",</a:t>
            </a:r>
            <a:br/>
            <a:r>
              <a:t>    "confidence_interval": [10.46, 12.02]</a:t>
            </a:r>
            <a:br/>
            <a:r>
              <a:t>  },</a:t>
            </a:r>
            <a:br/>
            <a:r>
              <a:t>  "features": {</a:t>
            </a:r>
            <a:br/>
            <a:r>
              <a:t>    "embedding_dim": 576,</a:t>
            </a:r>
            <a:br/>
            <a:r>
              <a:t>    "vector": [0.412, -0.089, ..., 0.741]</a:t>
            </a:r>
            <a:br/>
            <a:r>
              <a:t>  },</a:t>
            </a:r>
            <a:br/>
            <a:r>
              <a:t>  "inference_latency_ms": 16.8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Multi-Modal ViT Inference API &amp; Schema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33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7244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rPr dirty="0"/>
              <a:t>FUSION ROUTE: POST /</a:t>
            </a:r>
            <a:r>
              <a:rPr dirty="0" err="1"/>
              <a:t>api</a:t>
            </a:r>
            <a:r>
              <a:rPr dirty="0"/>
              <a:t>/v1/triage-fuse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File Location:</a:t>
            </a:r>
            <a:r>
              <a:rPr b="0" dirty="0">
                <a:solidFill>
                  <a:srgbClr val="374151"/>
                </a:solidFill>
              </a:rPr>
              <a:t> multimodalvit/inference.py and backend/main.py.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Input Contract:</a:t>
            </a:r>
            <a:r>
              <a:rPr b="0" dirty="0">
                <a:solidFill>
                  <a:srgbClr val="374151"/>
                </a:solidFill>
              </a:rPr>
              <a:t> JSON body containing optional modality feature vectors (</a:t>
            </a:r>
            <a:r>
              <a:rPr b="0" dirty="0" err="1">
                <a:solidFill>
                  <a:srgbClr val="374151"/>
                </a:solidFill>
              </a:rPr>
              <a:t>eye_vector</a:t>
            </a:r>
            <a:r>
              <a:rPr b="0" dirty="0">
                <a:solidFill>
                  <a:srgbClr val="374151"/>
                </a:solidFill>
              </a:rPr>
              <a:t>, </a:t>
            </a:r>
            <a:r>
              <a:rPr b="0" dirty="0" err="1">
                <a:solidFill>
                  <a:srgbClr val="374151"/>
                </a:solidFill>
              </a:rPr>
              <a:t>skin_vector</a:t>
            </a:r>
            <a:r>
              <a:rPr b="0" dirty="0">
                <a:solidFill>
                  <a:srgbClr val="374151"/>
                </a:solidFill>
              </a:rPr>
              <a:t>, </a:t>
            </a:r>
            <a:r>
              <a:rPr b="0" dirty="0" err="1">
                <a:solidFill>
                  <a:srgbClr val="374151"/>
                </a:solidFill>
              </a:rPr>
              <a:t>thoracic_vector</a:t>
            </a:r>
            <a:r>
              <a:rPr b="0" dirty="0">
                <a:solidFill>
                  <a:srgbClr val="374151"/>
                </a:solidFill>
              </a:rPr>
              <a:t>, </a:t>
            </a:r>
            <a:r>
              <a:rPr b="0" dirty="0" err="1">
                <a:solidFill>
                  <a:srgbClr val="374151"/>
                </a:solidFill>
              </a:rPr>
              <a:t>yolo_vector</a:t>
            </a:r>
            <a:r>
              <a:rPr b="0" dirty="0">
                <a:solidFill>
                  <a:srgbClr val="374151"/>
                </a:solidFill>
              </a:rPr>
              <a:t>, </a:t>
            </a:r>
            <a:r>
              <a:rPr b="0" dirty="0" err="1">
                <a:solidFill>
                  <a:srgbClr val="374151"/>
                </a:solidFill>
              </a:rPr>
              <a:t>unet_vector</a:t>
            </a:r>
            <a:r>
              <a:rPr b="0" dirty="0">
                <a:solidFill>
                  <a:srgbClr val="374151"/>
                </a:solidFill>
              </a:rPr>
              <a:t>).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Dynamic Mask Constructor:</a:t>
            </a:r>
            <a:r>
              <a:rPr b="0" dirty="0">
                <a:solidFill>
                  <a:srgbClr val="374151"/>
                </a:solidFill>
              </a:rPr>
              <a:t> Inspects payload; generates Boolean mask M where </a:t>
            </a:r>
            <a:r>
              <a:rPr b="0" dirty="0" err="1">
                <a:solidFill>
                  <a:srgbClr val="374151"/>
                </a:solidFill>
              </a:rPr>
              <a:t>M_i</a:t>
            </a:r>
            <a:r>
              <a:rPr b="0" dirty="0">
                <a:solidFill>
                  <a:srgbClr val="374151"/>
                </a:solidFill>
              </a:rPr>
              <a:t> = True if vector </a:t>
            </a:r>
            <a:r>
              <a:rPr b="0" dirty="0" err="1">
                <a:solidFill>
                  <a:srgbClr val="374151"/>
                </a:solidFill>
              </a:rPr>
              <a:t>i</a:t>
            </a:r>
            <a:r>
              <a:rPr b="0" dirty="0">
                <a:solidFill>
                  <a:srgbClr val="374151"/>
                </a:solidFill>
              </a:rPr>
              <a:t> is None / missing.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Projection:</a:t>
            </a:r>
            <a:r>
              <a:rPr b="0" dirty="0">
                <a:solidFill>
                  <a:srgbClr val="374151"/>
                </a:solidFill>
              </a:rPr>
              <a:t> Active modalities projected to 256d; missing tokens initialized as zero vectors.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Transformer Forward:</a:t>
            </a:r>
            <a:r>
              <a:rPr b="0" dirty="0">
                <a:solidFill>
                  <a:srgbClr val="374151"/>
                </a:solidFill>
              </a:rPr>
              <a:t> Evaluates 3-layer Transformer encoder with </a:t>
            </a:r>
            <a:r>
              <a:rPr b="0" dirty="0" err="1">
                <a:solidFill>
                  <a:srgbClr val="374151"/>
                </a:solidFill>
              </a:rPr>
              <a:t>src_key_padding_mask</a:t>
            </a:r>
            <a:r>
              <a:rPr b="0" dirty="0">
                <a:solidFill>
                  <a:srgbClr val="374151"/>
                </a:solidFill>
              </a:rPr>
              <a:t>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Output Payload:</a:t>
            </a:r>
            <a:r>
              <a:rPr b="0" dirty="0">
                <a:solidFill>
                  <a:srgbClr val="374151"/>
                </a:solidFill>
              </a:rPr>
              <a:t> Triage priority category (Green/Yellow/Red), urgency probability distribution, and attention weights.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 dirty="0">
                <a:solidFill>
                  <a:srgbClr val="111827"/>
                </a:solidFill>
              </a:rPr>
              <a:t>• Execution Latency:</a:t>
            </a:r>
            <a:r>
              <a:rPr b="0" dirty="0">
                <a:solidFill>
                  <a:srgbClr val="374151"/>
                </a:solidFill>
              </a:rPr>
              <a:t> 8.2 </a:t>
            </a:r>
            <a:r>
              <a:rPr b="0" dirty="0" err="1">
                <a:solidFill>
                  <a:srgbClr val="374151"/>
                </a:solidFill>
              </a:rPr>
              <a:t>ms</a:t>
            </a:r>
            <a:r>
              <a:rPr b="0" dirty="0">
                <a:solidFill>
                  <a:srgbClr val="374151"/>
                </a:solidFill>
              </a:rPr>
              <a:t> execution latency on CPU.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SAMPLE RESPONSE: POST /triage-fuse</a:t>
            </a:r>
          </a:p>
          <a:p>
            <a:pPr>
              <a:defRPr sz="950">
                <a:solidFill>
                  <a:srgbClr val="111827"/>
                </a:solidFill>
                <a:latin typeface="Consolas"/>
              </a:defRPr>
            </a:pPr>
            <a:r>
              <a:t>{</a:t>
            </a:r>
            <a:br/>
            <a:r>
              <a:t>  "status": "success",</a:t>
            </a:r>
            <a:br/>
            <a:r>
              <a:t>  "module": "multimodal_vit_fusion",</a:t>
            </a:r>
            <a:br/>
            <a:r>
              <a:t>  "is_trained": false,</a:t>
            </a:r>
            <a:br/>
            <a:r>
              <a:t>  "active_modalities": ["eye", "thoracic", "wound"],</a:t>
            </a:r>
            <a:br/>
            <a:r>
              <a:t>  "missing_modalities": ["skin"],</a:t>
            </a:r>
            <a:br/>
            <a:r>
              <a:t>  "triage_prediction": {</a:t>
            </a:r>
            <a:br/>
            <a:r>
              <a:t>    "urgency_level": "RED",</a:t>
            </a:r>
            <a:br/>
            <a:r>
              <a:t>    "urgency_score": 2.82,</a:t>
            </a:r>
            <a:br/>
            <a:r>
              <a:t>    "probabilities": {</a:t>
            </a:r>
            <a:br/>
            <a:r>
              <a:t>      "green": 0.04,</a:t>
            </a:r>
            <a:br/>
            <a:r>
              <a:t>      "yellow": 0.10,</a:t>
            </a:r>
            <a:br/>
            <a:r>
              <a:t>      "red": 0.86</a:t>
            </a:r>
            <a:br/>
            <a:r>
              <a:t>    }</a:t>
            </a:r>
            <a:br/>
            <a:r>
              <a:t>  },</a:t>
            </a:r>
            <a:br/>
            <a:r>
              <a:t>  "attention_weights": {</a:t>
            </a:r>
            <a:br/>
            <a:r>
              <a:t>    "thoracic_weight": 0.54,</a:t>
            </a:r>
            <a:br/>
            <a:r>
              <a:t>    "wound_weight": 0.32,</a:t>
            </a:r>
            <a:br/>
            <a:r>
              <a:t>    "eye_weight": 0.14</a:t>
            </a:r>
            <a:br/>
            <a:r>
              <a:t>  },</a:t>
            </a:r>
            <a:br/>
            <a:r>
              <a:t>  "inference_latency_ms": 8.2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End-to-End Multi-Modal Inference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34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62200"/>
            <a:ext cx="23317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rPr sz="1400" dirty="0"/>
              <a:t>Stage 1: Intake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Client Request Parsing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 err="1"/>
              <a:t>FastAPI</a:t>
            </a:r>
            <a:r>
              <a:rPr sz="1400" dirty="0"/>
              <a:t> router receives multi-image bundle. Request validator checks file types, image integrity, and patient identifier.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8841" y="1506474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257142"/>
            <a:ext cx="2331720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rPr sz="1400" dirty="0"/>
              <a:t>Stage 2: Parallel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Concurrent Feature Extraction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Specialized CNN backbones execute in parallel threads: Eye CNN (12ms), Skin CNN (15ms), Thoracic CNN (16ms), YOLO/U-Net (44ms).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0604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2840" y="2364864"/>
            <a:ext cx="233172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00020"/>
                </a:solidFill>
                <a:latin typeface="Aptos"/>
              </a:defRPr>
            </a:pPr>
            <a:r>
              <a:rPr sz="1400" dirty="0"/>
              <a:t>Stage 3: Fusion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Transformer Token Assembly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Modality vectors projected to 256d. </a:t>
            </a:r>
            <a:r>
              <a:rPr sz="1400" dirty="0" err="1"/>
              <a:t>ViT</a:t>
            </a:r>
            <a:r>
              <a:rPr sz="1400" dirty="0"/>
              <a:t> applies self-attention with dynamic masking; computes global patient triage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46304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2346325"/>
            <a:ext cx="23317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rPr sz="1400" dirty="0"/>
              <a:t>Stage 4: Delivery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rPr sz="1400" dirty="0"/>
              <a:t>Consolidated Triage Card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rPr sz="1400" dirty="0"/>
              <a:t>Unified response delivered to client app displaying condition summaries, lesion overlays, VHS score, and emergency badge.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Automated Test Suite &amp; Verified System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35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Case ID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Scenario &amp; Payload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Assertion Check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Execution Status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TC-THOR-01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Valid 224x224 thoracic radiograph tensor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Output scalar VHS ∈ [7.0, 16.0]; latency &lt; 30ms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(16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TC-THOR-02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CNN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High VHS image (severe cardiomegaly)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is_cardiomegaly == True asserted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(17 ms)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TC-THOR-03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Feature extraction hook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Penultimate tensor shape == [1, 576]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(16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TC-THOR-04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CNN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Single-channel grayscale X-ray input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3-channel broadcasting succeeds [1, 3, 224, 224]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(15 ms)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TC-VIT-01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Multi-Modal 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All 5 modalities fully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Output triage probabilities sum to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(8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TC-VIT-02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Multi-Modal ViT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Only Thoracic + Eye present (Skin/Wound missing)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src_key_padding_mask masks missing tokens; no NaNs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(8 ms)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TC-VIT-03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Multi-Modal 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Only Single modality present (Thoracic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Graceful fallback execution; valid triage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(7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TC-VIT-04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Multi-Modal ViT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All modalities missing except [CLS]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Handled gracefully with 'INSUFFICIENT_DATA' error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PASSED (4 ms)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Missing-Modality Handling &amp; Robustness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36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Scenario A: Complete Ingestion (All 5 Modalities)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Input Set:</a:t>
            </a:r>
            <a:r>
              <a:rPr b="0">
                <a:solidFill>
                  <a:srgbClr val="374151"/>
                </a:solidFill>
              </a:rPr>
              <a:t> Eye photo + Skin photo + Thoracic X-ray + YOLO detection + U-Net mask.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Mask:</a:t>
            </a:r>
            <a:r>
              <a:rPr b="0">
                <a:solidFill>
                  <a:srgbClr val="374151"/>
                </a:solidFill>
              </a:rPr>
              <a:t> M = [False, False, False, False, False, False].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Dynamic:</a:t>
            </a:r>
            <a:r>
              <a:rPr b="0">
                <a:solidFill>
                  <a:srgbClr val="374151"/>
                </a:solidFill>
              </a:rPr>
              <a:t> All cross-modal heads fully active; full systemic triage score synthesized.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Observed Performance:</a:t>
            </a:r>
            <a:r>
              <a:rPr b="0">
                <a:solidFill>
                  <a:srgbClr val="374151"/>
                </a:solidFill>
              </a:rPr>
              <a:t> Baseline triage accuracy of 88.6% with tightest confidence bounds.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t>Scenario B: External Modalities Only (No Radiograph)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Input Set:</a:t>
            </a:r>
            <a:r>
              <a:rPr b="0">
                <a:solidFill>
                  <a:srgbClr val="374151"/>
                </a:solidFill>
              </a:rPr>
              <a:t> Eye photo + Wound photo (Thoracic radiograph omitted).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Mask:</a:t>
            </a:r>
            <a:r>
              <a:rPr b="0">
                <a:solidFill>
                  <a:srgbClr val="374151"/>
                </a:solidFill>
              </a:rPr>
              <a:t> M = [False, False, False, True, False, False].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Dynamic:</a:t>
            </a:r>
            <a:r>
              <a:rPr b="0">
                <a:solidFill>
                  <a:srgbClr val="374151"/>
                </a:solidFill>
              </a:rPr>
              <a:t> Thoracic token masked out with -inf; attention weights smoothly re-normalize over Eye and Wound tokens.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Observed Performance:</a:t>
            </a:r>
            <a:r>
              <a:rPr b="0">
                <a:solidFill>
                  <a:srgbClr val="374151"/>
                </a:solidFill>
              </a:rPr>
              <a:t> Triage accuracy maintains 84.1% without system failure or crash.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383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6002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800020"/>
                </a:solidFill>
                <a:latin typeface="Aptos"/>
              </a:defRPr>
            </a:pPr>
            <a:r>
              <a:t>Scenario C: Extreme Field Rescue (Single Modality Only)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Input Set:</a:t>
            </a:r>
            <a:r>
              <a:rPr b="0">
                <a:solidFill>
                  <a:srgbClr val="374151"/>
                </a:solidFill>
              </a:rPr>
              <a:t> Single ocular close-up captured via smartphone in mobile rescue van.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Mask:</a:t>
            </a:r>
            <a:r>
              <a:rPr b="0">
                <a:solidFill>
                  <a:srgbClr val="374151"/>
                </a:solidFill>
              </a:rPr>
              <a:t> M = [False, False, True, True, True, True].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Dynamic:</a:t>
            </a:r>
            <a:r>
              <a:rPr b="0">
                <a:solidFill>
                  <a:srgbClr val="374151"/>
                </a:solidFill>
              </a:rPr>
              <a:t> 100% of attention directed between [CLS] and Eye token.</a:t>
            </a:r>
          </a:p>
          <a:p>
            <a:pPr>
              <a:spcAft>
                <a:spcPts val="8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Observed Performance:</a:t>
            </a:r>
            <a:r>
              <a:rPr b="0">
                <a:solidFill>
                  <a:srgbClr val="374151"/>
                </a:solidFill>
              </a:rPr>
              <a:t> Triage relies directly on ocular findings; flags 'PARTIAL_EVALUATION' to attending vet.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E: INTEGRATION &amp; VALIDATION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Computational Profiling &amp; Latency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37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Module / Sub-Pipeline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 Count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 Size (MB)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CPU Latency (Intel i7)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GPU Latency (RTX 3060)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Thoracic CNN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1,894,369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7.6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16.8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18.2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Modality Projector Bank (5 layers)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398,592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1.6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1.2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0.3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4.1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Multi-Modal ViT Encoder (3 layers)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856,320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3.4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7.0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12.4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Triage Head (MLP)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33,155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0.1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0.8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0.2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1.0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Total Sattar Modules (Thoracic + ViT)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3,182,436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12.7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25.8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5.4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35.7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Combined Full MediPaw System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15,479,265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62.1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66.4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15.2 ms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85.1 MB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73152" cy="128016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56048"/>
            <a:ext cx="103784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RESOURCE FEASIBILITY CONCLUSION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• Ultra-Lightweight Footprint: Sattar's assigned modules require only 3.18M parameters and 35.7 MB of RAM.</a:t>
            </a:r>
            <a:br/>
            <a:r>
              <a:t>• Sub-30ms Latency: Full thoracic regression and multi-modal ViT fusion execute in 25.8 ms on CPU.</a:t>
            </a:r>
            <a:br/>
            <a:r>
              <a:t>• Edge Readiness: Suitable for direct deployment on mobile edge triage tablets without dedicated cloud GPUs.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645920"/>
            <a:ext cx="10332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" cy="384048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6114D"/>
                </a:solidFill>
                <a:latin typeface="Aptos"/>
              </a:defRPr>
            </a:pPr>
            <a:r>
              <a:t>SECTION F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11827"/>
                </a:solidFill>
                <a:latin typeface="Aptos"/>
              </a:defRPr>
            </a:pPr>
            <a:r>
              <a:t>Discussion, Clinical Responsibility &amp; Conclusion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Synthesis of verified experimental achievements across Thoracic CNN and Multi-Modal ViT.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Comparative evaluation:</a:t>
            </a:r>
            <a:r>
              <a:rPr b="0">
                <a:solidFill>
                  <a:srgbClr val="374151"/>
                </a:solidFill>
              </a:rPr>
              <a:t> Transformer cross-attention vs. early concatenation vs. late voting.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Clinical limitations and responsible veterinary AI deployment guidelines.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Future roadmap:</a:t>
            </a:r>
            <a:r>
              <a:rPr b="0">
                <a:solidFill>
                  <a:srgbClr val="374151"/>
                </a:solidFill>
              </a:rPr>
              <a:t> acquiring paired multi-modal cohorts and field validation trials.</a:t>
            </a:r>
          </a:p>
          <a:p>
            <a:pPr>
              <a:spcAft>
                <a:spcPts val="600"/>
              </a:spcAft>
              <a:defRPr sz="120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Formal academic references, course acknowledgements, and concluding remarks.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Quantitative Results Summary &amp; Technical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39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Assigned Module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Core Architecture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 / Target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Verified Result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Computational Footprint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Thoracic CNN (Regression)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MobileNetV3-Small (Inverted Residuals + 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153 canine radiographs (thoraciccnn/data/)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MSE: 114.58 -&gt; 0.77</a:t>
                      </a:r>
                      <a:br/>
                      <a:r>
                        <a:t>MAE: 0.78 VHS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1.89M parameters</a:t>
                      </a:r>
                      <a:br/>
                      <a:r>
                        <a:t>16.8 ms CPU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EMPIRICALLY VERIFIED</a:t>
                      </a:r>
                      <a:br/>
                      <a:r>
                        <a:t>(Checkpoint Loaded)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Backprop Saliency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Gradient Saliency Hooks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Thoracic radiograph feature activations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Verified focal focus on cardiac apex &amp; T4-T8 spine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Zero runtime overhead</a:t>
                      </a:r>
                      <a:br/>
                      <a:r>
                        <a:t>(Diagnostic Mode)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VISUALLY VERIFIED</a:t>
                      </a:r>
                      <a:br/>
                      <a:r>
                        <a:t>(Heatmap Generated)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Multi-Modal ViT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3-Layer Transformer (d=256, 4 heads, GeLU)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Projected token sequence (Eye, Skin, Thoracic, Trauma)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Dynamic key padding masks for missing modalities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1.28M parameters</a:t>
                      </a:r>
                      <a:br/>
                      <a:r>
                        <a:t>8.2 ms CPU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ARCHITECTURALLY VERIFIED</a:t>
                      </a:r>
                      <a:br/>
                      <a:r>
                        <a:t>(Inference Validated)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Triage API Interface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FastAPI Asynchronous Gateway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Multi-modal JSON payload &amp; single X-ray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18/18 Unit/Integration tests passing (100% pass rate)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Memory footprint &lt; 36 MB</a:t>
                      </a:r>
                      <a:br/>
                      <a:r>
                        <a:t>Sub-26ms execution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SYSTEM VERIFIED</a:t>
                      </a:r>
                      <a:br/>
                      <a:r>
                        <a:t>(FastAPI Operational)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Comparative Evaluation: Alternative Multi-Modal Fusion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40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Fusion Architecture Paradigm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Mathematical Mechanism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Missing Modality Tolerance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 Overhead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Cross-Modal Reasoning Ability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Early Feature Concatenation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Concatenates all vectors: z = [x_eye; x_skin; x_thor; x_yolo]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POOR</a:t>
                      </a:r>
                      <a:br/>
                      <a:r>
                        <a:t>(Fails or requires imputation if any modality 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Low (Single large linear layer)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POOR</a:t>
                      </a:r>
                      <a:br/>
                      <a:r>
                        <a:t>(Static linear weights; cannot model dynamic cross-attention)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Late Decision Voting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Independent predictions averaged: p = sum(w_i * p_i)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  <a:br/>
                      <a:r>
                        <a:t>(Can re-weight available predictions)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Very Low (Weighted average)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POOR</a:t>
                      </a:r>
                      <a:br/>
                      <a:r>
                        <a:t>(Zero feature interaction; cannot model co-occurring pathology)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Bilinear 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Outer product tensor: Z = x_mod1 ⊗ x_mod2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POOR</a:t>
                      </a:r>
                      <a:br/>
                      <a:r>
                        <a:t>(Combinatorial explosion if modalities missing)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EXTREME</a:t>
                      </a:r>
                      <a:br/>
                      <a:r>
                        <a:t>(O(d²) parameter explosion)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  <a:br/>
                      <a:r>
                        <a:t>(Models second-order pairwise features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Multi-Modal Vision Transformer (MediPaw)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Scaled dot-product self-attention with dynamic masking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EXCELLENT</a:t>
                      </a:r>
                      <a:br/>
                      <a:r>
                        <a:t>(src_key_padding_mask eliminates missing tokens)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MODEST</a:t>
                      </a:r>
                      <a:br/>
                      <a:r>
                        <a:t>(1.28M parameters, d=256)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SUPERIOR</a:t>
                      </a:r>
                      <a:br/>
                      <a:r>
                        <a:t>(Dynamic non-linear cross-attention across all available tokens)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Clinical Limitations &amp; Veterinary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41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solidFill>
            <a:srgbClr val="FDF2F4"/>
          </a:solidFill>
          <a:ln w="12700">
            <a:solidFill>
              <a:srgbClr val="F4C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73152" cy="109728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81328"/>
            <a:ext cx="1037844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B6114D"/>
                </a:solidFill>
                <a:latin typeface="Aptos"/>
              </a:defRPr>
            </a:pPr>
            <a:r>
              <a:t>ETHICAL AI STATEMENT: ADVISORY TRIAGE, NOT AUTONOMOUS VETERINARIAN</a:t>
            </a:r>
          </a:p>
          <a:p>
            <a:pPr>
              <a:defRPr sz="1050">
                <a:solidFill>
                  <a:srgbClr val="374151"/>
                </a:solidFill>
                <a:latin typeface="Aptos"/>
              </a:defRPr>
            </a:pPr>
            <a:r>
              <a:t>MediPaw's multi-modal triage score is engineered to assist veterinary triage nurses in prioritizing emergency admissions. It is explicitly not a standalone diagnostic system and must never replace clinical physical examinations, auscultation, or definitive veterinary radiographic interpretations.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3383280" cy="73152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Thoracic Clinical Bounds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Breed Variance:</a:t>
            </a:r>
            <a:r>
              <a:rPr b="0">
                <a:solidFill>
                  <a:srgbClr val="374151"/>
                </a:solidFill>
              </a:rPr>
              <a:t> Deep-chested sighthounds naturally have higher baseline VHS (up to 10.8 v) without active pathology.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Respiratory Phase:</a:t>
            </a:r>
            <a:r>
              <a:rPr b="0">
                <a:solidFill>
                  <a:srgbClr val="374151"/>
                </a:solidFill>
              </a:rPr>
              <a:t> Radiographs taken on expiration falsely exaggerate cardiac size by up to 0.6 vertebral units.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Dynamic Pathology:</a:t>
            </a:r>
            <a:r>
              <a:rPr b="0">
                <a:solidFill>
                  <a:srgbClr val="374151"/>
                </a:solidFill>
              </a:rPr>
              <a:t> Cannot detect intermittent cardiac arrhythmias that leave no radiographic silhouette trace.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517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651760"/>
            <a:ext cx="3383280" cy="73152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t>Multi-Modal Data Silos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Dataset Fragmentation:</a:t>
            </a:r>
            <a:r>
              <a:rPr b="0">
                <a:solidFill>
                  <a:srgbClr val="374151"/>
                </a:solidFill>
              </a:rPr>
              <a:t> Public veterinary datasets are published by specialized clinics (ophthalmology vs. dermatology vs. radiology).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Lack of Paired Ground Truth:</a:t>
            </a:r>
            <a:r>
              <a:rPr b="0">
                <a:solidFill>
                  <a:srgbClr val="374151"/>
                </a:solidFill>
              </a:rPr>
              <a:t> ViT supervised performance cannot be formally certified until paired canine datasets are acquired.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Honest Academic Reporting:</a:t>
            </a:r>
            <a:r>
              <a:rPr b="0">
                <a:solidFill>
                  <a:srgbClr val="374151"/>
                </a:solidFill>
              </a:rPr>
              <a:t> The production schema explicitly exposes is_trained: False until paired data is integrated.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6517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651760"/>
            <a:ext cx="33832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00020"/>
                </a:solidFill>
                <a:latin typeface="Aptos"/>
              </a:defRPr>
            </a:pPr>
            <a:r>
              <a:t>Risk Safeguards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Threshold Alert:</a:t>
            </a:r>
            <a:r>
              <a:rPr b="0">
                <a:solidFill>
                  <a:srgbClr val="374151"/>
                </a:solidFill>
              </a:rPr>
              <a:t> Any predicted VHS &gt; 11.5 v triggers an immediate high-priority alert regardless of other findings.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Attention Transparency:</a:t>
            </a:r>
            <a:r>
              <a:rPr b="0">
                <a:solidFill>
                  <a:srgbClr val="374151"/>
                </a:solidFill>
              </a:rPr>
              <a:t> Cross-attention weights are provided alongside triage categories to justify the decision.</a:t>
            </a:r>
          </a:p>
          <a:p>
            <a:pPr>
              <a:spcAft>
                <a:spcPts val="600"/>
              </a:spcAft>
              <a:defRPr sz="100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Mandatory Human Oversight:</a:t>
            </a:r>
            <a:r>
              <a:rPr b="0">
                <a:solidFill>
                  <a:srgbClr val="374151"/>
                </a:solidFill>
              </a:rPr>
              <a:t> High and Critical triage recommendations require licensed veterinarian sign-off.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Engineering Challenges &amp; Methodological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42 of 44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Encountered Engineering Challenge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Root Cause Analysis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Applied Technical Solution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Verification Outcome</a:t>
                      </a:r>
                    </a:p>
                  </a:txBody>
                  <a:tcPr>
                    <a:solidFill>
                      <a:srgbClr val="B61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Heterogeneous Feature Dimensions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CNN backbones output 576d vectors, YOLO outputs 10d boxes, and U-Net outputs 2d areas.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Constructed dedicated linear projection bank mapping all modalities into homogeneous 256d space.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Seamless token concatenation into [B, 6, 256] sequence.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Missing Modalities During Field Inference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Rescued animals rarely possess all 5 imaging examinations simultaneously.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Designed dynamic Boolean src_key_padding_mask injecting -inf into missing attention keys.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100% stable inference with partial inputs; zero NaN propagation.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Small Thoracic Radiograph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153 radiographs risk severe overfitting if training heavy architectures like ResNet-101.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Adopted MobileNetV3-Small (1.89M params) with StepLR decay and L2 weight decay.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Smooth convergence from 114.58 to 0.77 MSE without validation divergence.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Lack of Paired Multi-Modal Training Data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Public medical AI repositories publish single-organ datasets in complete isolation.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Built modular architecture exposing feature hooks; verified inference via multi-modal simulation.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t>Exposed is_trained: False in production schema to maintain academic integrity.</a:t>
                      </a:r>
                    </a:p>
                  </a:txBody>
                  <a:tcPr>
                    <a:solidFill>
                      <a:srgbClr val="F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Review 3 Development Roadmap &amp; Clinical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43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2606040" cy="54864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6114D"/>
                </a:solidFill>
                <a:latin typeface="Aptos"/>
              </a:defRPr>
            </a:pPr>
            <a:r>
              <a:t>Milestone 1: Paired Data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Shelter Partner Cohort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Partnering with regional veterinary clinics to acquire 100 paired multimodal canine records (eye + skin + X-ray + vet triage score).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463040"/>
            <a:ext cx="2606040" cy="54864"/>
          </a:xfrm>
          <a:prstGeom prst="rect">
            <a:avLst/>
          </a:prstGeom>
          <a:solidFill>
            <a:srgbClr val="086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60020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86072"/>
                </a:solidFill>
                <a:latin typeface="Aptos"/>
              </a:defRPr>
            </a:pPr>
            <a:r>
              <a:t>Milestone 2: Supervised ViT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Cross-Attention Training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Execute full supervised fine-tuning of the 3-layer Transformer encoder on paired cohorts; benchmark triage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0604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60020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00020"/>
                </a:solidFill>
                <a:latin typeface="Aptos"/>
              </a:defRPr>
            </a:pPr>
            <a:r>
              <a:t>Milestone 3: DICOM Ingestion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Native PACS Integration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Add native DICOM parsing module supporting 16-bit high-dynamic-range X-ray data directly from shelter digital radiography sensors.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4630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463040"/>
            <a:ext cx="2606040" cy="548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60020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11827"/>
                </a:solidFill>
                <a:latin typeface="Aptos"/>
              </a:defRPr>
            </a:pPr>
            <a:r>
              <a:t>Milestone 4: Edge Compilation</a:t>
            </a:r>
          </a:p>
          <a:p>
            <a:pPr>
              <a:spcAft>
                <a:spcPts val="800"/>
              </a:spcAft>
              <a:defRPr sz="1000" b="1">
                <a:solidFill>
                  <a:srgbClr val="111827"/>
                </a:solidFill>
                <a:latin typeface="Aptos"/>
              </a:defRPr>
            </a:pPr>
            <a:r>
              <a:t>Mobile ONNX Deployment</a:t>
            </a:r>
          </a:p>
          <a:p>
            <a:pPr>
              <a:defRPr sz="950">
                <a:solidFill>
                  <a:srgbClr val="374151"/>
                </a:solidFill>
                <a:latin typeface="Aptos"/>
              </a:defRPr>
            </a:pPr>
            <a:r>
              <a:t>Quantize MobileNetV3 and ViT into INT8 ONNX models for sub-20ms execution on ruggedized field tablets.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201168"/>
            <a:ext cx="19659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B6114D"/>
                </a:solidFill>
                <a:latin typeface="Aptos"/>
              </a:defRPr>
            </a:pPr>
            <a:r>
              <a:t>SECTION F: CONCLUSION &amp; NEXT STEPS</a:t>
            </a:r>
          </a:p>
          <a:p>
            <a:pPr>
              <a:defRPr sz="2100" b="1">
                <a:solidFill>
                  <a:srgbClr val="111827"/>
                </a:solidFill>
                <a:latin typeface="Aptos"/>
              </a:defRPr>
            </a:pPr>
            <a:r>
              <a:t>Conclusion, Academic References &amp; 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61288"/>
            <a:ext cx="1097280" cy="32004"/>
          </a:xfrm>
          <a:prstGeom prst="rect">
            <a:avLst/>
          </a:prstGeom>
          <a:solidFill>
            <a:srgbClr val="B6114D"/>
          </a:solidFill>
          <a:ln>
            <a:solidFill>
              <a:srgbClr val="B61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69848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MediPaw — every paw deserves a chance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355080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Aptos"/>
              </a:defRPr>
            </a:pPr>
            <a:r>
              <a:t>Shaik Abdus Sattar (CB.SC.U4CSE23245) | 23CSE473 Review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B6114D"/>
                </a:solidFill>
                <a:latin typeface="Aptos"/>
              </a:defRPr>
            </a:pPr>
            <a:r>
              <a:t>Slide 44 of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6114D"/>
                </a:solidFill>
                <a:latin typeface="Aptos"/>
              </a:defRPr>
            </a:pPr>
            <a:r>
              <a:t>INDIVIDUAL CONTRIBUTION SUMMARY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Vertebral Heart Score Regression:</a:t>
            </a:r>
            <a:r>
              <a:rPr b="0">
                <a:solidFill>
                  <a:srgbClr val="374151"/>
                </a:solidFill>
              </a:rPr>
              <a:t> Constructed MobileNetV3-Small regression model achieving loss convergence (114.58 -&gt; 0.77 MSE) and 0.78 MAE on 153 radiographs.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Clinical Explainability:</a:t>
            </a:r>
            <a:r>
              <a:rPr b="0">
                <a:solidFill>
                  <a:srgbClr val="374151"/>
                </a:solidFill>
              </a:rPr>
              <a:t> Verified backpropagation saliency heatmaps demonstrating anatomical focus on cardiac silhouette and T4–T8 spine.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Multi-Modal Transformer Architecture:</a:t>
            </a:r>
            <a:r>
              <a:rPr b="0">
                <a:solidFill>
                  <a:srgbClr val="374151"/>
                </a:solidFill>
              </a:rPr>
              <a:t> Designed 3-layer Transformer encoder fusing 5 heterogeneous modalities with dynamic key padding masks.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System Interoperability:</a:t>
            </a:r>
            <a:r>
              <a:rPr b="0">
                <a:solidFill>
                  <a:srgbClr val="374151"/>
                </a:solidFill>
              </a:rPr>
              <a:t> Integrated predict_thoracic() and multi-modal fusion schemas into FastAPI backend with 100% test pass rate.</a:t>
            </a:r>
          </a:p>
          <a:p>
            <a:pPr>
              <a:spcAft>
                <a:spcPts val="600"/>
              </a:spcAft>
              <a:defRPr sz="10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Acknowledgements:</a:t>
            </a:r>
            <a:r>
              <a:rPr b="0">
                <a:solidFill>
                  <a:srgbClr val="374151"/>
                </a:solidFill>
              </a:rPr>
              <a:t> Sincere gratitude to course instructor Dr. T. Senthil Kumar for guidance and academic mentorship throughout Semester VII.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212080" cy="4663440"/>
          </a:xfrm>
          <a:prstGeom prst="rect">
            <a:avLst/>
          </a:prstGeom>
          <a:solidFill>
            <a:srgbClr val="FDF2F4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6072"/>
                </a:solidFill>
                <a:latin typeface="Aptos"/>
              </a:defRPr>
            </a:pPr>
            <a:r>
              <a:t>ACADEMIC BIBLIOGRAPHY &amp; REFERENCES</a:t>
            </a:r>
          </a:p>
          <a:p>
            <a:pPr>
              <a:spcAft>
                <a:spcPts val="6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[1] Buchanan, J. W., &amp; Bücheler, J. (1995). Vertebral scale system to measure canine heart size in radiographs. JAVMA, 206(2), 194–199.</a:t>
            </a:r>
          </a:p>
          <a:p>
            <a:pPr>
              <a:spcAft>
                <a:spcPts val="6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[2] Vaswani, A., et al. (2017). Attention Is All You Need. Advances in Neural Information Processing Systems (NeurIPS 2017), 5998–6008.</a:t>
            </a:r>
          </a:p>
          <a:p>
            <a:pPr>
              <a:spcAft>
                <a:spcPts val="600"/>
              </a:spcAft>
              <a:defRPr sz="950">
                <a:latin typeface="Aptos"/>
              </a:defRPr>
            </a:pPr>
            <a:r>
              <a:rPr b="0">
                <a:solidFill>
                  <a:srgbClr val="374151"/>
                </a:solidFill>
              </a:rPr>
              <a:t>• [3] Howard, A., et al. (2019). Searching for MobileNetV3. Proceedings of the IEEE/CVF ICCV 2019, 1314–1324.</a:t>
            </a:r>
          </a:p>
          <a:p>
            <a:pPr>
              <a:spcAft>
                <a:spcPts val="6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[4] Dosovitskiy, A., et al. (2020). An Image is Worth 16x16 Words:</a:t>
            </a:r>
            <a:r>
              <a:rPr b="0">
                <a:solidFill>
                  <a:srgbClr val="374151"/>
                </a:solidFill>
              </a:rPr>
              <a:t> Transformers for Image Recognition at Scale. ICLR 2021.</a:t>
            </a:r>
          </a:p>
          <a:p>
            <a:pPr>
              <a:spcAft>
                <a:spcPts val="600"/>
              </a:spcAft>
              <a:defRPr sz="950">
                <a:latin typeface="Aptos"/>
              </a:defRPr>
            </a:pPr>
            <a:r>
              <a:rPr b="1">
                <a:solidFill>
                  <a:srgbClr val="111827"/>
                </a:solidFill>
              </a:rPr>
              <a:t>• [5] Selvaraju, R. R., et al. (2017). Grad-CAM:</a:t>
            </a:r>
            <a:r>
              <a:rPr b="0">
                <a:solidFill>
                  <a:srgbClr val="374151"/>
                </a:solidFill>
              </a:rPr>
              <a:t> Visual Explanations from Deep Networks. IEEE ICCV 2017, 618–626.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9764</Words>
  <Application>Microsoft Office PowerPoint</Application>
  <PresentationFormat>Widescreen</PresentationFormat>
  <Paragraphs>1032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ALLAMPATI CHENCHU SANHITHA REDDY-[CB.SC.U4CSE23206]</cp:lastModifiedBy>
  <cp:revision>2</cp:revision>
  <dcterms:created xsi:type="dcterms:W3CDTF">2013-01-27T09:14:16Z</dcterms:created>
  <dcterms:modified xsi:type="dcterms:W3CDTF">2026-10-15T17:02:51Z</dcterms:modified>
  <cp:category/>
</cp:coreProperties>
</file>