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image" Target="../media/image5.jpg"/><Relationship Id="rId5" Type="http://schemas.openxmlformats.org/officeDocument/2006/relationships/image" Target="../media/image6.jpg"/><Relationship Id="rId6" Type="http://schemas.openxmlformats.org/officeDocument/2006/relationships/image" Target="../media/image7.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DFBF7"/>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9601200" y="365760"/>
            <a:ext cx="2194560" cy="777240"/>
          </a:xfrm>
          <a:prstGeom prst="rect">
            <a:avLst/>
          </a:prstGeom>
        </p:spPr>
      </p:pic>
      <p:sp>
        <p:nvSpPr>
          <p:cNvPr id="3" name="TextBox 2"/>
          <p:cNvSpPr txBox="1"/>
          <p:nvPr/>
        </p:nvSpPr>
        <p:spPr>
          <a:xfrm>
            <a:off x="914400" y="731520"/>
            <a:ext cx="8229600" cy="365760"/>
          </a:xfrm>
          <a:prstGeom prst="rect">
            <a:avLst/>
          </a:prstGeom>
          <a:noFill/>
        </p:spPr>
        <p:txBody>
          <a:bodyPr wrap="square">
            <a:spAutoFit/>
          </a:bodyPr>
          <a:lstStyle/>
          <a:p>
            <a:pPr>
              <a:defRPr sz="1100" b="1">
                <a:solidFill>
                  <a:srgbClr val="B6114D"/>
                </a:solidFill>
                <a:latin typeface="Aptos"/>
              </a:defRPr>
            </a:pPr>
            <a:r>
              <a:t>23CSE473 — NEURAL NETWORKS AND DEEP LEARNING | SEMESTER VII</a:t>
            </a:r>
          </a:p>
        </p:txBody>
      </p:sp>
      <p:sp>
        <p:nvSpPr>
          <p:cNvPr id="4" name="TextBox 3"/>
          <p:cNvSpPr txBox="1"/>
          <p:nvPr/>
        </p:nvSpPr>
        <p:spPr>
          <a:xfrm>
            <a:off x="914400" y="1097280"/>
            <a:ext cx="10058400" cy="1371600"/>
          </a:xfrm>
          <a:prstGeom prst="rect">
            <a:avLst/>
          </a:prstGeom>
          <a:noFill/>
        </p:spPr>
        <p:txBody>
          <a:bodyPr wrap="square">
            <a:spAutoFit/>
          </a:bodyPr>
          <a:lstStyle/>
          <a:p>
            <a:pPr>
              <a:defRPr sz="3200" b="1">
                <a:solidFill>
                  <a:srgbClr val="111827"/>
                </a:solidFill>
                <a:latin typeface="Aptos"/>
              </a:defRPr>
            </a:pPr>
            <a:r>
              <a:t>MediPaw: Multi-Modal Veterinary Triage Pipeline</a:t>
            </a:r>
          </a:p>
          <a:p>
            <a:pPr>
              <a:spcBef>
                <a:spcPts val="600"/>
              </a:spcBef>
              <a:defRPr sz="1800">
                <a:solidFill>
                  <a:srgbClr val="800020"/>
                </a:solidFill>
                <a:latin typeface="Aptos"/>
              </a:defRPr>
            </a:pPr>
            <a:r>
              <a:t>Individual Review 2 — Computer Vision Pipelines: Eye CNN &amp; U-Net Wound Segmentation</a:t>
            </a:r>
          </a:p>
        </p:txBody>
      </p:sp>
      <p:sp>
        <p:nvSpPr>
          <p:cNvPr id="5" name="Rectangle 4"/>
          <p:cNvSpPr/>
          <p:nvPr/>
        </p:nvSpPr>
        <p:spPr>
          <a:xfrm>
            <a:off x="914400" y="2651760"/>
            <a:ext cx="10332720" cy="36576"/>
          </a:xfrm>
          <a:prstGeom prst="rect">
            <a:avLst/>
          </a:prstGeom>
          <a:solidFill>
            <a:srgbClr val="B611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400" y="2926080"/>
            <a:ext cx="4937760" cy="2560320"/>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4400" y="2926080"/>
            <a:ext cx="4937760" cy="73152"/>
          </a:xfrm>
          <a:prstGeom prst="rect">
            <a:avLst/>
          </a:prstGeom>
          <a:solidFill>
            <a:srgbClr val="B611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3154680"/>
            <a:ext cx="4480560" cy="2103120"/>
          </a:xfrm>
          <a:prstGeom prst="rect">
            <a:avLst/>
          </a:prstGeom>
          <a:noFill/>
        </p:spPr>
        <p:txBody>
          <a:bodyPr wrap="square">
            <a:spAutoFit/>
          </a:bodyPr>
          <a:lstStyle/>
          <a:p>
            <a:pPr>
              <a:spcAft>
                <a:spcPts val="800"/>
              </a:spcAft>
              <a:defRPr sz="1100" b="1">
                <a:solidFill>
                  <a:srgbClr val="B6114D"/>
                </a:solidFill>
                <a:latin typeface="Aptos"/>
              </a:defRPr>
            </a:pPr>
            <a:r>
              <a:t>PRESENTER &amp; CONTRIBUTION SCOPE</a:t>
            </a:r>
          </a:p>
          <a:p>
            <a:pPr>
              <a:spcAft>
                <a:spcPts val="400"/>
              </a:spcAft>
              <a:defRPr sz="1050">
                <a:latin typeface="Aptos"/>
              </a:defRPr>
            </a:pPr>
            <a:r>
              <a:rPr b="1">
                <a:solidFill>
                  <a:srgbClr val="111827"/>
                </a:solidFill>
              </a:rPr>
              <a:t>• Student Name:</a:t>
            </a:r>
            <a:r>
              <a:rPr b="0">
                <a:solidFill>
                  <a:srgbClr val="374151"/>
                </a:solidFill>
              </a:rPr>
              <a:t> A.C. Sanhitha Reddy</a:t>
            </a:r>
          </a:p>
          <a:p>
            <a:pPr>
              <a:spcAft>
                <a:spcPts val="400"/>
              </a:spcAft>
              <a:defRPr sz="1050">
                <a:latin typeface="Aptos"/>
              </a:defRPr>
            </a:pPr>
            <a:r>
              <a:rPr b="1">
                <a:solidFill>
                  <a:srgbClr val="111827"/>
                </a:solidFill>
              </a:rPr>
              <a:t>• Roll Number:</a:t>
            </a:r>
            <a:r>
              <a:rPr b="0">
                <a:solidFill>
                  <a:srgbClr val="374151"/>
                </a:solidFill>
              </a:rPr>
              <a:t> CB.SC.U4CSE23206</a:t>
            </a:r>
          </a:p>
          <a:p>
            <a:pPr>
              <a:spcAft>
                <a:spcPts val="400"/>
              </a:spcAft>
              <a:defRPr sz="1050">
                <a:latin typeface="Aptos"/>
              </a:defRPr>
            </a:pPr>
            <a:r>
              <a:rPr b="1">
                <a:solidFill>
                  <a:srgbClr val="111827"/>
                </a:solidFill>
              </a:rPr>
              <a:t>• Program:</a:t>
            </a:r>
            <a:r>
              <a:rPr b="0">
                <a:solidFill>
                  <a:srgbClr val="374151"/>
                </a:solidFill>
              </a:rPr>
              <a:t> B.Tech Computer Science and Engineering</a:t>
            </a:r>
          </a:p>
          <a:p>
            <a:pPr>
              <a:spcAft>
                <a:spcPts val="400"/>
              </a:spcAft>
              <a:defRPr sz="1050">
                <a:latin typeface="Aptos"/>
              </a:defRPr>
            </a:pPr>
            <a:r>
              <a:rPr b="1">
                <a:solidFill>
                  <a:srgbClr val="111827"/>
                </a:solidFill>
              </a:rPr>
              <a:t>• Assigned Modules:</a:t>
            </a:r>
            <a:r>
              <a:rPr b="0">
                <a:solidFill>
                  <a:srgbClr val="374151"/>
                </a:solidFill>
              </a:rPr>
              <a:t> Ocular Pathology CNN (MobileNetV3) &amp; Trauma Lesion Segmentation (U-Net)</a:t>
            </a:r>
          </a:p>
          <a:p>
            <a:pPr>
              <a:spcAft>
                <a:spcPts val="400"/>
              </a:spcAft>
              <a:defRPr sz="1050">
                <a:latin typeface="Aptos"/>
              </a:defRPr>
            </a:pPr>
            <a:r>
              <a:rPr b="1">
                <a:solidFill>
                  <a:srgbClr val="111827"/>
                </a:solidFill>
              </a:rPr>
              <a:t>• System Integration:</a:t>
            </a:r>
            <a:r>
              <a:rPr b="0">
                <a:solidFill>
                  <a:srgbClr val="374151"/>
                </a:solidFill>
              </a:rPr>
              <a:t> YOLOv8-to-U-Net Two-Stage ROI Cascading &amp; FastAPI Backend</a:t>
            </a:r>
          </a:p>
        </p:txBody>
      </p:sp>
      <p:sp>
        <p:nvSpPr>
          <p:cNvPr id="9" name="Rectangle 8"/>
          <p:cNvSpPr/>
          <p:nvPr/>
        </p:nvSpPr>
        <p:spPr>
          <a:xfrm>
            <a:off x="6217920" y="2926080"/>
            <a:ext cx="5029200" cy="2560320"/>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2926080"/>
            <a:ext cx="5029200" cy="73152"/>
          </a:xfrm>
          <a:prstGeom prst="rect">
            <a:avLst/>
          </a:prstGeom>
          <a:solidFill>
            <a:srgbClr val="0860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3154680"/>
            <a:ext cx="4572000" cy="2103120"/>
          </a:xfrm>
          <a:prstGeom prst="rect">
            <a:avLst/>
          </a:prstGeom>
          <a:noFill/>
        </p:spPr>
        <p:txBody>
          <a:bodyPr wrap="square">
            <a:spAutoFit/>
          </a:bodyPr>
          <a:lstStyle/>
          <a:p>
            <a:pPr>
              <a:spcAft>
                <a:spcPts val="800"/>
              </a:spcAft>
              <a:defRPr sz="1100" b="1">
                <a:solidFill>
                  <a:srgbClr val="086072"/>
                </a:solidFill>
                <a:latin typeface="Aptos"/>
              </a:defRPr>
            </a:pPr>
            <a:r>
              <a:t>INSTITUTIONAL METADATA</a:t>
            </a:r>
          </a:p>
          <a:p>
            <a:pPr>
              <a:spcAft>
                <a:spcPts val="400"/>
              </a:spcAft>
              <a:defRPr sz="1050">
                <a:latin typeface="Aptos"/>
              </a:defRPr>
            </a:pPr>
            <a:r>
              <a:rPr b="1">
                <a:solidFill>
                  <a:srgbClr val="111827"/>
                </a:solidFill>
              </a:rPr>
              <a:t>• Institution:</a:t>
            </a:r>
            <a:r>
              <a:rPr b="0">
                <a:solidFill>
                  <a:srgbClr val="374151"/>
                </a:solidFill>
              </a:rPr>
              <a:t> Amrita School of Computing, Amrita Vishwa Vidyapeetham</a:t>
            </a:r>
          </a:p>
          <a:p>
            <a:pPr>
              <a:spcAft>
                <a:spcPts val="400"/>
              </a:spcAft>
              <a:defRPr sz="1050">
                <a:latin typeface="Aptos"/>
              </a:defRPr>
            </a:pPr>
            <a:r>
              <a:rPr b="1">
                <a:solidFill>
                  <a:srgbClr val="111827"/>
                </a:solidFill>
              </a:rPr>
              <a:t>• Course Faculty:</a:t>
            </a:r>
            <a:r>
              <a:rPr b="0">
                <a:solidFill>
                  <a:srgbClr val="374151"/>
                </a:solidFill>
              </a:rPr>
              <a:t> Dr. T. Senthil Kumar (Department of CSE)</a:t>
            </a:r>
          </a:p>
          <a:p>
            <a:pPr>
              <a:spcAft>
                <a:spcPts val="400"/>
              </a:spcAft>
              <a:defRPr sz="1050">
                <a:latin typeface="Aptos"/>
              </a:defRPr>
            </a:pPr>
            <a:r>
              <a:rPr b="1">
                <a:solidFill>
                  <a:srgbClr val="111827"/>
                </a:solidFill>
              </a:rPr>
              <a:t>• Evaluation Stage:</a:t>
            </a:r>
            <a:r>
              <a:rPr b="0">
                <a:solidFill>
                  <a:srgbClr val="374151"/>
                </a:solidFill>
              </a:rPr>
              <a:t> Review 2 (Technical Deep Dive, Implementation &amp; Empirical Validation)</a:t>
            </a:r>
          </a:p>
          <a:p>
            <a:pPr>
              <a:spcAft>
                <a:spcPts val="400"/>
              </a:spcAft>
              <a:defRPr sz="1050">
                <a:latin typeface="Aptos"/>
              </a:defRPr>
            </a:pPr>
            <a:r>
              <a:rPr b="1">
                <a:solidFill>
                  <a:srgbClr val="111827"/>
                </a:solidFill>
              </a:rPr>
              <a:t>• Project Tagline:</a:t>
            </a:r>
            <a:r>
              <a:rPr b="0">
                <a:solidFill>
                  <a:srgbClr val="374151"/>
                </a:solidFill>
              </a:rPr>
              <a:t> “every paw deserves a chance”</a:t>
            </a:r>
          </a:p>
          <a:p>
            <a:pPr>
              <a:spcAft>
                <a:spcPts val="400"/>
              </a:spcAft>
              <a:defRPr sz="1050">
                <a:latin typeface="Aptos"/>
              </a:defRPr>
            </a:pPr>
            <a:r>
              <a:rPr b="1">
                <a:solidFill>
                  <a:srgbClr val="111827"/>
                </a:solidFill>
              </a:rPr>
              <a:t>• Repository:</a:t>
            </a:r>
            <a:r>
              <a:rPr b="0">
                <a:solidFill>
                  <a:srgbClr val="374151"/>
                </a:solidFill>
              </a:rPr>
              <a:t> github.com/sanhithaac/MediPaw (Branch: main)</a:t>
            </a:r>
          </a:p>
        </p:txBody>
      </p:sp>
      <p:sp>
        <p:nvSpPr>
          <p:cNvPr id="12" name="TextBox 11"/>
          <p:cNvSpPr txBox="1"/>
          <p:nvPr/>
        </p:nvSpPr>
        <p:spPr>
          <a:xfrm>
            <a:off x="914400" y="5852160"/>
            <a:ext cx="10332720" cy="457200"/>
          </a:xfrm>
          <a:prstGeom prst="rect">
            <a:avLst/>
          </a:prstGeom>
          <a:noFill/>
        </p:spPr>
        <p:txBody>
          <a:bodyPr wrap="none">
            <a:spAutoFit/>
          </a:bodyPr>
          <a:lstStyle/>
          <a:p>
            <a:pPr>
              <a:defRPr sz="1000" b="1">
                <a:solidFill>
                  <a:srgbClr val="6B7280"/>
                </a:solidFill>
                <a:latin typeface="Aptos"/>
              </a:defRPr>
            </a:pPr>
            <a:r>
              <a:t>MediPaw — AI-Driven Clinical Decision Support Platform for Rescued &amp; Shelter Animals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9921240" y="201168"/>
            <a:ext cx="1965960" cy="685800"/>
          </a:xfrm>
          <a:prstGeom prst="rect">
            <a:avLst/>
          </a:prstGeom>
        </p:spPr>
      </p:pic>
      <p:sp>
        <p:nvSpPr>
          <p:cNvPr id="3" name="TextBox 2"/>
          <p:cNvSpPr txBox="1"/>
          <p:nvPr/>
        </p:nvSpPr>
        <p:spPr>
          <a:xfrm>
            <a:off x="731520" y="320040"/>
            <a:ext cx="8961120" cy="777240"/>
          </a:xfrm>
          <a:prstGeom prst="rect">
            <a:avLst/>
          </a:prstGeom>
          <a:noFill/>
        </p:spPr>
        <p:txBody>
          <a:bodyPr wrap="square" lIns="0" tIns="0" rIns="0" bIns="0">
            <a:spAutoFit/>
          </a:bodyPr>
          <a:lstStyle/>
          <a:p>
            <a:pPr>
              <a:spcAft>
                <a:spcPts val="200"/>
              </a:spcAft>
              <a:defRPr sz="950" b="1">
                <a:solidFill>
                  <a:srgbClr val="B6114D"/>
                </a:solidFill>
                <a:latin typeface="Aptos"/>
              </a:defRPr>
            </a:pPr>
            <a:r>
              <a:t>SECTION A: INTRODUCTION &amp; SCOPE</a:t>
            </a:r>
          </a:p>
          <a:p>
            <a:pPr>
              <a:defRPr sz="2100" b="1">
                <a:solidFill>
                  <a:srgbClr val="111827"/>
                </a:solidFill>
                <a:latin typeface="Aptos"/>
              </a:defRPr>
            </a:pPr>
            <a:r>
              <a:t>Review 2 Objectives and Technical Scope</a:t>
            </a:r>
          </a:p>
        </p:txBody>
      </p:sp>
      <p:sp>
        <p:nvSpPr>
          <p:cNvPr id="4" name="Rectangle 3"/>
          <p:cNvSpPr/>
          <p:nvPr/>
        </p:nvSpPr>
        <p:spPr>
          <a:xfrm>
            <a:off x="731520" y="1170432"/>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161288"/>
            <a:ext cx="1097280" cy="32004"/>
          </a:xfrm>
          <a:prstGeom prst="rect">
            <a:avLst/>
          </a:prstGeom>
          <a:solidFill>
            <a:srgbClr val="B6114D"/>
          </a:solidFill>
          <a:ln>
            <a:solidFill>
              <a:srgbClr val="B611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09360"/>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55080"/>
            <a:ext cx="4572000" cy="320040"/>
          </a:xfrm>
          <a:prstGeom prst="rect">
            <a:avLst/>
          </a:prstGeom>
          <a:noFill/>
        </p:spPr>
        <p:txBody>
          <a:bodyPr wrap="none" lIns="0" tIns="0" rIns="0" bIns="0">
            <a:spAutoFit/>
          </a:bodyPr>
          <a:lstStyle/>
          <a:p>
            <a:pPr>
              <a:defRPr sz="900">
                <a:solidFill>
                  <a:srgbClr val="6B7280"/>
                </a:solidFill>
                <a:latin typeface="Aptos"/>
              </a:defRPr>
            </a:pPr>
            <a:r>
              <a:t>MediPaw — every paw deserves a chance</a:t>
            </a:r>
          </a:p>
        </p:txBody>
      </p:sp>
      <p:sp>
        <p:nvSpPr>
          <p:cNvPr id="8" name="TextBox 7"/>
          <p:cNvSpPr txBox="1"/>
          <p:nvPr/>
        </p:nvSpPr>
        <p:spPr>
          <a:xfrm>
            <a:off x="4572000" y="6355080"/>
            <a:ext cx="4114800" cy="320040"/>
          </a:xfrm>
          <a:prstGeom prst="rect">
            <a:avLst/>
          </a:prstGeom>
          <a:noFill/>
        </p:spPr>
        <p:txBody>
          <a:bodyPr wrap="none" lIns="0" tIns="0" rIns="0" bIns="0">
            <a:spAutoFit/>
          </a:bodyPr>
          <a:lstStyle/>
          <a:p>
            <a:pPr algn="ctr">
              <a:defRPr sz="900">
                <a:solidFill>
                  <a:srgbClr val="6B7280"/>
                </a:solidFill>
                <a:latin typeface="Aptos"/>
              </a:defRPr>
            </a:pPr>
            <a:r>
              <a:t>A.C. Sanhitha Reddy (CB.SC.U4CSE23206) | 23CSE473 Review 2</a:t>
            </a:r>
          </a:p>
        </p:txBody>
      </p:sp>
      <p:sp>
        <p:nvSpPr>
          <p:cNvPr id="9" name="TextBox 8"/>
          <p:cNvSpPr txBox="1"/>
          <p:nvPr/>
        </p:nvSpPr>
        <p:spPr>
          <a:xfrm>
            <a:off x="9601200" y="6355080"/>
            <a:ext cx="1828800" cy="320040"/>
          </a:xfrm>
          <a:prstGeom prst="rect">
            <a:avLst/>
          </a:prstGeom>
          <a:noFill/>
        </p:spPr>
        <p:txBody>
          <a:bodyPr wrap="none" lIns="0" tIns="0" rIns="0" bIns="0">
            <a:spAutoFit/>
          </a:bodyPr>
          <a:lstStyle/>
          <a:p>
            <a:pPr algn="r">
              <a:defRPr sz="900" b="1">
                <a:solidFill>
                  <a:srgbClr val="B6114D"/>
                </a:solidFill>
                <a:latin typeface="Aptos"/>
              </a:defRPr>
            </a:pPr>
            <a:r>
              <a:t>Slide 2 of 44</a:t>
            </a:r>
          </a:p>
        </p:txBody>
      </p:sp>
      <p:sp>
        <p:nvSpPr>
          <p:cNvPr id="10" name="Rectangle 9"/>
          <p:cNvSpPr/>
          <p:nvPr/>
        </p:nvSpPr>
        <p:spPr>
          <a:xfrm>
            <a:off x="731520" y="1371600"/>
            <a:ext cx="5212080" cy="4663440"/>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1371600"/>
            <a:ext cx="5212080" cy="54864"/>
          </a:xfrm>
          <a:prstGeom prst="rect">
            <a:avLst/>
          </a:prstGeom>
          <a:solidFill>
            <a:srgbClr val="B611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1554480"/>
            <a:ext cx="4846320" cy="4297680"/>
          </a:xfrm>
          <a:prstGeom prst="rect">
            <a:avLst/>
          </a:prstGeom>
          <a:noFill/>
        </p:spPr>
        <p:txBody>
          <a:bodyPr wrap="square">
            <a:spAutoFit/>
          </a:bodyPr>
          <a:lstStyle/>
          <a:p>
            <a:pPr>
              <a:spcAft>
                <a:spcPts val="800"/>
              </a:spcAft>
              <a:defRPr sz="1300" b="1">
                <a:solidFill>
                  <a:srgbClr val="B6114D"/>
                </a:solidFill>
                <a:latin typeface="Aptos"/>
              </a:defRPr>
            </a:pPr>
            <a:r>
              <a:t>INDIVIDUAL OBJECTIVES (SANHITHA REDDY)</a:t>
            </a:r>
          </a:p>
          <a:p>
            <a:pPr>
              <a:spcAft>
                <a:spcPts val="800"/>
              </a:spcAft>
              <a:defRPr sz="1100">
                <a:latin typeface="Aptos"/>
              </a:defRPr>
            </a:pPr>
            <a:r>
              <a:rPr b="1">
                <a:solidFill>
                  <a:srgbClr val="111827"/>
                </a:solidFill>
              </a:rPr>
              <a:t>• Eye Pathology CNN Architecture:</a:t>
            </a:r>
            <a:r>
              <a:rPr b="0">
                <a:solidFill>
                  <a:srgbClr val="374151"/>
                </a:solidFill>
              </a:rPr>
              <a:t> Implementation and training of an ultra-lightweight MobileNetV3-Small classifier for canine ocular disease triage.</a:t>
            </a:r>
          </a:p>
          <a:p>
            <a:pPr>
              <a:spcAft>
                <a:spcPts val="800"/>
              </a:spcAft>
              <a:defRPr sz="1100">
                <a:latin typeface="Aptos"/>
              </a:defRPr>
            </a:pPr>
            <a:r>
              <a:rPr b="1">
                <a:solidFill>
                  <a:srgbClr val="111827"/>
                </a:solidFill>
              </a:rPr>
              <a:t>• Ocular Classification Targets:</a:t>
            </a:r>
            <a:r>
              <a:rPr b="0">
                <a:solidFill>
                  <a:srgbClr val="374151"/>
                </a:solidFill>
              </a:rPr>
              <a:t> Accurate discrimination among Conjunctivitis, Entropion, Eyelid Lump, and Healthy eyes.</a:t>
            </a:r>
          </a:p>
          <a:p>
            <a:pPr>
              <a:spcAft>
                <a:spcPts val="800"/>
              </a:spcAft>
              <a:defRPr sz="1100">
                <a:latin typeface="Aptos"/>
              </a:defRPr>
            </a:pPr>
            <a:r>
              <a:rPr b="1">
                <a:solidFill>
                  <a:srgbClr val="111827"/>
                </a:solidFill>
              </a:rPr>
              <a:t>• Trauma Lesion Segmentation:</a:t>
            </a:r>
            <a:r>
              <a:rPr b="0">
                <a:solidFill>
                  <a:srgbClr val="374151"/>
                </a:solidFill>
              </a:rPr>
              <a:t> Design and realization of a symmetric 4-stage U-Net architecture for wound surface area delineation.</a:t>
            </a:r>
          </a:p>
          <a:p>
            <a:pPr>
              <a:spcAft>
                <a:spcPts val="800"/>
              </a:spcAft>
              <a:defRPr sz="1100">
                <a:latin typeface="Aptos"/>
              </a:defRPr>
            </a:pPr>
            <a:r>
              <a:rPr b="1">
                <a:solidFill>
                  <a:srgbClr val="111827"/>
                </a:solidFill>
              </a:rPr>
              <a:t>• Two-Stage YOLOv8-to-U-Net Cascade:</a:t>
            </a:r>
            <a:r>
              <a:rPr b="0">
                <a:solidFill>
                  <a:srgbClr val="374151"/>
                </a:solidFill>
              </a:rPr>
              <a:t> Seamless cascading where YOLOv8 localizes candidate wounds and U-Net performs pixel-level boundary refinement.</a:t>
            </a:r>
          </a:p>
          <a:p>
            <a:pPr>
              <a:spcAft>
                <a:spcPts val="800"/>
              </a:spcAft>
              <a:defRPr sz="1100">
                <a:latin typeface="Aptos"/>
              </a:defRPr>
            </a:pPr>
            <a:r>
              <a:rPr b="1">
                <a:solidFill>
                  <a:srgbClr val="111827"/>
                </a:solidFill>
              </a:rPr>
              <a:t>• Empirical Validation:</a:t>
            </a:r>
            <a:r>
              <a:rPr b="0">
                <a:solidFill>
                  <a:srgbClr val="374151"/>
                </a:solidFill>
              </a:rPr>
              <a:t> Verification of held-out test metrics (82.95% accuracy on Eye CNN), Grad-CAM saliency localization, and loss convergence.</a:t>
            </a:r>
          </a:p>
        </p:txBody>
      </p:sp>
      <p:sp>
        <p:nvSpPr>
          <p:cNvPr id="13" name="Rectangle 12"/>
          <p:cNvSpPr/>
          <p:nvPr/>
        </p:nvSpPr>
        <p:spPr>
          <a:xfrm>
            <a:off x="6217920" y="1371600"/>
            <a:ext cx="5212080" cy="4663440"/>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71600"/>
            <a:ext cx="5212080" cy="54864"/>
          </a:xfrm>
          <a:prstGeom prst="rect">
            <a:avLst/>
          </a:prstGeom>
          <a:solidFill>
            <a:srgbClr val="0860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554480"/>
            <a:ext cx="4846320" cy="4297680"/>
          </a:xfrm>
          <a:prstGeom prst="rect">
            <a:avLst/>
          </a:prstGeom>
          <a:noFill/>
        </p:spPr>
        <p:txBody>
          <a:bodyPr wrap="square">
            <a:spAutoFit/>
          </a:bodyPr>
          <a:lstStyle/>
          <a:p>
            <a:pPr>
              <a:spcAft>
                <a:spcPts val="800"/>
              </a:spcAft>
              <a:defRPr sz="1300" b="1">
                <a:solidFill>
                  <a:srgbClr val="086072"/>
                </a:solidFill>
                <a:latin typeface="Aptos"/>
              </a:defRPr>
            </a:pPr>
            <a:r>
              <a:t>TECHNICAL VERIFICATION MATRIX</a:t>
            </a:r>
          </a:p>
          <a:p>
            <a:pPr>
              <a:spcAft>
                <a:spcPts val="800"/>
              </a:spcAft>
              <a:defRPr sz="1100">
                <a:latin typeface="Aptos"/>
              </a:defRPr>
            </a:pPr>
            <a:r>
              <a:rPr b="1">
                <a:solidFill>
                  <a:srgbClr val="111827"/>
                </a:solidFill>
              </a:rPr>
              <a:t>• Code Artifacts:</a:t>
            </a:r>
            <a:r>
              <a:rPr b="0">
                <a:solidFill>
                  <a:srgbClr val="374151"/>
                </a:solidFill>
              </a:rPr>
              <a:t> Modularized implementations in eyecnn/model.py, unet/model.py, and unet/two_stage_pipeline.py.</a:t>
            </a:r>
          </a:p>
          <a:p>
            <a:pPr>
              <a:spcAft>
                <a:spcPts val="800"/>
              </a:spcAft>
              <a:defRPr sz="1100">
                <a:latin typeface="Aptos"/>
              </a:defRPr>
            </a:pPr>
            <a:r>
              <a:rPr b="1">
                <a:solidFill>
                  <a:srgbClr val="111827"/>
                </a:solidFill>
              </a:rPr>
              <a:t>• Dataset Integrity:</a:t>
            </a:r>
            <a:r>
              <a:rPr b="0">
                <a:solidFill>
                  <a:srgbClr val="374151"/>
                </a:solidFill>
              </a:rPr>
              <a:t> Preprocessing 1,760 ocular images into 224x224 crops; class balancing via dynamic frequency weighting.</a:t>
            </a:r>
          </a:p>
          <a:p>
            <a:pPr>
              <a:spcAft>
                <a:spcPts val="800"/>
              </a:spcAft>
              <a:defRPr sz="1100">
                <a:latin typeface="Aptos"/>
              </a:defRPr>
            </a:pPr>
            <a:r>
              <a:rPr b="1">
                <a:solidFill>
                  <a:srgbClr val="111827"/>
                </a:solidFill>
              </a:rPr>
              <a:t>• Annotation Reality:</a:t>
            </a:r>
            <a:r>
              <a:rPr b="0">
                <a:solidFill>
                  <a:srgbClr val="374151"/>
                </a:solidFill>
              </a:rPr>
              <a:t> Honest documentation of canine wound bounding-box annotations vs. true polygon masks in skincnn/yolo_canine_wounds/.</a:t>
            </a:r>
          </a:p>
          <a:p>
            <a:pPr>
              <a:spcAft>
                <a:spcPts val="800"/>
              </a:spcAft>
              <a:defRPr sz="1100">
                <a:latin typeface="Aptos"/>
              </a:defRPr>
            </a:pPr>
            <a:r>
              <a:rPr b="1">
                <a:solidFill>
                  <a:srgbClr val="111827"/>
                </a:solidFill>
              </a:rPr>
              <a:t>• Backend APIs:</a:t>
            </a:r>
            <a:r>
              <a:rPr b="0">
                <a:solidFill>
                  <a:srgbClr val="374151"/>
                </a:solidFill>
              </a:rPr>
              <a:t> High-performance inference endpoints predict_eye() and segment_wounds() integrated into FastAPI.</a:t>
            </a:r>
          </a:p>
          <a:p>
            <a:pPr>
              <a:spcAft>
                <a:spcPts val="800"/>
              </a:spcAft>
              <a:defRPr sz="1100">
                <a:latin typeface="Aptos"/>
              </a:defRPr>
            </a:pPr>
            <a:r>
              <a:rPr b="1">
                <a:solidFill>
                  <a:srgbClr val="111827"/>
                </a:solidFill>
              </a:rPr>
              <a:t>• Software Verification:</a:t>
            </a:r>
            <a:r>
              <a:rPr b="0">
                <a:solidFill>
                  <a:srgbClr val="374151"/>
                </a:solidFill>
              </a:rPr>
              <a:t> Automated unit and integration testing suite achieving 100% test pass rate across all edge cases.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9921240" y="201168"/>
            <a:ext cx="1965960" cy="685800"/>
          </a:xfrm>
          <a:prstGeom prst="rect">
            <a:avLst/>
          </a:prstGeom>
        </p:spPr>
      </p:pic>
      <p:sp>
        <p:nvSpPr>
          <p:cNvPr id="3" name="TextBox 2"/>
          <p:cNvSpPr txBox="1"/>
          <p:nvPr/>
        </p:nvSpPr>
        <p:spPr>
          <a:xfrm>
            <a:off x="731520" y="320040"/>
            <a:ext cx="8961120" cy="777240"/>
          </a:xfrm>
          <a:prstGeom prst="rect">
            <a:avLst/>
          </a:prstGeom>
          <a:noFill/>
        </p:spPr>
        <p:txBody>
          <a:bodyPr wrap="square" lIns="0" tIns="0" rIns="0" bIns="0">
            <a:spAutoFit/>
          </a:bodyPr>
          <a:lstStyle/>
          <a:p>
            <a:pPr>
              <a:spcAft>
                <a:spcPts val="200"/>
              </a:spcAft>
              <a:defRPr sz="950" b="1">
                <a:solidFill>
                  <a:srgbClr val="B6114D"/>
                </a:solidFill>
                <a:latin typeface="Aptos"/>
              </a:defRPr>
            </a:pPr>
            <a:r>
              <a:t>SECTION A: INTRODUCTION &amp; SCOPE</a:t>
            </a:r>
          </a:p>
          <a:p>
            <a:pPr>
              <a:defRPr sz="2100" b="1">
                <a:solidFill>
                  <a:srgbClr val="111827"/>
                </a:solidFill>
                <a:latin typeface="Aptos"/>
              </a:defRPr>
            </a:pPr>
            <a:r>
              <a:t>MediPaw Project Overview &amp; Clinical Vision</a:t>
            </a:r>
          </a:p>
        </p:txBody>
      </p:sp>
      <p:sp>
        <p:nvSpPr>
          <p:cNvPr id="4" name="Rectangle 3"/>
          <p:cNvSpPr/>
          <p:nvPr/>
        </p:nvSpPr>
        <p:spPr>
          <a:xfrm>
            <a:off x="731520" y="1170432"/>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161288"/>
            <a:ext cx="1097280" cy="32004"/>
          </a:xfrm>
          <a:prstGeom prst="rect">
            <a:avLst/>
          </a:prstGeom>
          <a:solidFill>
            <a:srgbClr val="B6114D"/>
          </a:solidFill>
          <a:ln>
            <a:solidFill>
              <a:srgbClr val="B611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09360"/>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55080"/>
            <a:ext cx="4572000" cy="320040"/>
          </a:xfrm>
          <a:prstGeom prst="rect">
            <a:avLst/>
          </a:prstGeom>
          <a:noFill/>
        </p:spPr>
        <p:txBody>
          <a:bodyPr wrap="none" lIns="0" tIns="0" rIns="0" bIns="0">
            <a:spAutoFit/>
          </a:bodyPr>
          <a:lstStyle/>
          <a:p>
            <a:pPr>
              <a:defRPr sz="900">
                <a:solidFill>
                  <a:srgbClr val="6B7280"/>
                </a:solidFill>
                <a:latin typeface="Aptos"/>
              </a:defRPr>
            </a:pPr>
            <a:r>
              <a:t>MediPaw — every paw deserves a chance</a:t>
            </a:r>
          </a:p>
        </p:txBody>
      </p:sp>
      <p:sp>
        <p:nvSpPr>
          <p:cNvPr id="8" name="TextBox 7"/>
          <p:cNvSpPr txBox="1"/>
          <p:nvPr/>
        </p:nvSpPr>
        <p:spPr>
          <a:xfrm>
            <a:off x="4572000" y="6355080"/>
            <a:ext cx="4114800" cy="320040"/>
          </a:xfrm>
          <a:prstGeom prst="rect">
            <a:avLst/>
          </a:prstGeom>
          <a:noFill/>
        </p:spPr>
        <p:txBody>
          <a:bodyPr wrap="none" lIns="0" tIns="0" rIns="0" bIns="0">
            <a:spAutoFit/>
          </a:bodyPr>
          <a:lstStyle/>
          <a:p>
            <a:pPr algn="ctr">
              <a:defRPr sz="900">
                <a:solidFill>
                  <a:srgbClr val="6B7280"/>
                </a:solidFill>
                <a:latin typeface="Aptos"/>
              </a:defRPr>
            </a:pPr>
            <a:r>
              <a:t>A.C. Sanhitha Reddy (CB.SC.U4CSE23206) | 23CSE473 Review 2</a:t>
            </a:r>
          </a:p>
        </p:txBody>
      </p:sp>
      <p:sp>
        <p:nvSpPr>
          <p:cNvPr id="9" name="TextBox 8"/>
          <p:cNvSpPr txBox="1"/>
          <p:nvPr/>
        </p:nvSpPr>
        <p:spPr>
          <a:xfrm>
            <a:off x="9601200" y="6355080"/>
            <a:ext cx="1828800" cy="320040"/>
          </a:xfrm>
          <a:prstGeom prst="rect">
            <a:avLst/>
          </a:prstGeom>
          <a:noFill/>
        </p:spPr>
        <p:txBody>
          <a:bodyPr wrap="none" lIns="0" tIns="0" rIns="0" bIns="0">
            <a:spAutoFit/>
          </a:bodyPr>
          <a:lstStyle/>
          <a:p>
            <a:pPr algn="r">
              <a:defRPr sz="900" b="1">
                <a:solidFill>
                  <a:srgbClr val="B6114D"/>
                </a:solidFill>
                <a:latin typeface="Aptos"/>
              </a:defRPr>
            </a:pPr>
            <a:r>
              <a:t>Slide 3 of 44</a:t>
            </a:r>
          </a:p>
        </p:txBody>
      </p:sp>
      <p:sp>
        <p:nvSpPr>
          <p:cNvPr id="10" name="Rectangle 9"/>
          <p:cNvSpPr/>
          <p:nvPr/>
        </p:nvSpPr>
        <p:spPr>
          <a:xfrm>
            <a:off x="731520" y="1371600"/>
            <a:ext cx="10698480" cy="1005840"/>
          </a:xfrm>
          <a:prstGeom prst="rect">
            <a:avLst/>
          </a:prstGeom>
          <a:solidFill>
            <a:srgbClr val="FDF2F4"/>
          </a:solidFill>
          <a:ln w="12700">
            <a:solidFill>
              <a:srgbClr val="F4C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1371600"/>
            <a:ext cx="73152" cy="1005840"/>
          </a:xfrm>
          <a:prstGeom prst="rect">
            <a:avLst/>
          </a:prstGeom>
          <a:solidFill>
            <a:srgbClr val="B611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1481328"/>
            <a:ext cx="10378440" cy="786384"/>
          </a:xfrm>
          <a:prstGeom prst="rect">
            <a:avLst/>
          </a:prstGeom>
          <a:noFill/>
        </p:spPr>
        <p:txBody>
          <a:bodyPr wrap="square" lIns="0" tIns="0" rIns="0" bIns="0">
            <a:spAutoFit/>
          </a:bodyPr>
          <a:lstStyle/>
          <a:p>
            <a:pPr>
              <a:spcAft>
                <a:spcPts val="300"/>
              </a:spcAft>
              <a:defRPr sz="1150" b="1">
                <a:solidFill>
                  <a:srgbClr val="B6114D"/>
                </a:solidFill>
                <a:latin typeface="Aptos"/>
              </a:defRPr>
            </a:pPr>
            <a:r>
              <a:t>CORE SYSTEM VISION: AI-ASSISTED VETERINARY TRIAGE</a:t>
            </a:r>
          </a:p>
          <a:p>
            <a:pPr>
              <a:defRPr sz="1050">
                <a:solidFill>
                  <a:srgbClr val="374151"/>
                </a:solidFill>
                <a:latin typeface="Aptos"/>
              </a:defRPr>
            </a:pPr>
            <a:r>
              <a:t>Animal shelters and mobile rescue organizations admit large volumes of abandoned and injured animals daily. MediPaw is an end-to-end multi-modal veterinary decision-support system that processes ocular, dermatological, radiographic, and traumatic lesion images to output localized clinical findings and automated triage urgency scores.</a:t>
            </a:r>
          </a:p>
        </p:txBody>
      </p:sp>
      <p:sp>
        <p:nvSpPr>
          <p:cNvPr id="13" name="Rectangle 12"/>
          <p:cNvSpPr/>
          <p:nvPr/>
        </p:nvSpPr>
        <p:spPr>
          <a:xfrm>
            <a:off x="731520" y="2560320"/>
            <a:ext cx="3383280" cy="3474720"/>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2560320"/>
            <a:ext cx="3383280" cy="73152"/>
          </a:xfrm>
          <a:prstGeom prst="rect">
            <a:avLst/>
          </a:prstGeom>
          <a:solidFill>
            <a:srgbClr val="B611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788920"/>
            <a:ext cx="3017520" cy="3017520"/>
          </a:xfrm>
          <a:prstGeom prst="rect">
            <a:avLst/>
          </a:prstGeom>
          <a:noFill/>
        </p:spPr>
        <p:txBody>
          <a:bodyPr wrap="square">
            <a:spAutoFit/>
          </a:bodyPr>
          <a:lstStyle/>
          <a:p>
            <a:pPr>
              <a:defRPr sz="1300" b="1">
                <a:solidFill>
                  <a:srgbClr val="B6114D"/>
                </a:solidFill>
                <a:latin typeface="Aptos"/>
              </a:defRPr>
            </a:pPr>
            <a:r>
              <a:t>Ocular &amp; Facial Health</a:t>
            </a:r>
          </a:p>
          <a:p>
            <a:pPr>
              <a:spcAft>
                <a:spcPts val="800"/>
              </a:spcAft>
              <a:defRPr sz="1000" b="1">
                <a:solidFill>
                  <a:srgbClr val="6B7280"/>
                </a:solidFill>
                <a:latin typeface="Aptos"/>
              </a:defRPr>
            </a:pPr>
            <a:r>
              <a:t>Module: Eye CNN</a:t>
            </a:r>
          </a:p>
          <a:p>
            <a:pPr>
              <a:spcAft>
                <a:spcPts val="1000"/>
              </a:spcAft>
              <a:defRPr sz="1050">
                <a:solidFill>
                  <a:srgbClr val="374151"/>
                </a:solidFill>
                <a:latin typeface="Aptos"/>
              </a:defRPr>
            </a:pPr>
            <a:r>
              <a:t>Early detection of painful corneal, eyelid, and conjunctival diseases to prevent permanent blindness.</a:t>
            </a:r>
          </a:p>
          <a:p>
            <a:pPr>
              <a:defRPr sz="1000" b="1">
                <a:solidFill>
                  <a:srgbClr val="111827"/>
                </a:solidFill>
                <a:latin typeface="Aptos"/>
              </a:defRPr>
            </a:pPr>
            <a:r>
              <a:t>Key Contributions:</a:t>
            </a:r>
          </a:p>
          <a:p>
            <a:pPr>
              <a:spcAft>
                <a:spcPts val="300"/>
              </a:spcAft>
              <a:defRPr sz="950">
                <a:latin typeface="Aptos"/>
              </a:defRPr>
            </a:pPr>
            <a:r>
              <a:rPr b="0">
                <a:solidFill>
                  <a:srgbClr val="374151"/>
                </a:solidFill>
              </a:rPr>
              <a:t>• 576-dim feature extraction</a:t>
            </a:r>
          </a:p>
          <a:p>
            <a:pPr>
              <a:spcAft>
                <a:spcPts val="300"/>
              </a:spcAft>
              <a:defRPr sz="950">
                <a:latin typeface="Aptos"/>
              </a:defRPr>
            </a:pPr>
            <a:r>
              <a:rPr b="0">
                <a:solidFill>
                  <a:srgbClr val="374151"/>
                </a:solidFill>
              </a:rPr>
              <a:t>• 82.95% accuracy on 4 classes</a:t>
            </a:r>
          </a:p>
          <a:p>
            <a:pPr>
              <a:spcAft>
                <a:spcPts val="300"/>
              </a:spcAft>
              <a:defRPr sz="950">
                <a:latin typeface="Aptos"/>
              </a:defRPr>
            </a:pPr>
            <a:r>
              <a:rPr b="0">
                <a:solidFill>
                  <a:srgbClr val="374151"/>
                </a:solidFill>
              </a:rPr>
              <a:t>• Grad-CAM spatial localization</a:t>
            </a:r>
          </a:p>
        </p:txBody>
      </p:sp>
      <p:sp>
        <p:nvSpPr>
          <p:cNvPr id="16" name="Rectangle 15"/>
          <p:cNvSpPr/>
          <p:nvPr/>
        </p:nvSpPr>
        <p:spPr>
          <a:xfrm>
            <a:off x="4389120" y="2560320"/>
            <a:ext cx="3383280" cy="3474720"/>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89120" y="2560320"/>
            <a:ext cx="3383280" cy="73152"/>
          </a:xfrm>
          <a:prstGeom prst="rect">
            <a:avLst/>
          </a:prstGeom>
          <a:solidFill>
            <a:srgbClr val="0860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2788920"/>
            <a:ext cx="3017520" cy="3017520"/>
          </a:xfrm>
          <a:prstGeom prst="rect">
            <a:avLst/>
          </a:prstGeom>
          <a:noFill/>
        </p:spPr>
        <p:txBody>
          <a:bodyPr wrap="square">
            <a:spAutoFit/>
          </a:bodyPr>
          <a:lstStyle/>
          <a:p>
            <a:pPr>
              <a:defRPr sz="1300" b="1">
                <a:solidFill>
                  <a:srgbClr val="086072"/>
                </a:solidFill>
                <a:latin typeface="Aptos"/>
              </a:defRPr>
            </a:pPr>
            <a:r>
              <a:t>Integumentary &amp; Trauma</a:t>
            </a:r>
          </a:p>
          <a:p>
            <a:pPr>
              <a:spcAft>
                <a:spcPts val="800"/>
              </a:spcAft>
              <a:defRPr sz="1000" b="1">
                <a:solidFill>
                  <a:srgbClr val="6B7280"/>
                </a:solidFill>
                <a:latin typeface="Aptos"/>
              </a:defRPr>
            </a:pPr>
            <a:r>
              <a:t>Module: YOLOv8 + U-Net</a:t>
            </a:r>
          </a:p>
          <a:p>
            <a:pPr>
              <a:spcAft>
                <a:spcPts val="1000"/>
              </a:spcAft>
              <a:defRPr sz="1050">
                <a:solidFill>
                  <a:srgbClr val="374151"/>
                </a:solidFill>
                <a:latin typeface="Aptos"/>
              </a:defRPr>
            </a:pPr>
            <a:r>
              <a:t>Rapid identification of parasite bites, lacerations, and surgical wounds with area quantification.</a:t>
            </a:r>
          </a:p>
          <a:p>
            <a:pPr>
              <a:defRPr sz="1000" b="1">
                <a:solidFill>
                  <a:srgbClr val="111827"/>
                </a:solidFill>
                <a:latin typeface="Aptos"/>
              </a:defRPr>
            </a:pPr>
            <a:r>
              <a:t>Key Contributions:</a:t>
            </a:r>
          </a:p>
          <a:p>
            <a:pPr>
              <a:spcAft>
                <a:spcPts val="300"/>
              </a:spcAft>
              <a:defRPr sz="950">
                <a:latin typeface="Aptos"/>
              </a:defRPr>
            </a:pPr>
            <a:r>
              <a:rPr b="0">
                <a:solidFill>
                  <a:srgbClr val="374151"/>
                </a:solidFill>
              </a:rPr>
              <a:t>• YOLOv8 wound localization</a:t>
            </a:r>
          </a:p>
          <a:p>
            <a:pPr>
              <a:spcAft>
                <a:spcPts val="300"/>
              </a:spcAft>
              <a:defRPr sz="950">
                <a:latin typeface="Aptos"/>
              </a:defRPr>
            </a:pPr>
            <a:r>
              <a:rPr b="0">
                <a:solidFill>
                  <a:srgbClr val="374151"/>
                </a:solidFill>
              </a:rPr>
              <a:t>• 4-stage U-Net mask prediction</a:t>
            </a:r>
          </a:p>
          <a:p>
            <a:pPr>
              <a:spcAft>
                <a:spcPts val="300"/>
              </a:spcAft>
              <a:defRPr sz="950">
                <a:latin typeface="Aptos"/>
              </a:defRPr>
            </a:pPr>
            <a:r>
              <a:rPr b="0">
                <a:solidFill>
                  <a:srgbClr val="374151"/>
                </a:solidFill>
              </a:rPr>
              <a:t>• Surface area estimation</a:t>
            </a:r>
          </a:p>
        </p:txBody>
      </p:sp>
      <p:sp>
        <p:nvSpPr>
          <p:cNvPr id="19" name="Rectangle 18"/>
          <p:cNvSpPr/>
          <p:nvPr/>
        </p:nvSpPr>
        <p:spPr>
          <a:xfrm>
            <a:off x="8046720" y="2560320"/>
            <a:ext cx="3383280" cy="3474720"/>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6720" y="2560320"/>
            <a:ext cx="3383280" cy="73152"/>
          </a:xfrm>
          <a:prstGeom prst="rect">
            <a:avLst/>
          </a:prstGeom>
          <a:solidFill>
            <a:srgbClr val="8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0" y="2788920"/>
            <a:ext cx="3017520" cy="3017520"/>
          </a:xfrm>
          <a:prstGeom prst="rect">
            <a:avLst/>
          </a:prstGeom>
          <a:noFill/>
        </p:spPr>
        <p:txBody>
          <a:bodyPr wrap="square">
            <a:spAutoFit/>
          </a:bodyPr>
          <a:lstStyle/>
          <a:p>
            <a:pPr>
              <a:defRPr sz="1300" b="1">
                <a:solidFill>
                  <a:srgbClr val="800020"/>
                </a:solidFill>
                <a:latin typeface="Aptos"/>
              </a:defRPr>
            </a:pPr>
            <a:r>
              <a:t>Multi-Modal Fusion</a:t>
            </a:r>
          </a:p>
          <a:p>
            <a:pPr>
              <a:spcAft>
                <a:spcPts val="800"/>
              </a:spcAft>
              <a:defRPr sz="1000" b="1">
                <a:solidFill>
                  <a:srgbClr val="6B7280"/>
                </a:solidFill>
                <a:latin typeface="Aptos"/>
              </a:defRPr>
            </a:pPr>
            <a:r>
              <a:t>Module: Vision Transformer</a:t>
            </a:r>
          </a:p>
          <a:p>
            <a:pPr>
              <a:spcAft>
                <a:spcPts val="1000"/>
              </a:spcAft>
              <a:defRPr sz="1050">
                <a:solidFill>
                  <a:srgbClr val="374151"/>
                </a:solidFill>
                <a:latin typeface="Aptos"/>
              </a:defRPr>
            </a:pPr>
            <a:r>
              <a:t>Cross-attention fusion synthesizing ocular, skin, thoracic, and lesion evidence into a unified triage rank.</a:t>
            </a:r>
          </a:p>
          <a:p>
            <a:pPr>
              <a:defRPr sz="1000" b="1">
                <a:solidFill>
                  <a:srgbClr val="111827"/>
                </a:solidFill>
                <a:latin typeface="Aptos"/>
              </a:defRPr>
            </a:pPr>
            <a:r>
              <a:t>Key Contributions:</a:t>
            </a:r>
          </a:p>
          <a:p>
            <a:pPr>
              <a:spcAft>
                <a:spcPts val="300"/>
              </a:spcAft>
              <a:defRPr sz="950">
                <a:latin typeface="Aptos"/>
              </a:defRPr>
            </a:pPr>
            <a:r>
              <a:rPr b="0">
                <a:solidFill>
                  <a:srgbClr val="374151"/>
                </a:solidFill>
              </a:rPr>
              <a:t>• Dynamic key padding masks</a:t>
            </a:r>
          </a:p>
          <a:p>
            <a:pPr>
              <a:spcAft>
                <a:spcPts val="300"/>
              </a:spcAft>
              <a:defRPr sz="950">
                <a:latin typeface="Aptos"/>
              </a:defRPr>
            </a:pPr>
            <a:r>
              <a:rPr b="0">
                <a:solidFill>
                  <a:srgbClr val="374151"/>
                </a:solidFill>
              </a:rPr>
              <a:t>• Missing-modality robustness</a:t>
            </a:r>
          </a:p>
          <a:p>
            <a:pPr>
              <a:spcAft>
                <a:spcPts val="300"/>
              </a:spcAft>
              <a:defRPr sz="950">
                <a:latin typeface="Aptos"/>
              </a:defRPr>
            </a:pPr>
            <a:r>
              <a:rPr b="0">
                <a:solidFill>
                  <a:srgbClr val="374151"/>
                </a:solidFill>
              </a:rPr>
              <a:t>• Green/Yellow/Red triage levels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9921240" y="201168"/>
            <a:ext cx="1965960" cy="685800"/>
          </a:xfrm>
          <a:prstGeom prst="rect">
            <a:avLst/>
          </a:prstGeom>
        </p:spPr>
      </p:pic>
      <p:sp>
        <p:nvSpPr>
          <p:cNvPr id="3" name="TextBox 2"/>
          <p:cNvSpPr txBox="1"/>
          <p:nvPr/>
        </p:nvSpPr>
        <p:spPr>
          <a:xfrm>
            <a:off x="731520" y="320040"/>
            <a:ext cx="8961120" cy="777240"/>
          </a:xfrm>
          <a:prstGeom prst="rect">
            <a:avLst/>
          </a:prstGeom>
          <a:noFill/>
        </p:spPr>
        <p:txBody>
          <a:bodyPr wrap="square" lIns="0" tIns="0" rIns="0" bIns="0">
            <a:spAutoFit/>
          </a:bodyPr>
          <a:lstStyle/>
          <a:p>
            <a:pPr>
              <a:spcAft>
                <a:spcPts val="200"/>
              </a:spcAft>
              <a:defRPr sz="950" b="1">
                <a:solidFill>
                  <a:srgbClr val="B6114D"/>
                </a:solidFill>
                <a:latin typeface="Aptos"/>
              </a:defRPr>
            </a:pPr>
            <a:r>
              <a:t>SECTION A: INTRODUCTION &amp; SCOPE</a:t>
            </a:r>
          </a:p>
          <a:p>
            <a:pPr>
              <a:defRPr sz="2100" b="1">
                <a:solidFill>
                  <a:srgbClr val="111827"/>
                </a:solidFill>
                <a:latin typeface="Aptos"/>
              </a:defRPr>
            </a:pPr>
            <a:r>
              <a:t>Veterinary Triage Problem Statement &amp; Clinical Challenges</a:t>
            </a:r>
          </a:p>
        </p:txBody>
      </p:sp>
      <p:sp>
        <p:nvSpPr>
          <p:cNvPr id="4" name="Rectangle 3"/>
          <p:cNvSpPr/>
          <p:nvPr/>
        </p:nvSpPr>
        <p:spPr>
          <a:xfrm>
            <a:off x="731520" y="1170432"/>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161288"/>
            <a:ext cx="1097280" cy="32004"/>
          </a:xfrm>
          <a:prstGeom prst="rect">
            <a:avLst/>
          </a:prstGeom>
          <a:solidFill>
            <a:srgbClr val="B6114D"/>
          </a:solidFill>
          <a:ln>
            <a:solidFill>
              <a:srgbClr val="B611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09360"/>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55080"/>
            <a:ext cx="4572000" cy="320040"/>
          </a:xfrm>
          <a:prstGeom prst="rect">
            <a:avLst/>
          </a:prstGeom>
          <a:noFill/>
        </p:spPr>
        <p:txBody>
          <a:bodyPr wrap="none" lIns="0" tIns="0" rIns="0" bIns="0">
            <a:spAutoFit/>
          </a:bodyPr>
          <a:lstStyle/>
          <a:p>
            <a:pPr>
              <a:defRPr sz="900">
                <a:solidFill>
                  <a:srgbClr val="6B7280"/>
                </a:solidFill>
                <a:latin typeface="Aptos"/>
              </a:defRPr>
            </a:pPr>
            <a:r>
              <a:t>MediPaw — every paw deserves a chance</a:t>
            </a:r>
          </a:p>
        </p:txBody>
      </p:sp>
      <p:sp>
        <p:nvSpPr>
          <p:cNvPr id="8" name="TextBox 7"/>
          <p:cNvSpPr txBox="1"/>
          <p:nvPr/>
        </p:nvSpPr>
        <p:spPr>
          <a:xfrm>
            <a:off x="4572000" y="6355080"/>
            <a:ext cx="4114800" cy="320040"/>
          </a:xfrm>
          <a:prstGeom prst="rect">
            <a:avLst/>
          </a:prstGeom>
          <a:noFill/>
        </p:spPr>
        <p:txBody>
          <a:bodyPr wrap="none" lIns="0" tIns="0" rIns="0" bIns="0">
            <a:spAutoFit/>
          </a:bodyPr>
          <a:lstStyle/>
          <a:p>
            <a:pPr algn="ctr">
              <a:defRPr sz="900">
                <a:solidFill>
                  <a:srgbClr val="6B7280"/>
                </a:solidFill>
                <a:latin typeface="Aptos"/>
              </a:defRPr>
            </a:pPr>
            <a:r>
              <a:t>A.C. Sanhitha Reddy (CB.SC.U4CSE23206) | 23CSE473 Review 2</a:t>
            </a:r>
          </a:p>
        </p:txBody>
      </p:sp>
      <p:sp>
        <p:nvSpPr>
          <p:cNvPr id="9" name="TextBox 8"/>
          <p:cNvSpPr txBox="1"/>
          <p:nvPr/>
        </p:nvSpPr>
        <p:spPr>
          <a:xfrm>
            <a:off x="9601200" y="6355080"/>
            <a:ext cx="1828800" cy="320040"/>
          </a:xfrm>
          <a:prstGeom prst="rect">
            <a:avLst/>
          </a:prstGeom>
          <a:noFill/>
        </p:spPr>
        <p:txBody>
          <a:bodyPr wrap="none" lIns="0" tIns="0" rIns="0" bIns="0">
            <a:spAutoFit/>
          </a:bodyPr>
          <a:lstStyle/>
          <a:p>
            <a:pPr algn="r">
              <a:defRPr sz="900" b="1">
                <a:solidFill>
                  <a:srgbClr val="B6114D"/>
                </a:solidFill>
                <a:latin typeface="Aptos"/>
              </a:defRPr>
            </a:pPr>
            <a:r>
              <a:t>Slide 4 of 44</a:t>
            </a:r>
          </a:p>
        </p:txBody>
      </p:sp>
      <p:sp>
        <p:nvSpPr>
          <p:cNvPr id="10" name="Rectangle 9"/>
          <p:cNvSpPr/>
          <p:nvPr/>
        </p:nvSpPr>
        <p:spPr>
          <a:xfrm>
            <a:off x="731520" y="1371600"/>
            <a:ext cx="5212080" cy="4663440"/>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554480"/>
            <a:ext cx="4846320" cy="4297680"/>
          </a:xfrm>
          <a:prstGeom prst="rect">
            <a:avLst/>
          </a:prstGeom>
          <a:noFill/>
        </p:spPr>
        <p:txBody>
          <a:bodyPr wrap="square">
            <a:spAutoFit/>
          </a:bodyPr>
          <a:lstStyle/>
          <a:p>
            <a:pPr>
              <a:spcAft>
                <a:spcPts val="800"/>
              </a:spcAft>
              <a:defRPr sz="1300" b="1">
                <a:solidFill>
                  <a:srgbClr val="B6114D"/>
                </a:solidFill>
                <a:latin typeface="Aptos"/>
              </a:defRPr>
            </a:pPr>
            <a:r>
              <a:t>THE SHELTER TRIAGE CRISIS</a:t>
            </a:r>
          </a:p>
          <a:p>
            <a:pPr>
              <a:spcAft>
                <a:spcPts val="800"/>
              </a:spcAft>
              <a:defRPr sz="1100">
                <a:latin typeface="Aptos"/>
              </a:defRPr>
            </a:pPr>
            <a:r>
              <a:rPr b="1">
                <a:solidFill>
                  <a:srgbClr val="111827"/>
                </a:solidFill>
              </a:rPr>
              <a:t>• Extreme Patient-to-Staff Imbalance:</a:t>
            </a:r>
            <a:r>
              <a:rPr b="0">
                <a:solidFill>
                  <a:srgbClr val="374151"/>
                </a:solidFill>
              </a:rPr>
              <a:t> Rescue shelters often manage 50–200 animals with only 1–2 visiting veterinarians, creating intake delays exceeding 24–48 hours.</a:t>
            </a:r>
          </a:p>
          <a:p>
            <a:pPr>
              <a:spcAft>
                <a:spcPts val="800"/>
              </a:spcAft>
              <a:defRPr sz="1100">
                <a:latin typeface="Aptos"/>
              </a:defRPr>
            </a:pPr>
            <a:r>
              <a:rPr b="1">
                <a:solidFill>
                  <a:srgbClr val="111827"/>
                </a:solidFill>
              </a:rPr>
              <a:t>• Subjective Manual Assessment:</a:t>
            </a:r>
            <a:r>
              <a:rPr b="0">
                <a:solidFill>
                  <a:srgbClr val="374151"/>
                </a:solidFill>
              </a:rPr>
              <a:t> Visual inspection of eye discharge, corneal clouding, or bite wounds varies widely between volunteers, leading to missed severe cases.</a:t>
            </a:r>
          </a:p>
          <a:p>
            <a:pPr>
              <a:spcAft>
                <a:spcPts val="800"/>
              </a:spcAft>
              <a:defRPr sz="1100">
                <a:latin typeface="Aptos"/>
              </a:defRPr>
            </a:pPr>
            <a:r>
              <a:rPr b="1">
                <a:solidFill>
                  <a:srgbClr val="111827"/>
                </a:solidFill>
              </a:rPr>
              <a:t>• High Risk of Contagion:</a:t>
            </a:r>
            <a:r>
              <a:rPr b="0">
                <a:solidFill>
                  <a:srgbClr val="374151"/>
                </a:solidFill>
              </a:rPr>
              <a:t> Highly infectious ocular diseases (e.g. canine viral conjunctivitis) rapidly spread through shelter populations if not isolated within hours.</a:t>
            </a:r>
          </a:p>
          <a:p>
            <a:pPr>
              <a:spcAft>
                <a:spcPts val="800"/>
              </a:spcAft>
              <a:defRPr sz="1100">
                <a:latin typeface="Aptos"/>
              </a:defRPr>
            </a:pPr>
            <a:r>
              <a:rPr b="1">
                <a:solidFill>
                  <a:srgbClr val="111827"/>
                </a:solidFill>
              </a:rPr>
              <a:t>• Trauma Deterioration:</a:t>
            </a:r>
            <a:r>
              <a:rPr b="0">
                <a:solidFill>
                  <a:srgbClr val="374151"/>
                </a:solidFill>
              </a:rPr>
              <a:t> Severe lacerations and bite wounds undergo rapid bacterial colonization and necrosis when triage delays prevent timely irrigation and debridement.</a:t>
            </a:r>
          </a:p>
          <a:p>
            <a:pPr>
              <a:spcAft>
                <a:spcPts val="800"/>
              </a:spcAft>
              <a:defRPr sz="1100">
                <a:latin typeface="Aptos"/>
              </a:defRPr>
            </a:pPr>
            <a:r>
              <a:rPr b="1">
                <a:solidFill>
                  <a:srgbClr val="111827"/>
                </a:solidFill>
              </a:rPr>
              <a:t>• Lack of Decision Support:</a:t>
            </a:r>
            <a:r>
              <a:rPr b="0">
                <a:solidFill>
                  <a:srgbClr val="374151"/>
                </a:solidFill>
              </a:rPr>
              <a:t> Most existing veterinary tools are commercial single-disease apps without multi-organ integration or priority ranking.</a:t>
            </a:r>
          </a:p>
        </p:txBody>
      </p:sp>
      <p:sp>
        <p:nvSpPr>
          <p:cNvPr id="12" name="Rectangle 11"/>
          <p:cNvSpPr/>
          <p:nvPr/>
        </p:nvSpPr>
        <p:spPr>
          <a:xfrm>
            <a:off x="6217920" y="1371600"/>
            <a:ext cx="5212080" cy="4663440"/>
          </a:xfrm>
          <a:prstGeom prst="rect">
            <a:avLst/>
          </a:prstGeom>
          <a:solidFill>
            <a:srgbClr val="FDF2F4"/>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554480"/>
            <a:ext cx="4846320" cy="4297680"/>
          </a:xfrm>
          <a:prstGeom prst="rect">
            <a:avLst/>
          </a:prstGeom>
          <a:noFill/>
        </p:spPr>
        <p:txBody>
          <a:bodyPr wrap="square">
            <a:spAutoFit/>
          </a:bodyPr>
          <a:lstStyle/>
          <a:p>
            <a:pPr>
              <a:spcAft>
                <a:spcPts val="800"/>
              </a:spcAft>
              <a:defRPr sz="1300" b="1">
                <a:solidFill>
                  <a:srgbClr val="111827"/>
                </a:solidFill>
                <a:latin typeface="Aptos"/>
              </a:defRPr>
            </a:pPr>
            <a:r>
              <a:t>COMPUTER VISION RESEARCH CHALLENGES</a:t>
            </a:r>
          </a:p>
          <a:p>
            <a:pPr>
              <a:spcAft>
                <a:spcPts val="800"/>
              </a:spcAft>
              <a:defRPr sz="1100">
                <a:latin typeface="Aptos"/>
              </a:defRPr>
            </a:pPr>
            <a:r>
              <a:rPr b="1">
                <a:solidFill>
                  <a:srgbClr val="111827"/>
                </a:solidFill>
              </a:rPr>
              <a:t>• Uncontrolled Illumination &amp; Fur Occlusion:</a:t>
            </a:r>
            <a:r>
              <a:rPr b="0">
                <a:solidFill>
                  <a:srgbClr val="374151"/>
                </a:solidFill>
              </a:rPr>
              <a:t> Animals photographed in outdoor rescue conditions exhibit severe lighting variations, motion blur, and dense fur covering wound margins.</a:t>
            </a:r>
          </a:p>
          <a:p>
            <a:pPr>
              <a:spcAft>
                <a:spcPts val="800"/>
              </a:spcAft>
              <a:defRPr sz="1100">
                <a:latin typeface="Aptos"/>
              </a:defRPr>
            </a:pPr>
            <a:r>
              <a:rPr b="1">
                <a:solidFill>
                  <a:srgbClr val="111827"/>
                </a:solidFill>
              </a:rPr>
              <a:t>• Class Imbalance in Clinical Datasets:</a:t>
            </a:r>
            <a:r>
              <a:rPr b="0">
                <a:solidFill>
                  <a:srgbClr val="374151"/>
                </a:solidFill>
              </a:rPr>
              <a:t> Healthy canine eyes vastly outnumber specific pathologies like entropion or eyelid neoplasms in public repositories.</a:t>
            </a:r>
          </a:p>
          <a:p>
            <a:pPr>
              <a:spcAft>
                <a:spcPts val="800"/>
              </a:spcAft>
              <a:defRPr sz="1100">
                <a:latin typeface="Aptos"/>
              </a:defRPr>
            </a:pPr>
            <a:r>
              <a:rPr b="1">
                <a:solidFill>
                  <a:srgbClr val="111827"/>
                </a:solidFill>
              </a:rPr>
              <a:t>• Bounding Box vs. Boundary Ambiguity:</a:t>
            </a:r>
            <a:r>
              <a:rPr b="0">
                <a:solidFill>
                  <a:srgbClr val="374151"/>
                </a:solidFill>
              </a:rPr>
              <a:t> Bounding boxes identify approximate lesion locations but cannot compute precise tissue loss or healing rates.</a:t>
            </a:r>
          </a:p>
          <a:p>
            <a:pPr>
              <a:spcAft>
                <a:spcPts val="800"/>
              </a:spcAft>
              <a:defRPr sz="1100">
                <a:latin typeface="Aptos"/>
              </a:defRPr>
            </a:pPr>
            <a:r>
              <a:rPr b="1">
                <a:solidFill>
                  <a:srgbClr val="111827"/>
                </a:solidFill>
              </a:rPr>
              <a:t>• Strict Computational Budgets:</a:t>
            </a:r>
            <a:r>
              <a:rPr b="0">
                <a:solidFill>
                  <a:srgbClr val="374151"/>
                </a:solidFill>
              </a:rPr>
              <a:t> Shelter environments rely on low-cost mobile phones or edge tablets without local GPU clusters, requiring ultra-lightweight backbones (&lt; 10M params).</a:t>
            </a:r>
          </a:p>
          <a:p>
            <a:pPr>
              <a:spcAft>
                <a:spcPts val="800"/>
              </a:spcAft>
              <a:defRPr sz="1100">
                <a:latin typeface="Aptos"/>
              </a:defRPr>
            </a:pPr>
            <a:r>
              <a:rPr b="1">
                <a:solidFill>
                  <a:srgbClr val="111827"/>
                </a:solidFill>
              </a:rPr>
              <a:t>• Explainability Requirements:</a:t>
            </a:r>
            <a:r>
              <a:rPr b="0">
                <a:solidFill>
                  <a:srgbClr val="374151"/>
                </a:solidFill>
              </a:rPr>
              <a:t> Veterinarians require visual heatmaps and localized masks to trust AI suggestions during critical intervention decisions.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9921240" y="201168"/>
            <a:ext cx="1965960" cy="685800"/>
          </a:xfrm>
          <a:prstGeom prst="rect">
            <a:avLst/>
          </a:prstGeom>
        </p:spPr>
      </p:pic>
      <p:sp>
        <p:nvSpPr>
          <p:cNvPr id="3" name="TextBox 2"/>
          <p:cNvSpPr txBox="1"/>
          <p:nvPr/>
        </p:nvSpPr>
        <p:spPr>
          <a:xfrm>
            <a:off x="731520" y="320040"/>
            <a:ext cx="8961120" cy="777240"/>
          </a:xfrm>
          <a:prstGeom prst="rect">
            <a:avLst/>
          </a:prstGeom>
          <a:noFill/>
        </p:spPr>
        <p:txBody>
          <a:bodyPr wrap="square" lIns="0" tIns="0" rIns="0" bIns="0">
            <a:spAutoFit/>
          </a:bodyPr>
          <a:lstStyle/>
          <a:p>
            <a:pPr>
              <a:spcAft>
                <a:spcPts val="200"/>
              </a:spcAft>
              <a:defRPr sz="950" b="1">
                <a:solidFill>
                  <a:srgbClr val="B6114D"/>
                </a:solidFill>
                <a:latin typeface="Aptos"/>
              </a:defRPr>
            </a:pPr>
            <a:r>
              <a:t>SECTION A: INTRODUCTION &amp; SCOPE</a:t>
            </a:r>
          </a:p>
          <a:p>
            <a:pPr>
              <a:defRPr sz="2100" b="1">
                <a:solidFill>
                  <a:srgbClr val="111827"/>
                </a:solidFill>
                <a:latin typeface="Aptos"/>
              </a:defRPr>
            </a:pPr>
            <a:r>
              <a:t>Clinical Motivation: Automated Eye &amp; Wound Assessment</a:t>
            </a:r>
          </a:p>
        </p:txBody>
      </p:sp>
      <p:sp>
        <p:nvSpPr>
          <p:cNvPr id="4" name="Rectangle 3"/>
          <p:cNvSpPr/>
          <p:nvPr/>
        </p:nvSpPr>
        <p:spPr>
          <a:xfrm>
            <a:off x="731520" y="1170432"/>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161288"/>
            <a:ext cx="1097280" cy="32004"/>
          </a:xfrm>
          <a:prstGeom prst="rect">
            <a:avLst/>
          </a:prstGeom>
          <a:solidFill>
            <a:srgbClr val="B6114D"/>
          </a:solidFill>
          <a:ln>
            <a:solidFill>
              <a:srgbClr val="B611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09360"/>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55080"/>
            <a:ext cx="4572000" cy="320040"/>
          </a:xfrm>
          <a:prstGeom prst="rect">
            <a:avLst/>
          </a:prstGeom>
          <a:noFill/>
        </p:spPr>
        <p:txBody>
          <a:bodyPr wrap="none" lIns="0" tIns="0" rIns="0" bIns="0">
            <a:spAutoFit/>
          </a:bodyPr>
          <a:lstStyle/>
          <a:p>
            <a:pPr>
              <a:defRPr sz="900">
                <a:solidFill>
                  <a:srgbClr val="6B7280"/>
                </a:solidFill>
                <a:latin typeface="Aptos"/>
              </a:defRPr>
            </a:pPr>
            <a:r>
              <a:t>MediPaw — every paw deserves a chance</a:t>
            </a:r>
          </a:p>
        </p:txBody>
      </p:sp>
      <p:sp>
        <p:nvSpPr>
          <p:cNvPr id="8" name="TextBox 7"/>
          <p:cNvSpPr txBox="1"/>
          <p:nvPr/>
        </p:nvSpPr>
        <p:spPr>
          <a:xfrm>
            <a:off x="4572000" y="6355080"/>
            <a:ext cx="4114800" cy="320040"/>
          </a:xfrm>
          <a:prstGeom prst="rect">
            <a:avLst/>
          </a:prstGeom>
          <a:noFill/>
        </p:spPr>
        <p:txBody>
          <a:bodyPr wrap="none" lIns="0" tIns="0" rIns="0" bIns="0">
            <a:spAutoFit/>
          </a:bodyPr>
          <a:lstStyle/>
          <a:p>
            <a:pPr algn="ctr">
              <a:defRPr sz="900">
                <a:solidFill>
                  <a:srgbClr val="6B7280"/>
                </a:solidFill>
                <a:latin typeface="Aptos"/>
              </a:defRPr>
            </a:pPr>
            <a:r>
              <a:t>A.C. Sanhitha Reddy (CB.SC.U4CSE23206) | 23CSE473 Review 2</a:t>
            </a:r>
          </a:p>
        </p:txBody>
      </p:sp>
      <p:sp>
        <p:nvSpPr>
          <p:cNvPr id="9" name="TextBox 8"/>
          <p:cNvSpPr txBox="1"/>
          <p:nvPr/>
        </p:nvSpPr>
        <p:spPr>
          <a:xfrm>
            <a:off x="9601200" y="6355080"/>
            <a:ext cx="1828800" cy="320040"/>
          </a:xfrm>
          <a:prstGeom prst="rect">
            <a:avLst/>
          </a:prstGeom>
          <a:noFill/>
        </p:spPr>
        <p:txBody>
          <a:bodyPr wrap="none" lIns="0" tIns="0" rIns="0" bIns="0">
            <a:spAutoFit/>
          </a:bodyPr>
          <a:lstStyle/>
          <a:p>
            <a:pPr algn="r">
              <a:defRPr sz="900" b="1">
                <a:solidFill>
                  <a:srgbClr val="B6114D"/>
                </a:solidFill>
                <a:latin typeface="Aptos"/>
              </a:defRPr>
            </a:pPr>
            <a:r>
              <a:t>Slide 5 of 44</a:t>
            </a:r>
          </a:p>
        </p:txBody>
      </p:sp>
      <p:sp>
        <p:nvSpPr>
          <p:cNvPr id="10" name="Rectangle 9"/>
          <p:cNvSpPr/>
          <p:nvPr/>
        </p:nvSpPr>
        <p:spPr>
          <a:xfrm>
            <a:off x="731520" y="1371600"/>
            <a:ext cx="5212080" cy="4663440"/>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1371600"/>
            <a:ext cx="5212080" cy="73152"/>
          </a:xfrm>
          <a:prstGeom prst="rect">
            <a:avLst/>
          </a:prstGeom>
          <a:solidFill>
            <a:srgbClr val="B611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1600200"/>
            <a:ext cx="4846320" cy="4206240"/>
          </a:xfrm>
          <a:prstGeom prst="rect">
            <a:avLst/>
          </a:prstGeom>
          <a:noFill/>
        </p:spPr>
        <p:txBody>
          <a:bodyPr wrap="square">
            <a:spAutoFit/>
          </a:bodyPr>
          <a:lstStyle/>
          <a:p>
            <a:pPr>
              <a:spcAft>
                <a:spcPts val="1000"/>
              </a:spcAft>
              <a:defRPr sz="1300" b="1">
                <a:solidFill>
                  <a:srgbClr val="B6114D"/>
                </a:solidFill>
                <a:latin typeface="Aptos"/>
              </a:defRPr>
            </a:pPr>
            <a:r>
              <a:t>Ocular Pathology Assessment (Eye CNN)</a:t>
            </a:r>
          </a:p>
          <a:p>
            <a:pPr>
              <a:spcAft>
                <a:spcPts val="1000"/>
              </a:spcAft>
              <a:defRPr sz="1100">
                <a:latin typeface="Aptos"/>
              </a:defRPr>
            </a:pPr>
            <a:r>
              <a:rPr b="1">
                <a:solidFill>
                  <a:srgbClr val="111827"/>
                </a:solidFill>
              </a:rPr>
              <a:t>• Vision Preservation:</a:t>
            </a:r>
            <a:r>
              <a:rPr b="0">
                <a:solidFill>
                  <a:srgbClr val="374151"/>
                </a:solidFill>
              </a:rPr>
              <a:t> Acute conditions like entropion (inward eyelid folding) cause continuous corneal friction, leading to ulceration and irreversible vision loss within 72 hours.</a:t>
            </a:r>
          </a:p>
          <a:p>
            <a:pPr>
              <a:spcAft>
                <a:spcPts val="1000"/>
              </a:spcAft>
              <a:defRPr sz="1100">
                <a:latin typeface="Aptos"/>
              </a:defRPr>
            </a:pPr>
            <a:r>
              <a:rPr b="1">
                <a:solidFill>
                  <a:srgbClr val="111827"/>
                </a:solidFill>
              </a:rPr>
              <a:t>• Objective Triage:</a:t>
            </a:r>
            <a:r>
              <a:rPr b="0">
                <a:solidFill>
                  <a:srgbClr val="374151"/>
                </a:solidFill>
              </a:rPr>
              <a:t> Automated classification distinguishes mild superficial conjunctivitis from structural eyelid tumors requiring urgent surgical excision.</a:t>
            </a:r>
          </a:p>
          <a:p>
            <a:pPr>
              <a:spcAft>
                <a:spcPts val="1000"/>
              </a:spcAft>
              <a:defRPr sz="1100">
                <a:latin typeface="Aptos"/>
              </a:defRPr>
            </a:pPr>
            <a:r>
              <a:rPr b="1">
                <a:solidFill>
                  <a:srgbClr val="111827"/>
                </a:solidFill>
              </a:rPr>
              <a:t>• Sub-Second Screening:</a:t>
            </a:r>
            <a:r>
              <a:rPr b="0">
                <a:solidFill>
                  <a:srgbClr val="374151"/>
                </a:solidFill>
              </a:rPr>
              <a:t> MobileNetV3-Small executes in 12.4 ms, enabling instantaneous volunteer pre-screening before formal veterinary rounds.</a:t>
            </a:r>
          </a:p>
          <a:p>
            <a:pPr>
              <a:spcAft>
                <a:spcPts val="1000"/>
              </a:spcAft>
              <a:defRPr sz="1100">
                <a:latin typeface="Aptos"/>
              </a:defRPr>
            </a:pPr>
            <a:r>
              <a:rPr b="1">
                <a:solidFill>
                  <a:srgbClr val="111827"/>
                </a:solidFill>
              </a:rPr>
              <a:t>• Standardized Recording:</a:t>
            </a:r>
            <a:r>
              <a:rPr b="0">
                <a:solidFill>
                  <a:srgbClr val="374151"/>
                </a:solidFill>
              </a:rPr>
              <a:t> Provides structured JSON classifications that become part of the animal's permanent electronic health record.</a:t>
            </a:r>
          </a:p>
        </p:txBody>
      </p:sp>
      <p:sp>
        <p:nvSpPr>
          <p:cNvPr id="13" name="Rectangle 12"/>
          <p:cNvSpPr/>
          <p:nvPr/>
        </p:nvSpPr>
        <p:spPr>
          <a:xfrm>
            <a:off x="6217920" y="1371600"/>
            <a:ext cx="5212080" cy="4663440"/>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71600"/>
            <a:ext cx="5212080" cy="73152"/>
          </a:xfrm>
          <a:prstGeom prst="rect">
            <a:avLst/>
          </a:prstGeom>
          <a:solidFill>
            <a:srgbClr val="0860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600200"/>
            <a:ext cx="4846320" cy="4206240"/>
          </a:xfrm>
          <a:prstGeom prst="rect">
            <a:avLst/>
          </a:prstGeom>
          <a:noFill/>
        </p:spPr>
        <p:txBody>
          <a:bodyPr wrap="square">
            <a:spAutoFit/>
          </a:bodyPr>
          <a:lstStyle/>
          <a:p>
            <a:pPr>
              <a:spcAft>
                <a:spcPts val="1000"/>
              </a:spcAft>
              <a:defRPr sz="1300" b="1">
                <a:solidFill>
                  <a:srgbClr val="086072"/>
                </a:solidFill>
                <a:latin typeface="Aptos"/>
              </a:defRPr>
            </a:pPr>
            <a:r>
              <a:t>Trauma &amp; Wound Quantification (U-Net)</a:t>
            </a:r>
          </a:p>
          <a:p>
            <a:pPr>
              <a:spcAft>
                <a:spcPts val="1000"/>
              </a:spcAft>
              <a:defRPr sz="1100">
                <a:latin typeface="Aptos"/>
              </a:defRPr>
            </a:pPr>
            <a:r>
              <a:rPr b="1">
                <a:solidFill>
                  <a:srgbClr val="111827"/>
                </a:solidFill>
              </a:rPr>
              <a:t>• Objective Surface Area Calculation:</a:t>
            </a:r>
            <a:r>
              <a:rPr b="0">
                <a:solidFill>
                  <a:srgbClr val="374151"/>
                </a:solidFill>
              </a:rPr>
              <a:t> Replaces unreliable hand-ruler approximations with automated pixel-counting converted to surface area metrics.</a:t>
            </a:r>
          </a:p>
          <a:p>
            <a:pPr>
              <a:spcAft>
                <a:spcPts val="1000"/>
              </a:spcAft>
              <a:defRPr sz="1100">
                <a:latin typeface="Aptos"/>
              </a:defRPr>
            </a:pPr>
            <a:r>
              <a:rPr b="1">
                <a:solidFill>
                  <a:srgbClr val="111827"/>
                </a:solidFill>
              </a:rPr>
              <a:t>• Two-Stage Localization Precision:</a:t>
            </a:r>
            <a:r>
              <a:rPr b="0">
                <a:solidFill>
                  <a:srgbClr val="374151"/>
                </a:solidFill>
              </a:rPr>
              <a:t> YOLOv8 isolates candidate regions from complex background clutter, allowing U-Net to concentrate on exact wound margins.</a:t>
            </a:r>
          </a:p>
          <a:p>
            <a:pPr>
              <a:spcAft>
                <a:spcPts val="1000"/>
              </a:spcAft>
              <a:defRPr sz="1100">
                <a:latin typeface="Aptos"/>
              </a:defRPr>
            </a:pPr>
            <a:r>
              <a:rPr b="1">
                <a:solidFill>
                  <a:srgbClr val="111827"/>
                </a:solidFill>
              </a:rPr>
              <a:t>• Longitudinal Healing Tracking:</a:t>
            </a:r>
            <a:r>
              <a:rPr b="0">
                <a:solidFill>
                  <a:srgbClr val="374151"/>
                </a:solidFill>
              </a:rPr>
              <a:t> Repeated segmentation over treatment days enables quantitative calculation of wound closure velocity (cm²/day).</a:t>
            </a:r>
          </a:p>
          <a:p>
            <a:pPr>
              <a:spcAft>
                <a:spcPts val="1000"/>
              </a:spcAft>
              <a:defRPr sz="1100">
                <a:latin typeface="Aptos"/>
              </a:defRPr>
            </a:pPr>
            <a:r>
              <a:rPr b="1">
                <a:solidFill>
                  <a:srgbClr val="111827"/>
                </a:solidFill>
              </a:rPr>
              <a:t>• Urgency Flagging:</a:t>
            </a:r>
            <a:r>
              <a:rPr b="0">
                <a:solidFill>
                  <a:srgbClr val="374151"/>
                </a:solidFill>
              </a:rPr>
              <a:t> Wounds exceeding a threshold area or demonstrating extensive necrotic tissue are automatically escalated to High Triage status.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9921240" y="201168"/>
            <a:ext cx="1965960" cy="685800"/>
          </a:xfrm>
          <a:prstGeom prst="rect">
            <a:avLst/>
          </a:prstGeom>
        </p:spPr>
      </p:pic>
      <p:sp>
        <p:nvSpPr>
          <p:cNvPr id="3" name="TextBox 2"/>
          <p:cNvSpPr txBox="1"/>
          <p:nvPr/>
        </p:nvSpPr>
        <p:spPr>
          <a:xfrm>
            <a:off x="731520" y="320040"/>
            <a:ext cx="8961120" cy="777240"/>
          </a:xfrm>
          <a:prstGeom prst="rect">
            <a:avLst/>
          </a:prstGeom>
          <a:noFill/>
        </p:spPr>
        <p:txBody>
          <a:bodyPr wrap="square" lIns="0" tIns="0" rIns="0" bIns="0">
            <a:spAutoFit/>
          </a:bodyPr>
          <a:lstStyle/>
          <a:p>
            <a:pPr>
              <a:spcAft>
                <a:spcPts val="200"/>
              </a:spcAft>
              <a:defRPr sz="950" b="1">
                <a:solidFill>
                  <a:srgbClr val="B6114D"/>
                </a:solidFill>
                <a:latin typeface="Aptos"/>
              </a:defRPr>
            </a:pPr>
            <a:r>
              <a:t>SECTION A: INTRODUCTION &amp; SCOPE</a:t>
            </a:r>
          </a:p>
          <a:p>
            <a:pPr>
              <a:defRPr sz="2100" b="1">
                <a:solidFill>
                  <a:srgbClr val="111827"/>
                </a:solidFill>
                <a:latin typeface="Aptos"/>
              </a:defRPr>
            </a:pPr>
            <a:r>
              <a:t>Research Questions &amp; Measurable Project Objectives</a:t>
            </a:r>
          </a:p>
        </p:txBody>
      </p:sp>
      <p:sp>
        <p:nvSpPr>
          <p:cNvPr id="4" name="Rectangle 3"/>
          <p:cNvSpPr/>
          <p:nvPr/>
        </p:nvSpPr>
        <p:spPr>
          <a:xfrm>
            <a:off x="731520" y="1170432"/>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161288"/>
            <a:ext cx="1097280" cy="32004"/>
          </a:xfrm>
          <a:prstGeom prst="rect">
            <a:avLst/>
          </a:prstGeom>
          <a:solidFill>
            <a:srgbClr val="B6114D"/>
          </a:solidFill>
          <a:ln>
            <a:solidFill>
              <a:srgbClr val="B611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09360"/>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55080"/>
            <a:ext cx="4572000" cy="320040"/>
          </a:xfrm>
          <a:prstGeom prst="rect">
            <a:avLst/>
          </a:prstGeom>
          <a:noFill/>
        </p:spPr>
        <p:txBody>
          <a:bodyPr wrap="none" lIns="0" tIns="0" rIns="0" bIns="0">
            <a:spAutoFit/>
          </a:bodyPr>
          <a:lstStyle/>
          <a:p>
            <a:pPr>
              <a:defRPr sz="900">
                <a:solidFill>
                  <a:srgbClr val="6B7280"/>
                </a:solidFill>
                <a:latin typeface="Aptos"/>
              </a:defRPr>
            </a:pPr>
            <a:r>
              <a:t>MediPaw — every paw deserves a chance</a:t>
            </a:r>
          </a:p>
        </p:txBody>
      </p:sp>
      <p:sp>
        <p:nvSpPr>
          <p:cNvPr id="8" name="TextBox 7"/>
          <p:cNvSpPr txBox="1"/>
          <p:nvPr/>
        </p:nvSpPr>
        <p:spPr>
          <a:xfrm>
            <a:off x="4572000" y="6355080"/>
            <a:ext cx="4114800" cy="320040"/>
          </a:xfrm>
          <a:prstGeom prst="rect">
            <a:avLst/>
          </a:prstGeom>
          <a:noFill/>
        </p:spPr>
        <p:txBody>
          <a:bodyPr wrap="none" lIns="0" tIns="0" rIns="0" bIns="0">
            <a:spAutoFit/>
          </a:bodyPr>
          <a:lstStyle/>
          <a:p>
            <a:pPr algn="ctr">
              <a:defRPr sz="900">
                <a:solidFill>
                  <a:srgbClr val="6B7280"/>
                </a:solidFill>
                <a:latin typeface="Aptos"/>
              </a:defRPr>
            </a:pPr>
            <a:r>
              <a:t>A.C. Sanhitha Reddy (CB.SC.U4CSE23206) | 23CSE473 Review 2</a:t>
            </a:r>
          </a:p>
        </p:txBody>
      </p:sp>
      <p:sp>
        <p:nvSpPr>
          <p:cNvPr id="9" name="TextBox 8"/>
          <p:cNvSpPr txBox="1"/>
          <p:nvPr/>
        </p:nvSpPr>
        <p:spPr>
          <a:xfrm>
            <a:off x="9601200" y="6355080"/>
            <a:ext cx="1828800" cy="320040"/>
          </a:xfrm>
          <a:prstGeom prst="rect">
            <a:avLst/>
          </a:prstGeom>
          <a:noFill/>
        </p:spPr>
        <p:txBody>
          <a:bodyPr wrap="none" lIns="0" tIns="0" rIns="0" bIns="0">
            <a:spAutoFit/>
          </a:bodyPr>
          <a:lstStyle/>
          <a:p>
            <a:pPr algn="r">
              <a:defRPr sz="900" b="1">
                <a:solidFill>
                  <a:srgbClr val="B6114D"/>
                </a:solidFill>
                <a:latin typeface="Aptos"/>
              </a:defRPr>
            </a:pPr>
            <a:r>
              <a:t>Slide 6 of 44</a:t>
            </a:r>
          </a:p>
        </p:txBody>
      </p:sp>
      <p:graphicFrame>
        <p:nvGraphicFramePr>
          <p:cNvPr id="10" name="Table 9"/>
          <p:cNvGraphicFramePr>
            <a:graphicFrameLocks noGrp="1"/>
          </p:cNvGraphicFramePr>
          <p:nvPr/>
        </p:nvGraphicFramePr>
        <p:xfrm>
          <a:off x="731520" y="1371600"/>
          <a:ext cx="10698480" cy="4663440"/>
        </p:xfrm>
        <a:graphic>
          <a:graphicData uri="http://schemas.openxmlformats.org/drawingml/2006/table">
            <a:tbl>
              <a:tblPr firstRow="1" bandRow="1">
                <a:tableStyleId>{5C22544A-7EE6-4342-B048-85BDC9FD1C3A}</a:tableStyleId>
              </a:tblPr>
              <a:tblGrid>
                <a:gridCol w="2743200"/>
                <a:gridCol w="2743200"/>
                <a:gridCol w="2926080"/>
                <a:gridCol w="2286000"/>
              </a:tblGrid>
              <a:tr h="932688">
                <a:tc>
                  <a:txBody>
                    <a:bodyPr/>
                    <a:lstStyle/>
                    <a:p>
                      <a:pPr algn="l">
                        <a:defRPr sz="1050" b="1">
                          <a:solidFill>
                            <a:srgbClr val="FFFFFF"/>
                          </a:solidFill>
                          <a:latin typeface="Aptos"/>
                        </a:defRPr>
                      </a:pPr>
                      <a:r>
                        <a:t>Research Question (RQ)</a:t>
                      </a:r>
                    </a:p>
                  </a:txBody>
                  <a:tcPr>
                    <a:solidFill>
                      <a:srgbClr val="B6114D"/>
                    </a:solidFill>
                  </a:tcPr>
                </a:tc>
                <a:tc>
                  <a:txBody>
                    <a:bodyPr/>
                    <a:lstStyle/>
                    <a:p>
                      <a:pPr algn="l">
                        <a:defRPr sz="1050" b="1">
                          <a:solidFill>
                            <a:srgbClr val="FFFFFF"/>
                          </a:solidFill>
                          <a:latin typeface="Aptos"/>
                        </a:defRPr>
                      </a:pPr>
                      <a:r>
                        <a:t>Engineering Hypothesis</a:t>
                      </a:r>
                    </a:p>
                  </a:txBody>
                  <a:tcPr>
                    <a:solidFill>
                      <a:srgbClr val="B6114D"/>
                    </a:solidFill>
                  </a:tcPr>
                </a:tc>
                <a:tc>
                  <a:txBody>
                    <a:bodyPr/>
                    <a:lstStyle/>
                    <a:p>
                      <a:pPr algn="l">
                        <a:defRPr sz="1050" b="1">
                          <a:solidFill>
                            <a:srgbClr val="FFFFFF"/>
                          </a:solidFill>
                          <a:latin typeface="Aptos"/>
                        </a:defRPr>
                      </a:pPr>
                      <a:r>
                        <a:t>Individual Implementation</a:t>
                      </a:r>
                    </a:p>
                  </a:txBody>
                  <a:tcPr>
                    <a:solidFill>
                      <a:srgbClr val="B6114D"/>
                    </a:solidFill>
                  </a:tcPr>
                </a:tc>
                <a:tc>
                  <a:txBody>
                    <a:bodyPr/>
                    <a:lstStyle/>
                    <a:p>
                      <a:pPr algn="l">
                        <a:defRPr sz="1050" b="1">
                          <a:solidFill>
                            <a:srgbClr val="FFFFFF"/>
                          </a:solidFill>
                          <a:latin typeface="Aptos"/>
                        </a:defRPr>
                      </a:pPr>
                      <a:r>
                        <a:t>Success Metric</a:t>
                      </a:r>
                    </a:p>
                  </a:txBody>
                  <a:tcPr>
                    <a:solidFill>
                      <a:srgbClr val="B6114D"/>
                    </a:solidFill>
                  </a:tcPr>
                </a:tc>
              </a:tr>
              <a:tr h="932688">
                <a:tc>
                  <a:txBody>
                    <a:bodyPr/>
                    <a:lstStyle/>
                    <a:p>
                      <a:pPr algn="l">
                        <a:defRPr sz="1000" b="1">
                          <a:solidFill>
                            <a:srgbClr val="111827"/>
                          </a:solidFill>
                          <a:latin typeface="Aptos"/>
                        </a:defRPr>
                      </a:pPr>
                      <a:r>
                        <a:t>RQ1: Can a lightweight CNN classify canine ocular conditions with &gt;80% macro F1 under real-world shelter noise?</a:t>
                      </a:r>
                    </a:p>
                  </a:txBody>
                  <a:tcPr>
                    <a:solidFill>
                      <a:srgbClr val="FFFFFF"/>
                    </a:solidFill>
                  </a:tcPr>
                </a:tc>
                <a:tc>
                  <a:txBody>
                    <a:bodyPr/>
                    <a:lstStyle/>
                    <a:p>
                      <a:pPr algn="l">
                        <a:defRPr sz="1000">
                          <a:solidFill>
                            <a:srgbClr val="374151"/>
                          </a:solidFill>
                          <a:latin typeface="Aptos"/>
                        </a:defRPr>
                      </a:pPr>
                      <a:r>
                        <a:t>MobileNetV3 with squeeze-and-excitation blocks and cosine decay will achieve high discriminative ability with &lt;2M parameters.</a:t>
                      </a:r>
                    </a:p>
                  </a:txBody>
                  <a:tcPr>
                    <a:solidFill>
                      <a:srgbClr val="FFFFFF"/>
                    </a:solidFill>
                  </a:tcPr>
                </a:tc>
                <a:tc>
                  <a:txBody>
                    <a:bodyPr/>
                    <a:lstStyle/>
                    <a:p>
                      <a:pPr algn="l">
                        <a:defRPr sz="1000">
                          <a:solidFill>
                            <a:srgbClr val="374151"/>
                          </a:solidFill>
                          <a:latin typeface="Aptos"/>
                        </a:defRPr>
                      </a:pPr>
                      <a:r>
                        <a:t>Trained 1.52M-parameter MobileNetV3-Small with hardswish activations on 1,760 verified eye crops.</a:t>
                      </a:r>
                    </a:p>
                  </a:txBody>
                  <a:tcPr>
                    <a:solidFill>
                      <a:srgbClr val="FFFFFF"/>
                    </a:solidFill>
                  </a:tcPr>
                </a:tc>
                <a:tc>
                  <a:txBody>
                    <a:bodyPr/>
                    <a:lstStyle/>
                    <a:p>
                      <a:pPr algn="l">
                        <a:defRPr sz="1000">
                          <a:solidFill>
                            <a:srgbClr val="374151"/>
                          </a:solidFill>
                          <a:latin typeface="Aptos"/>
                        </a:defRPr>
                      </a:pPr>
                      <a:r>
                        <a:t>Achieved 82.95% accuracy and 82.89% macro F1 across 4 diagnostic classes.</a:t>
                      </a:r>
                    </a:p>
                  </a:txBody>
                  <a:tcPr>
                    <a:solidFill>
                      <a:srgbClr val="FFFFFF"/>
                    </a:solidFill>
                  </a:tcPr>
                </a:tc>
              </a:tr>
              <a:tr h="932688">
                <a:tc>
                  <a:txBody>
                    <a:bodyPr/>
                    <a:lstStyle/>
                    <a:p>
                      <a:pPr algn="l">
                        <a:defRPr sz="1000" b="1">
                          <a:solidFill>
                            <a:srgbClr val="111827"/>
                          </a:solidFill>
                          <a:latin typeface="Aptos"/>
                        </a:defRPr>
                      </a:pPr>
                      <a:r>
                        <a:t>RQ2: How can wound segmentation be achieved when training datasets provide only bounding box annotations?</a:t>
                      </a:r>
                    </a:p>
                  </a:txBody>
                  <a:tcPr>
                    <a:solidFill>
                      <a:srgbClr val="FDF2F4"/>
                    </a:solidFill>
                  </a:tcPr>
                </a:tc>
                <a:tc>
                  <a:txBody>
                    <a:bodyPr/>
                    <a:lstStyle/>
                    <a:p>
                      <a:pPr algn="l">
                        <a:defRPr sz="1000">
                          <a:solidFill>
                            <a:srgbClr val="374151"/>
                          </a:solidFill>
                          <a:latin typeface="Aptos"/>
                        </a:defRPr>
                      </a:pPr>
                      <a:r>
                        <a:t>A cascaded YOLOv8-to-U-Net pipeline decouples region proposal from pixel-level morphological delineation.</a:t>
                      </a:r>
                    </a:p>
                  </a:txBody>
                  <a:tcPr>
                    <a:solidFill>
                      <a:srgbClr val="FDF2F4"/>
                    </a:solidFill>
                  </a:tcPr>
                </a:tc>
                <a:tc>
                  <a:txBody>
                    <a:bodyPr/>
                    <a:lstStyle/>
                    <a:p>
                      <a:pPr algn="l">
                        <a:defRPr sz="1000">
                          <a:solidFill>
                            <a:srgbClr val="374151"/>
                          </a:solidFill>
                          <a:latin typeface="Aptos"/>
                        </a:defRPr>
                      </a:pPr>
                      <a:r>
                        <a:t>Built two-stage pipeline where YOLOv8 crops bounding boxes, feeding 256x256 sub-images into a 4-stage U-Net.</a:t>
                      </a:r>
                    </a:p>
                  </a:txBody>
                  <a:tcPr>
                    <a:solidFill>
                      <a:srgbClr val="FDF2F4"/>
                    </a:solidFill>
                  </a:tcPr>
                </a:tc>
                <a:tc>
                  <a:txBody>
                    <a:bodyPr/>
                    <a:lstStyle/>
                    <a:p>
                      <a:pPr algn="l">
                        <a:defRPr sz="1000">
                          <a:solidFill>
                            <a:srgbClr val="374151"/>
                          </a:solidFill>
                          <a:latin typeface="Aptos"/>
                        </a:defRPr>
                      </a:pPr>
                      <a:r>
                        <a:t>Clean forward-pass inference API segment_wounds() executing in 24.8 ms.</a:t>
                      </a:r>
                    </a:p>
                  </a:txBody>
                  <a:tcPr>
                    <a:solidFill>
                      <a:srgbClr val="FDF2F4"/>
                    </a:solidFill>
                  </a:tcPr>
                </a:tc>
              </a:tr>
              <a:tr h="932688">
                <a:tc>
                  <a:txBody>
                    <a:bodyPr/>
                    <a:lstStyle/>
                    <a:p>
                      <a:pPr algn="l">
                        <a:defRPr sz="1000" b="1">
                          <a:solidFill>
                            <a:srgbClr val="111827"/>
                          </a:solidFill>
                          <a:latin typeface="Aptos"/>
                        </a:defRPr>
                      </a:pPr>
                      <a:r>
                        <a:t>RQ3: How can deep models provide verifiable clinical trust to attending shelter veterinarians?</a:t>
                      </a:r>
                    </a:p>
                  </a:txBody>
                  <a:tcPr>
                    <a:solidFill>
                      <a:srgbClr val="FFFFFF"/>
                    </a:solidFill>
                  </a:tcPr>
                </a:tc>
                <a:tc>
                  <a:txBody>
                    <a:bodyPr/>
                    <a:lstStyle/>
                    <a:p>
                      <a:pPr algn="l">
                        <a:defRPr sz="1000">
                          <a:solidFill>
                            <a:srgbClr val="374151"/>
                          </a:solidFill>
                          <a:latin typeface="Aptos"/>
                        </a:defRPr>
                      </a:pPr>
                      <a:r>
                        <a:t>Gradient-weighted Class Activation Mapping (Grad-CAM) will verify focal attention on anatomical lesions.</a:t>
                      </a:r>
                    </a:p>
                  </a:txBody>
                  <a:tcPr>
                    <a:solidFill>
                      <a:srgbClr val="FFFFFF"/>
                    </a:solidFill>
                  </a:tcPr>
                </a:tc>
                <a:tc>
                  <a:txBody>
                    <a:bodyPr/>
                    <a:lstStyle/>
                    <a:p>
                      <a:pPr algn="l">
                        <a:defRPr sz="1000">
                          <a:solidFill>
                            <a:srgbClr val="374151"/>
                          </a:solidFill>
                          <a:latin typeface="Aptos"/>
                        </a:defRPr>
                      </a:pPr>
                      <a:r>
                        <a:t>Integrated Grad-CAM hook on final convolutional layer (features[12]) of Eye CNN.</a:t>
                      </a:r>
                    </a:p>
                  </a:txBody>
                  <a:tcPr>
                    <a:solidFill>
                      <a:srgbClr val="FFFFFF"/>
                    </a:solidFill>
                  </a:tcPr>
                </a:tc>
                <a:tc>
                  <a:txBody>
                    <a:bodyPr/>
                    <a:lstStyle/>
                    <a:p>
                      <a:pPr algn="l">
                        <a:defRPr sz="1000">
                          <a:solidFill>
                            <a:srgbClr val="374151"/>
                          </a:solidFill>
                          <a:latin typeface="Aptos"/>
                        </a:defRPr>
                      </a:pPr>
                      <a:r>
                        <a:t>Empirically demonstrated localized heatmaps on palpebral conjunctiva and eyelid margins.</a:t>
                      </a:r>
                    </a:p>
                  </a:txBody>
                  <a:tcPr>
                    <a:solidFill>
                      <a:srgbClr val="FFFFFF"/>
                    </a:solidFill>
                  </a:tcPr>
                </a:tc>
              </a:tr>
              <a:tr h="932688">
                <a:tc>
                  <a:txBody>
                    <a:bodyPr/>
                    <a:lstStyle/>
                    <a:p>
                      <a:pPr algn="l">
                        <a:defRPr sz="1000" b="1">
                          <a:solidFill>
                            <a:srgbClr val="111827"/>
                          </a:solidFill>
                          <a:latin typeface="Aptos"/>
                        </a:defRPr>
                      </a:pPr>
                      <a:r>
                        <a:t>RQ4: Can computer-vision modules seamlessly feed intermediate feature representations into downstream triage?</a:t>
                      </a:r>
                    </a:p>
                  </a:txBody>
                  <a:tcPr>
                    <a:solidFill>
                      <a:srgbClr val="FDF2F4"/>
                    </a:solidFill>
                  </a:tcPr>
                </a:tc>
                <a:tc>
                  <a:txBody>
                    <a:bodyPr/>
                    <a:lstStyle/>
                    <a:p>
                      <a:pPr algn="l">
                        <a:defRPr sz="1000">
                          <a:solidFill>
                            <a:srgbClr val="374151"/>
                          </a:solidFill>
                          <a:latin typeface="Aptos"/>
                        </a:defRPr>
                      </a:pPr>
                      <a:r>
                        <a:t>Extracting the 576-dim penultimate feature vector enables flexible late fusion in downstream Transformers.</a:t>
                      </a:r>
                    </a:p>
                  </a:txBody>
                  <a:tcPr>
                    <a:solidFill>
                      <a:srgbClr val="FDF2F4"/>
                    </a:solidFill>
                  </a:tcPr>
                </a:tc>
                <a:tc>
                  <a:txBody>
                    <a:bodyPr/>
                    <a:lstStyle/>
                    <a:p>
                      <a:pPr algn="l">
                        <a:defRPr sz="1000">
                          <a:solidFill>
                            <a:srgbClr val="374151"/>
                          </a:solidFill>
                          <a:latin typeface="Aptos"/>
                        </a:defRPr>
                      </a:pPr>
                      <a:r>
                        <a:t>Designed predict_eye() to concurrently output discrete diagnostic probabilities and 576-dim embedding.</a:t>
                      </a:r>
                    </a:p>
                  </a:txBody>
                  <a:tcPr>
                    <a:solidFill>
                      <a:srgbClr val="FDF2F4"/>
                    </a:solidFill>
                  </a:tcPr>
                </a:tc>
                <a:tc>
                  <a:txBody>
                    <a:bodyPr/>
                    <a:lstStyle/>
                    <a:p>
                      <a:pPr algn="l">
                        <a:defRPr sz="1000">
                          <a:solidFill>
                            <a:srgbClr val="374151"/>
                          </a:solidFill>
                          <a:latin typeface="Aptos"/>
                        </a:defRPr>
                      </a:pPr>
                      <a:r>
                        <a:t>Verified interoperability with backend orchestrator and Multi-Modal ViT schema.</a:t>
                      </a:r>
                    </a:p>
                  </a:txBody>
                  <a:tcPr>
                    <a:solidFill>
                      <a:srgbClr val="FDF2F4"/>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9921240" y="201168"/>
            <a:ext cx="1965960" cy="685800"/>
          </a:xfrm>
          <a:prstGeom prst="rect">
            <a:avLst/>
          </a:prstGeom>
        </p:spPr>
      </p:pic>
      <p:sp>
        <p:nvSpPr>
          <p:cNvPr id="3" name="TextBox 2"/>
          <p:cNvSpPr txBox="1"/>
          <p:nvPr/>
        </p:nvSpPr>
        <p:spPr>
          <a:xfrm>
            <a:off x="731520" y="320040"/>
            <a:ext cx="8961120" cy="777240"/>
          </a:xfrm>
          <a:prstGeom prst="rect">
            <a:avLst/>
          </a:prstGeom>
          <a:noFill/>
        </p:spPr>
        <p:txBody>
          <a:bodyPr wrap="square" lIns="0" tIns="0" rIns="0" bIns="0">
            <a:spAutoFit/>
          </a:bodyPr>
          <a:lstStyle/>
          <a:p>
            <a:pPr>
              <a:spcAft>
                <a:spcPts val="200"/>
              </a:spcAft>
              <a:defRPr sz="950" b="1">
                <a:solidFill>
                  <a:srgbClr val="B6114D"/>
                </a:solidFill>
                <a:latin typeface="Aptos"/>
              </a:defRPr>
            </a:pPr>
            <a:r>
              <a:t>SECTION B: SYSTEM ARCHITECTURE</a:t>
            </a:r>
          </a:p>
          <a:p>
            <a:pPr>
              <a:defRPr sz="2100" b="1">
                <a:solidFill>
                  <a:srgbClr val="111827"/>
                </a:solidFill>
                <a:latin typeface="Aptos"/>
              </a:defRPr>
            </a:pPr>
            <a:r>
              <a:t>Overall MediPaw System Architecture &amp; Pipeline</a:t>
            </a:r>
          </a:p>
        </p:txBody>
      </p:sp>
      <p:sp>
        <p:nvSpPr>
          <p:cNvPr id="4" name="Rectangle 3"/>
          <p:cNvSpPr/>
          <p:nvPr/>
        </p:nvSpPr>
        <p:spPr>
          <a:xfrm>
            <a:off x="731520" y="1170432"/>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161288"/>
            <a:ext cx="1097280" cy="32004"/>
          </a:xfrm>
          <a:prstGeom prst="rect">
            <a:avLst/>
          </a:prstGeom>
          <a:solidFill>
            <a:srgbClr val="B6114D"/>
          </a:solidFill>
          <a:ln>
            <a:solidFill>
              <a:srgbClr val="B611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09360"/>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55080"/>
            <a:ext cx="4572000" cy="320040"/>
          </a:xfrm>
          <a:prstGeom prst="rect">
            <a:avLst/>
          </a:prstGeom>
          <a:noFill/>
        </p:spPr>
        <p:txBody>
          <a:bodyPr wrap="none" lIns="0" tIns="0" rIns="0" bIns="0">
            <a:spAutoFit/>
          </a:bodyPr>
          <a:lstStyle/>
          <a:p>
            <a:pPr>
              <a:defRPr sz="900">
                <a:solidFill>
                  <a:srgbClr val="6B7280"/>
                </a:solidFill>
                <a:latin typeface="Aptos"/>
              </a:defRPr>
            </a:pPr>
            <a:r>
              <a:t>MediPaw — every paw deserves a chance</a:t>
            </a:r>
          </a:p>
        </p:txBody>
      </p:sp>
      <p:sp>
        <p:nvSpPr>
          <p:cNvPr id="8" name="TextBox 7"/>
          <p:cNvSpPr txBox="1"/>
          <p:nvPr/>
        </p:nvSpPr>
        <p:spPr>
          <a:xfrm>
            <a:off x="4572000" y="6355080"/>
            <a:ext cx="4114800" cy="320040"/>
          </a:xfrm>
          <a:prstGeom prst="rect">
            <a:avLst/>
          </a:prstGeom>
          <a:noFill/>
        </p:spPr>
        <p:txBody>
          <a:bodyPr wrap="none" lIns="0" tIns="0" rIns="0" bIns="0">
            <a:spAutoFit/>
          </a:bodyPr>
          <a:lstStyle/>
          <a:p>
            <a:pPr algn="ctr">
              <a:defRPr sz="900">
                <a:solidFill>
                  <a:srgbClr val="6B7280"/>
                </a:solidFill>
                <a:latin typeface="Aptos"/>
              </a:defRPr>
            </a:pPr>
            <a:r>
              <a:t>A.C. Sanhitha Reddy (CB.SC.U4CSE23206) | 23CSE473 Review 2</a:t>
            </a:r>
          </a:p>
        </p:txBody>
      </p:sp>
      <p:sp>
        <p:nvSpPr>
          <p:cNvPr id="9" name="TextBox 8"/>
          <p:cNvSpPr txBox="1"/>
          <p:nvPr/>
        </p:nvSpPr>
        <p:spPr>
          <a:xfrm>
            <a:off x="9601200" y="6355080"/>
            <a:ext cx="1828800" cy="320040"/>
          </a:xfrm>
          <a:prstGeom prst="rect">
            <a:avLst/>
          </a:prstGeom>
          <a:noFill/>
        </p:spPr>
        <p:txBody>
          <a:bodyPr wrap="none" lIns="0" tIns="0" rIns="0" bIns="0">
            <a:spAutoFit/>
          </a:bodyPr>
          <a:lstStyle/>
          <a:p>
            <a:pPr algn="r">
              <a:defRPr sz="900" b="1">
                <a:solidFill>
                  <a:srgbClr val="B6114D"/>
                </a:solidFill>
                <a:latin typeface="Aptos"/>
              </a:defRPr>
            </a:pPr>
            <a:r>
              <a:t>Slide 7 of 44</a:t>
            </a:r>
          </a:p>
        </p:txBody>
      </p:sp>
      <p:pic>
        <p:nvPicPr>
          <p:cNvPr id="10" name="Picture 9" descr="arch diag.png"/>
          <p:cNvPicPr>
            <a:picLocks noChangeAspect="1"/>
          </p:cNvPicPr>
          <p:nvPr/>
        </p:nvPicPr>
        <p:blipFill>
          <a:blip r:embed="rId3"/>
          <a:stretch>
            <a:fillRect/>
          </a:stretch>
        </p:blipFill>
        <p:spPr>
          <a:xfrm>
            <a:off x="731520" y="1371600"/>
            <a:ext cx="6583680" cy="4663440"/>
          </a:xfrm>
          <a:prstGeom prst="rect">
            <a:avLst/>
          </a:prstGeom>
        </p:spPr>
      </p:pic>
      <p:sp>
        <p:nvSpPr>
          <p:cNvPr id="11" name="Rectangle 10"/>
          <p:cNvSpPr/>
          <p:nvPr/>
        </p:nvSpPr>
        <p:spPr>
          <a:xfrm>
            <a:off x="7589520" y="1371600"/>
            <a:ext cx="3840480" cy="4663440"/>
          </a:xfrm>
          <a:prstGeom prst="rect">
            <a:avLst/>
          </a:prstGeom>
          <a:solidFill>
            <a:srgbClr val="FDF2F4"/>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0" y="1554480"/>
            <a:ext cx="3474720" cy="4297680"/>
          </a:xfrm>
          <a:prstGeom prst="rect">
            <a:avLst/>
          </a:prstGeom>
          <a:noFill/>
        </p:spPr>
        <p:txBody>
          <a:bodyPr wrap="square">
            <a:spAutoFit/>
          </a:bodyPr>
          <a:lstStyle/>
          <a:p>
            <a:pPr>
              <a:spcAft>
                <a:spcPts val="600"/>
              </a:spcAft>
              <a:defRPr sz="1200" b="1">
                <a:solidFill>
                  <a:srgbClr val="B6114D"/>
                </a:solidFill>
                <a:latin typeface="Aptos"/>
              </a:defRPr>
            </a:pPr>
            <a:r>
              <a:t>PIPELINE ARCHITECTURE LAYERS</a:t>
            </a:r>
          </a:p>
          <a:p>
            <a:pPr>
              <a:spcAft>
                <a:spcPts val="600"/>
              </a:spcAft>
              <a:defRPr sz="1000">
                <a:latin typeface="Aptos"/>
              </a:defRPr>
            </a:pPr>
            <a:r>
              <a:rPr b="1">
                <a:solidFill>
                  <a:srgbClr val="111827"/>
                </a:solidFill>
              </a:rPr>
              <a:t>• Input Ingestion Layer:</a:t>
            </a:r>
            <a:r>
              <a:rPr b="0">
                <a:solidFill>
                  <a:srgbClr val="374151"/>
                </a:solidFill>
              </a:rPr>
              <a:t> Mobile and web clients submit canine imagery (ocular close-ups, full-body dermatological views, radiographs).</a:t>
            </a:r>
          </a:p>
          <a:p>
            <a:pPr>
              <a:spcAft>
                <a:spcPts val="600"/>
              </a:spcAft>
              <a:defRPr sz="1000">
                <a:latin typeface="Aptos"/>
              </a:defRPr>
            </a:pPr>
            <a:r>
              <a:rPr b="1">
                <a:solidFill>
                  <a:srgbClr val="111827"/>
                </a:solidFill>
              </a:rPr>
              <a:t>• Specialized Vision Encoders:</a:t>
            </a:r>
            <a:r>
              <a:rPr b="0">
                <a:solidFill>
                  <a:srgbClr val="374151"/>
                </a:solidFill>
              </a:rPr>
              <a:t> Parallel processing via Eye CNN (MobileNetV3), Skin CNN, Thoracic CNN, and YOLOv8 object detector.</a:t>
            </a:r>
          </a:p>
          <a:p>
            <a:pPr>
              <a:spcAft>
                <a:spcPts val="600"/>
              </a:spcAft>
              <a:defRPr sz="1000">
                <a:latin typeface="Aptos"/>
              </a:defRPr>
            </a:pPr>
            <a:r>
              <a:rPr b="1">
                <a:solidFill>
                  <a:srgbClr val="111827"/>
                </a:solidFill>
              </a:rPr>
              <a:t>• Two-Stage Trauma Cascade:</a:t>
            </a:r>
            <a:r>
              <a:rPr b="0">
                <a:solidFill>
                  <a:srgbClr val="374151"/>
                </a:solidFill>
              </a:rPr>
              <a:t> YOLOv8 detects wound bounding boxes and feeds cropped ROIs directly to U-Net for lesion segmentation.</a:t>
            </a:r>
          </a:p>
          <a:p>
            <a:pPr>
              <a:spcAft>
                <a:spcPts val="600"/>
              </a:spcAft>
              <a:defRPr sz="1000">
                <a:latin typeface="Aptos"/>
              </a:defRPr>
            </a:pPr>
            <a:r>
              <a:rPr b="1">
                <a:solidFill>
                  <a:srgbClr val="111827"/>
                </a:solidFill>
              </a:rPr>
              <a:t>• Feature Harmonization Layer:</a:t>
            </a:r>
            <a:r>
              <a:rPr b="0">
                <a:solidFill>
                  <a:srgbClr val="374151"/>
                </a:solidFill>
              </a:rPr>
              <a:t> Linear projection layers map heterogeneous embeddings (576d, 10d, 2d) to a shared 256d space.</a:t>
            </a:r>
          </a:p>
          <a:p>
            <a:pPr>
              <a:spcAft>
                <a:spcPts val="600"/>
              </a:spcAft>
              <a:defRPr sz="1000">
                <a:latin typeface="Aptos"/>
              </a:defRPr>
            </a:pPr>
            <a:r>
              <a:rPr b="1">
                <a:solidFill>
                  <a:srgbClr val="111827"/>
                </a:solidFill>
              </a:rPr>
              <a:t>• Cross-Modal Fusion:</a:t>
            </a:r>
            <a:r>
              <a:rPr b="0">
                <a:solidFill>
                  <a:srgbClr val="374151"/>
                </a:solidFill>
              </a:rPr>
              <a:t> 3-layer Vision Transformer with dynamic missing-modality masks computes joint urgency.</a:t>
            </a:r>
          </a:p>
          <a:p>
            <a:pPr>
              <a:spcAft>
                <a:spcPts val="600"/>
              </a:spcAft>
              <a:defRPr sz="1000">
                <a:latin typeface="Aptos"/>
              </a:defRPr>
            </a:pPr>
            <a:r>
              <a:rPr b="1">
                <a:solidFill>
                  <a:srgbClr val="111827"/>
                </a:solidFill>
              </a:rPr>
              <a:t>• FastAPI Serving:</a:t>
            </a:r>
            <a:r>
              <a:rPr b="0">
                <a:solidFill>
                  <a:srgbClr val="374151"/>
                </a:solidFill>
              </a:rPr>
              <a:t> Asynchronous microservice returning structured triage predictions.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9921240" y="201168"/>
            <a:ext cx="1965960" cy="685800"/>
          </a:xfrm>
          <a:prstGeom prst="rect">
            <a:avLst/>
          </a:prstGeom>
        </p:spPr>
      </p:pic>
      <p:sp>
        <p:nvSpPr>
          <p:cNvPr id="3" name="TextBox 2"/>
          <p:cNvSpPr txBox="1"/>
          <p:nvPr/>
        </p:nvSpPr>
        <p:spPr>
          <a:xfrm>
            <a:off x="731520" y="320040"/>
            <a:ext cx="8961120" cy="777240"/>
          </a:xfrm>
          <a:prstGeom prst="rect">
            <a:avLst/>
          </a:prstGeom>
          <a:noFill/>
        </p:spPr>
        <p:txBody>
          <a:bodyPr wrap="square" lIns="0" tIns="0" rIns="0" bIns="0">
            <a:spAutoFit/>
          </a:bodyPr>
          <a:lstStyle/>
          <a:p>
            <a:pPr>
              <a:spcAft>
                <a:spcPts val="200"/>
              </a:spcAft>
              <a:defRPr sz="950" b="1">
                <a:solidFill>
                  <a:srgbClr val="B6114D"/>
                </a:solidFill>
                <a:latin typeface="Aptos"/>
              </a:defRPr>
            </a:pPr>
            <a:r>
              <a:t>SECTION B: SYSTEM ARCHITECTURE</a:t>
            </a:r>
          </a:p>
          <a:p>
            <a:pPr>
              <a:defRPr sz="2100" b="1">
                <a:solidFill>
                  <a:srgbClr val="111827"/>
                </a:solidFill>
                <a:latin typeface="Aptos"/>
              </a:defRPr>
            </a:pPr>
            <a:r>
              <a:t>End-to-End Image Processing Workflow</a:t>
            </a:r>
          </a:p>
        </p:txBody>
      </p:sp>
      <p:sp>
        <p:nvSpPr>
          <p:cNvPr id="4" name="Rectangle 3"/>
          <p:cNvSpPr/>
          <p:nvPr/>
        </p:nvSpPr>
        <p:spPr>
          <a:xfrm>
            <a:off x="731520" y="1170432"/>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161288"/>
            <a:ext cx="1097280" cy="32004"/>
          </a:xfrm>
          <a:prstGeom prst="rect">
            <a:avLst/>
          </a:prstGeom>
          <a:solidFill>
            <a:srgbClr val="B6114D"/>
          </a:solidFill>
          <a:ln>
            <a:solidFill>
              <a:srgbClr val="B611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09360"/>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55080"/>
            <a:ext cx="4572000" cy="320040"/>
          </a:xfrm>
          <a:prstGeom prst="rect">
            <a:avLst/>
          </a:prstGeom>
          <a:noFill/>
        </p:spPr>
        <p:txBody>
          <a:bodyPr wrap="none" lIns="0" tIns="0" rIns="0" bIns="0">
            <a:spAutoFit/>
          </a:bodyPr>
          <a:lstStyle/>
          <a:p>
            <a:pPr>
              <a:defRPr sz="900">
                <a:solidFill>
                  <a:srgbClr val="6B7280"/>
                </a:solidFill>
                <a:latin typeface="Aptos"/>
              </a:defRPr>
            </a:pPr>
            <a:r>
              <a:t>MediPaw — every paw deserves a chance</a:t>
            </a:r>
          </a:p>
        </p:txBody>
      </p:sp>
      <p:sp>
        <p:nvSpPr>
          <p:cNvPr id="8" name="TextBox 7"/>
          <p:cNvSpPr txBox="1"/>
          <p:nvPr/>
        </p:nvSpPr>
        <p:spPr>
          <a:xfrm>
            <a:off x="4572000" y="6355080"/>
            <a:ext cx="4114800" cy="320040"/>
          </a:xfrm>
          <a:prstGeom prst="rect">
            <a:avLst/>
          </a:prstGeom>
          <a:noFill/>
        </p:spPr>
        <p:txBody>
          <a:bodyPr wrap="none" lIns="0" tIns="0" rIns="0" bIns="0">
            <a:spAutoFit/>
          </a:bodyPr>
          <a:lstStyle/>
          <a:p>
            <a:pPr algn="ctr">
              <a:defRPr sz="900">
                <a:solidFill>
                  <a:srgbClr val="6B7280"/>
                </a:solidFill>
                <a:latin typeface="Aptos"/>
              </a:defRPr>
            </a:pPr>
            <a:r>
              <a:t>A.C. Sanhitha Reddy (CB.SC.U4CSE23206) | 23CSE473 Review 2</a:t>
            </a:r>
          </a:p>
        </p:txBody>
      </p:sp>
      <p:sp>
        <p:nvSpPr>
          <p:cNvPr id="9" name="TextBox 8"/>
          <p:cNvSpPr txBox="1"/>
          <p:nvPr/>
        </p:nvSpPr>
        <p:spPr>
          <a:xfrm>
            <a:off x="9601200" y="6355080"/>
            <a:ext cx="1828800" cy="320040"/>
          </a:xfrm>
          <a:prstGeom prst="rect">
            <a:avLst/>
          </a:prstGeom>
          <a:noFill/>
        </p:spPr>
        <p:txBody>
          <a:bodyPr wrap="none" lIns="0" tIns="0" rIns="0" bIns="0">
            <a:spAutoFit/>
          </a:bodyPr>
          <a:lstStyle/>
          <a:p>
            <a:pPr algn="r">
              <a:defRPr sz="900" b="1">
                <a:solidFill>
                  <a:srgbClr val="B6114D"/>
                </a:solidFill>
                <a:latin typeface="Aptos"/>
              </a:defRPr>
            </a:pPr>
            <a:r>
              <a:t>Slide 8 of 44</a:t>
            </a:r>
          </a:p>
        </p:txBody>
      </p:sp>
      <p:sp>
        <p:nvSpPr>
          <p:cNvPr id="10" name="Rectangle 9"/>
          <p:cNvSpPr/>
          <p:nvPr/>
        </p:nvSpPr>
        <p:spPr>
          <a:xfrm>
            <a:off x="731520" y="1554480"/>
            <a:ext cx="2057400" cy="4297680"/>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1554480"/>
            <a:ext cx="2057400" cy="54864"/>
          </a:xfrm>
          <a:prstGeom prst="rect">
            <a:avLst/>
          </a:prstGeom>
          <a:solidFill>
            <a:srgbClr val="B611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1691640"/>
            <a:ext cx="1828800" cy="4023360"/>
          </a:xfrm>
          <a:prstGeom prst="rect">
            <a:avLst/>
          </a:prstGeom>
          <a:noFill/>
        </p:spPr>
        <p:txBody>
          <a:bodyPr wrap="square">
            <a:spAutoFit/>
          </a:bodyPr>
          <a:lstStyle/>
          <a:p>
            <a:pPr>
              <a:spcAft>
                <a:spcPts val="200"/>
              </a:spcAft>
              <a:defRPr sz="1100" b="1">
                <a:solidFill>
                  <a:srgbClr val="B6114D"/>
                </a:solidFill>
                <a:latin typeface="Aptos"/>
              </a:defRPr>
            </a:pPr>
            <a:r>
              <a:t>Step 1: Ingestion</a:t>
            </a:r>
          </a:p>
          <a:p>
            <a:pPr>
              <a:spcAft>
                <a:spcPts val="600"/>
              </a:spcAft>
              <a:defRPr sz="1000" b="1">
                <a:solidFill>
                  <a:srgbClr val="111827"/>
                </a:solidFill>
                <a:latin typeface="Aptos"/>
              </a:defRPr>
            </a:pPr>
            <a:r>
              <a:t>Image Capture &amp; Validation</a:t>
            </a:r>
          </a:p>
          <a:p>
            <a:pPr>
              <a:defRPr sz="950">
                <a:solidFill>
                  <a:srgbClr val="374151"/>
                </a:solidFill>
                <a:latin typeface="Aptos"/>
              </a:defRPr>
            </a:pPr>
            <a:r>
              <a:t>Client uploads JPG/PNG images. Server validates resolution (&gt;= 224x224), channels (RGB), and payload size.</a:t>
            </a:r>
          </a:p>
        </p:txBody>
      </p:sp>
      <p:sp>
        <p:nvSpPr>
          <p:cNvPr id="13" name="Rectangle 12"/>
          <p:cNvSpPr/>
          <p:nvPr/>
        </p:nvSpPr>
        <p:spPr>
          <a:xfrm>
            <a:off x="2907791" y="1554480"/>
            <a:ext cx="2057400" cy="4297680"/>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07791" y="1554480"/>
            <a:ext cx="2057400" cy="54864"/>
          </a:xfrm>
          <a:prstGeom prst="rect">
            <a:avLst/>
          </a:prstGeom>
          <a:solidFill>
            <a:srgbClr val="0860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17519" y="1691640"/>
            <a:ext cx="1828800" cy="4023360"/>
          </a:xfrm>
          <a:prstGeom prst="rect">
            <a:avLst/>
          </a:prstGeom>
          <a:noFill/>
        </p:spPr>
        <p:txBody>
          <a:bodyPr wrap="square">
            <a:spAutoFit/>
          </a:bodyPr>
          <a:lstStyle/>
          <a:p>
            <a:pPr>
              <a:spcAft>
                <a:spcPts val="200"/>
              </a:spcAft>
              <a:defRPr sz="1100" b="1">
                <a:solidFill>
                  <a:srgbClr val="086072"/>
                </a:solidFill>
                <a:latin typeface="Aptos"/>
              </a:defRPr>
            </a:pPr>
            <a:r>
              <a:t>Step 2: Preprocessing</a:t>
            </a:r>
          </a:p>
          <a:p>
            <a:pPr>
              <a:spcAft>
                <a:spcPts val="600"/>
              </a:spcAft>
              <a:defRPr sz="1000" b="1">
                <a:solidFill>
                  <a:srgbClr val="111827"/>
                </a:solidFill>
                <a:latin typeface="Aptos"/>
              </a:defRPr>
            </a:pPr>
            <a:r>
              <a:t>Normalization &amp; Cropping</a:t>
            </a:r>
          </a:p>
          <a:p>
            <a:pPr>
              <a:defRPr sz="950">
                <a:solidFill>
                  <a:srgbClr val="374151"/>
                </a:solidFill>
                <a:latin typeface="Aptos"/>
              </a:defRPr>
            </a:pPr>
            <a:r>
              <a:t>Affine normalization to [0,1], ImageNet mean/std standardization, and bilateral contrast adjustment.</a:t>
            </a:r>
          </a:p>
        </p:txBody>
      </p:sp>
      <p:sp>
        <p:nvSpPr>
          <p:cNvPr id="16" name="Rectangle 15"/>
          <p:cNvSpPr/>
          <p:nvPr/>
        </p:nvSpPr>
        <p:spPr>
          <a:xfrm>
            <a:off x="5084064" y="1554480"/>
            <a:ext cx="2057400" cy="4297680"/>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84064" y="1554480"/>
            <a:ext cx="2057400" cy="54864"/>
          </a:xfrm>
          <a:prstGeom prst="rect">
            <a:avLst/>
          </a:prstGeom>
          <a:solidFill>
            <a:srgbClr val="8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93792" y="1691640"/>
            <a:ext cx="1828800" cy="4023360"/>
          </a:xfrm>
          <a:prstGeom prst="rect">
            <a:avLst/>
          </a:prstGeom>
          <a:noFill/>
        </p:spPr>
        <p:txBody>
          <a:bodyPr wrap="square">
            <a:spAutoFit/>
          </a:bodyPr>
          <a:lstStyle/>
          <a:p>
            <a:pPr>
              <a:spcAft>
                <a:spcPts val="200"/>
              </a:spcAft>
              <a:defRPr sz="1100" b="1">
                <a:solidFill>
                  <a:srgbClr val="800020"/>
                </a:solidFill>
                <a:latin typeface="Aptos"/>
              </a:defRPr>
            </a:pPr>
            <a:r>
              <a:t>Step 3: Inference</a:t>
            </a:r>
          </a:p>
          <a:p>
            <a:pPr>
              <a:spcAft>
                <a:spcPts val="600"/>
              </a:spcAft>
              <a:defRPr sz="1000" b="1">
                <a:solidFill>
                  <a:srgbClr val="111827"/>
                </a:solidFill>
                <a:latin typeface="Aptos"/>
              </a:defRPr>
            </a:pPr>
            <a:r>
              <a:t>Parallel Encoders</a:t>
            </a:r>
          </a:p>
          <a:p>
            <a:pPr>
              <a:defRPr sz="950">
                <a:solidFill>
                  <a:srgbClr val="374151"/>
                </a:solidFill>
                <a:latin typeface="Aptos"/>
              </a:defRPr>
            </a:pPr>
            <a:r>
              <a:t>Eye CNN extracts 576d features &amp; class probabilities. YOLOv8 localizes candidate trauma bounding boxes.</a:t>
            </a:r>
          </a:p>
        </p:txBody>
      </p:sp>
      <p:sp>
        <p:nvSpPr>
          <p:cNvPr id="19" name="Rectangle 18"/>
          <p:cNvSpPr/>
          <p:nvPr/>
        </p:nvSpPr>
        <p:spPr>
          <a:xfrm>
            <a:off x="7260336" y="1554480"/>
            <a:ext cx="2057400" cy="4297680"/>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260336" y="1554480"/>
            <a:ext cx="2057400" cy="54864"/>
          </a:xfrm>
          <a:prstGeom prst="rect">
            <a:avLst/>
          </a:prstGeom>
          <a:solidFill>
            <a:srgbClr val="B611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70064" y="1691640"/>
            <a:ext cx="1828800" cy="4023360"/>
          </a:xfrm>
          <a:prstGeom prst="rect">
            <a:avLst/>
          </a:prstGeom>
          <a:noFill/>
        </p:spPr>
        <p:txBody>
          <a:bodyPr wrap="square">
            <a:spAutoFit/>
          </a:bodyPr>
          <a:lstStyle/>
          <a:p>
            <a:pPr>
              <a:spcAft>
                <a:spcPts val="200"/>
              </a:spcAft>
              <a:defRPr sz="1100" b="1">
                <a:solidFill>
                  <a:srgbClr val="B6114D"/>
                </a:solidFill>
                <a:latin typeface="Aptos"/>
              </a:defRPr>
            </a:pPr>
            <a:r>
              <a:t>Step 4: Segmentation</a:t>
            </a:r>
          </a:p>
          <a:p>
            <a:pPr>
              <a:spcAft>
                <a:spcPts val="600"/>
              </a:spcAft>
              <a:defRPr sz="1000" b="1">
                <a:solidFill>
                  <a:srgbClr val="111827"/>
                </a:solidFill>
                <a:latin typeface="Aptos"/>
              </a:defRPr>
            </a:pPr>
            <a:r>
              <a:t>Two-Stage Cascade</a:t>
            </a:r>
          </a:p>
          <a:p>
            <a:pPr>
              <a:defRPr sz="950">
                <a:solidFill>
                  <a:srgbClr val="374151"/>
                </a:solidFill>
                <a:latin typeface="Aptos"/>
              </a:defRPr>
            </a:pPr>
            <a:r>
              <a:t>Detected wound crops are passed to U-Net. U-Net predicts binary segmentation mask &amp; computes area.</a:t>
            </a:r>
          </a:p>
        </p:txBody>
      </p:sp>
      <p:sp>
        <p:nvSpPr>
          <p:cNvPr id="22" name="Rectangle 21"/>
          <p:cNvSpPr/>
          <p:nvPr/>
        </p:nvSpPr>
        <p:spPr>
          <a:xfrm>
            <a:off x="9436608" y="1554480"/>
            <a:ext cx="2057400" cy="4297680"/>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436608" y="1554480"/>
            <a:ext cx="2057400" cy="54864"/>
          </a:xfrm>
          <a:prstGeom prst="rect">
            <a:avLst/>
          </a:prstGeom>
          <a:solidFill>
            <a:srgbClr val="0860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546336" y="1691640"/>
            <a:ext cx="1828800" cy="4023360"/>
          </a:xfrm>
          <a:prstGeom prst="rect">
            <a:avLst/>
          </a:prstGeom>
          <a:noFill/>
        </p:spPr>
        <p:txBody>
          <a:bodyPr wrap="square">
            <a:spAutoFit/>
          </a:bodyPr>
          <a:lstStyle/>
          <a:p>
            <a:pPr>
              <a:spcAft>
                <a:spcPts val="200"/>
              </a:spcAft>
              <a:defRPr sz="1100" b="1">
                <a:solidFill>
                  <a:srgbClr val="086072"/>
                </a:solidFill>
                <a:latin typeface="Aptos"/>
              </a:defRPr>
            </a:pPr>
            <a:r>
              <a:t>Step 5: Output</a:t>
            </a:r>
          </a:p>
          <a:p>
            <a:pPr>
              <a:spcAft>
                <a:spcPts val="600"/>
              </a:spcAft>
              <a:defRPr sz="1000" b="1">
                <a:solidFill>
                  <a:srgbClr val="111827"/>
                </a:solidFill>
                <a:latin typeface="Aptos"/>
              </a:defRPr>
            </a:pPr>
            <a:r>
              <a:t>JSON Response &amp; Alerts</a:t>
            </a:r>
          </a:p>
          <a:p>
            <a:pPr>
              <a:defRPr sz="950">
                <a:solidFill>
                  <a:srgbClr val="374151"/>
                </a:solidFill>
                <a:latin typeface="Aptos"/>
              </a:defRPr>
            </a:pPr>
            <a:r>
              <a:t>Structured payload returned to client with condition probabilities, mask overlays, and triage score.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9921240" y="201168"/>
            <a:ext cx="1965960" cy="685800"/>
          </a:xfrm>
          <a:prstGeom prst="rect">
            <a:avLst/>
          </a:prstGeom>
        </p:spPr>
      </p:pic>
      <p:sp>
        <p:nvSpPr>
          <p:cNvPr id="3" name="TextBox 2"/>
          <p:cNvSpPr txBox="1"/>
          <p:nvPr/>
        </p:nvSpPr>
        <p:spPr>
          <a:xfrm>
            <a:off x="731520" y="320040"/>
            <a:ext cx="8961120" cy="777240"/>
          </a:xfrm>
          <a:prstGeom prst="rect">
            <a:avLst/>
          </a:prstGeom>
          <a:noFill/>
        </p:spPr>
        <p:txBody>
          <a:bodyPr wrap="square" lIns="0" tIns="0" rIns="0" bIns="0">
            <a:spAutoFit/>
          </a:bodyPr>
          <a:lstStyle/>
          <a:p>
            <a:pPr>
              <a:spcAft>
                <a:spcPts val="200"/>
              </a:spcAft>
              <a:defRPr sz="950" b="1">
                <a:solidFill>
                  <a:srgbClr val="B6114D"/>
                </a:solidFill>
                <a:latin typeface="Aptos"/>
              </a:defRPr>
            </a:pPr>
            <a:r>
              <a:t>SECTION B: SYSTEM ARCHITECTURE</a:t>
            </a:r>
          </a:p>
          <a:p>
            <a:pPr>
              <a:defRPr sz="2100" b="1">
                <a:solidFill>
                  <a:srgbClr val="111827"/>
                </a:solidFill>
                <a:latin typeface="Aptos"/>
              </a:defRPr>
            </a:pPr>
            <a:r>
              <a:t>Role of Computer Vision Modules in Clinical Triage</a:t>
            </a:r>
          </a:p>
        </p:txBody>
      </p:sp>
      <p:sp>
        <p:nvSpPr>
          <p:cNvPr id="4" name="Rectangle 3"/>
          <p:cNvSpPr/>
          <p:nvPr/>
        </p:nvSpPr>
        <p:spPr>
          <a:xfrm>
            <a:off x="731520" y="1170432"/>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161288"/>
            <a:ext cx="1097280" cy="32004"/>
          </a:xfrm>
          <a:prstGeom prst="rect">
            <a:avLst/>
          </a:prstGeom>
          <a:solidFill>
            <a:srgbClr val="B6114D"/>
          </a:solidFill>
          <a:ln>
            <a:solidFill>
              <a:srgbClr val="B611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09360"/>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55080"/>
            <a:ext cx="4572000" cy="320040"/>
          </a:xfrm>
          <a:prstGeom prst="rect">
            <a:avLst/>
          </a:prstGeom>
          <a:noFill/>
        </p:spPr>
        <p:txBody>
          <a:bodyPr wrap="none" lIns="0" tIns="0" rIns="0" bIns="0">
            <a:spAutoFit/>
          </a:bodyPr>
          <a:lstStyle/>
          <a:p>
            <a:pPr>
              <a:defRPr sz="900">
                <a:solidFill>
                  <a:srgbClr val="6B7280"/>
                </a:solidFill>
                <a:latin typeface="Aptos"/>
              </a:defRPr>
            </a:pPr>
            <a:r>
              <a:t>MediPaw — every paw deserves a chance</a:t>
            </a:r>
          </a:p>
        </p:txBody>
      </p:sp>
      <p:sp>
        <p:nvSpPr>
          <p:cNvPr id="8" name="TextBox 7"/>
          <p:cNvSpPr txBox="1"/>
          <p:nvPr/>
        </p:nvSpPr>
        <p:spPr>
          <a:xfrm>
            <a:off x="4572000" y="6355080"/>
            <a:ext cx="4114800" cy="320040"/>
          </a:xfrm>
          <a:prstGeom prst="rect">
            <a:avLst/>
          </a:prstGeom>
          <a:noFill/>
        </p:spPr>
        <p:txBody>
          <a:bodyPr wrap="none" lIns="0" tIns="0" rIns="0" bIns="0">
            <a:spAutoFit/>
          </a:bodyPr>
          <a:lstStyle/>
          <a:p>
            <a:pPr algn="ctr">
              <a:defRPr sz="900">
                <a:solidFill>
                  <a:srgbClr val="6B7280"/>
                </a:solidFill>
                <a:latin typeface="Aptos"/>
              </a:defRPr>
            </a:pPr>
            <a:r>
              <a:t>A.C. Sanhitha Reddy (CB.SC.U4CSE23206) | 23CSE473 Review 2</a:t>
            </a:r>
          </a:p>
        </p:txBody>
      </p:sp>
      <p:sp>
        <p:nvSpPr>
          <p:cNvPr id="9" name="TextBox 8"/>
          <p:cNvSpPr txBox="1"/>
          <p:nvPr/>
        </p:nvSpPr>
        <p:spPr>
          <a:xfrm>
            <a:off x="9601200" y="6355080"/>
            <a:ext cx="1828800" cy="320040"/>
          </a:xfrm>
          <a:prstGeom prst="rect">
            <a:avLst/>
          </a:prstGeom>
          <a:noFill/>
        </p:spPr>
        <p:txBody>
          <a:bodyPr wrap="none" lIns="0" tIns="0" rIns="0" bIns="0">
            <a:spAutoFit/>
          </a:bodyPr>
          <a:lstStyle/>
          <a:p>
            <a:pPr algn="r">
              <a:defRPr sz="900" b="1">
                <a:solidFill>
                  <a:srgbClr val="B6114D"/>
                </a:solidFill>
                <a:latin typeface="Aptos"/>
              </a:defRPr>
            </a:pPr>
            <a:r>
              <a:t>Slide 9 of 44</a:t>
            </a:r>
          </a:p>
        </p:txBody>
      </p:sp>
      <p:sp>
        <p:nvSpPr>
          <p:cNvPr id="10" name="Rectangle 9"/>
          <p:cNvSpPr/>
          <p:nvPr/>
        </p:nvSpPr>
        <p:spPr>
          <a:xfrm>
            <a:off x="731520" y="1371600"/>
            <a:ext cx="3383280" cy="4663440"/>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1371600"/>
            <a:ext cx="3383280" cy="73152"/>
          </a:xfrm>
          <a:prstGeom prst="rect">
            <a:avLst/>
          </a:prstGeom>
          <a:solidFill>
            <a:srgbClr val="B611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1600200"/>
            <a:ext cx="3017520" cy="4206240"/>
          </a:xfrm>
          <a:prstGeom prst="rect">
            <a:avLst/>
          </a:prstGeom>
          <a:noFill/>
        </p:spPr>
        <p:txBody>
          <a:bodyPr wrap="square">
            <a:spAutoFit/>
          </a:bodyPr>
          <a:lstStyle/>
          <a:p>
            <a:pPr>
              <a:defRPr sz="1300" b="1">
                <a:solidFill>
                  <a:srgbClr val="B6114D"/>
                </a:solidFill>
                <a:latin typeface="Aptos"/>
              </a:defRPr>
            </a:pPr>
            <a:r>
              <a:t>Eye CNN Module</a:t>
            </a:r>
          </a:p>
          <a:p>
            <a:pPr>
              <a:spcAft>
                <a:spcPts val="200"/>
              </a:spcAft>
              <a:defRPr sz="1000" b="1">
                <a:solidFill>
                  <a:srgbClr val="111827"/>
                </a:solidFill>
                <a:latin typeface="Aptos"/>
              </a:defRPr>
            </a:pPr>
            <a:r>
              <a:t>Architecture: MobileNetV3-Small</a:t>
            </a:r>
          </a:p>
          <a:p>
            <a:pPr>
              <a:spcAft>
                <a:spcPts val="800"/>
              </a:spcAft>
              <a:defRPr sz="950">
                <a:solidFill>
                  <a:srgbClr val="6B7280"/>
                </a:solidFill>
                <a:latin typeface="Aptos"/>
              </a:defRPr>
            </a:pPr>
            <a:r>
              <a:t>Clinical Scope: Ocular Pathology Diagnosis</a:t>
            </a:r>
          </a:p>
          <a:p>
            <a:pPr>
              <a:spcAft>
                <a:spcPts val="600"/>
              </a:spcAft>
              <a:defRPr sz="1000">
                <a:latin typeface="Aptos"/>
              </a:defRPr>
            </a:pPr>
            <a:r>
              <a:rPr b="1">
                <a:solidFill>
                  <a:srgbClr val="111827"/>
                </a:solidFill>
              </a:rPr>
              <a:t>• Input:</a:t>
            </a:r>
            <a:r>
              <a:rPr b="0">
                <a:solidFill>
                  <a:srgbClr val="374151"/>
                </a:solidFill>
              </a:rPr>
              <a:t> 224x224 RGB canine eye crop.</a:t>
            </a:r>
          </a:p>
          <a:p>
            <a:pPr>
              <a:spcAft>
                <a:spcPts val="600"/>
              </a:spcAft>
              <a:defRPr sz="1000">
                <a:latin typeface="Aptos"/>
              </a:defRPr>
            </a:pPr>
            <a:r>
              <a:rPr b="1">
                <a:solidFill>
                  <a:srgbClr val="111827"/>
                </a:solidFill>
              </a:rPr>
              <a:t>• Function:</a:t>
            </a:r>
            <a:r>
              <a:rPr b="0">
                <a:solidFill>
                  <a:srgbClr val="374151"/>
                </a:solidFill>
              </a:rPr>
              <a:t> Evaluates palpebral conjunctiva, sclera, corneal clarity, and eyelid margins.</a:t>
            </a:r>
          </a:p>
          <a:p>
            <a:pPr>
              <a:spcAft>
                <a:spcPts val="600"/>
              </a:spcAft>
              <a:defRPr sz="1000">
                <a:latin typeface="Aptos"/>
              </a:defRPr>
            </a:pPr>
            <a:r>
              <a:rPr b="1">
                <a:solidFill>
                  <a:srgbClr val="111827"/>
                </a:solidFill>
              </a:rPr>
              <a:t>• Output:</a:t>
            </a:r>
            <a:r>
              <a:rPr b="0">
                <a:solidFill>
                  <a:srgbClr val="374151"/>
                </a:solidFill>
              </a:rPr>
              <a:t> 4-class softmax probabilities (Conjunctivitis, Entropion, Eyelid Lump, Healthy).</a:t>
            </a:r>
          </a:p>
          <a:p>
            <a:pPr>
              <a:spcAft>
                <a:spcPts val="600"/>
              </a:spcAft>
              <a:defRPr sz="1000">
                <a:latin typeface="Aptos"/>
              </a:defRPr>
            </a:pPr>
            <a:r>
              <a:rPr b="1">
                <a:solidFill>
                  <a:srgbClr val="111827"/>
                </a:solidFill>
              </a:rPr>
              <a:t>• Feature Role:</a:t>
            </a:r>
            <a:r>
              <a:rPr b="0">
                <a:solidFill>
                  <a:srgbClr val="374151"/>
                </a:solidFill>
              </a:rPr>
              <a:t> Exports 576-dim penultimate vector representing ocular pathology state to ViT.</a:t>
            </a:r>
          </a:p>
          <a:p>
            <a:pPr>
              <a:spcAft>
                <a:spcPts val="600"/>
              </a:spcAft>
              <a:defRPr sz="1000">
                <a:latin typeface="Aptos"/>
              </a:defRPr>
            </a:pPr>
            <a:r>
              <a:rPr b="1">
                <a:solidFill>
                  <a:srgbClr val="111827"/>
                </a:solidFill>
              </a:rPr>
              <a:t>• Execution Time:</a:t>
            </a:r>
            <a:r>
              <a:rPr b="0">
                <a:solidFill>
                  <a:srgbClr val="374151"/>
                </a:solidFill>
              </a:rPr>
              <a:t> 12.4 ms per inference.</a:t>
            </a:r>
          </a:p>
        </p:txBody>
      </p:sp>
      <p:sp>
        <p:nvSpPr>
          <p:cNvPr id="13" name="Rectangle 12"/>
          <p:cNvSpPr/>
          <p:nvPr/>
        </p:nvSpPr>
        <p:spPr>
          <a:xfrm>
            <a:off x="4389120" y="1371600"/>
            <a:ext cx="3383280" cy="4663440"/>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89120" y="1371600"/>
            <a:ext cx="3383280" cy="73152"/>
          </a:xfrm>
          <a:prstGeom prst="rect">
            <a:avLst/>
          </a:prstGeom>
          <a:solidFill>
            <a:srgbClr val="0860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0" y="1600200"/>
            <a:ext cx="3017520" cy="4206240"/>
          </a:xfrm>
          <a:prstGeom prst="rect">
            <a:avLst/>
          </a:prstGeom>
          <a:noFill/>
        </p:spPr>
        <p:txBody>
          <a:bodyPr wrap="square">
            <a:spAutoFit/>
          </a:bodyPr>
          <a:lstStyle/>
          <a:p>
            <a:pPr>
              <a:defRPr sz="1300" b="1">
                <a:solidFill>
                  <a:srgbClr val="086072"/>
                </a:solidFill>
                <a:latin typeface="Aptos"/>
              </a:defRPr>
            </a:pPr>
            <a:r>
              <a:t>YOLOv8 Detection Module</a:t>
            </a:r>
          </a:p>
          <a:p>
            <a:pPr>
              <a:spcAft>
                <a:spcPts val="200"/>
              </a:spcAft>
              <a:defRPr sz="1000" b="1">
                <a:solidFill>
                  <a:srgbClr val="111827"/>
                </a:solidFill>
                <a:latin typeface="Aptos"/>
              </a:defRPr>
            </a:pPr>
            <a:r>
              <a:t>Architecture: CSPDarknet + PAN-FPN</a:t>
            </a:r>
          </a:p>
          <a:p>
            <a:pPr>
              <a:spcAft>
                <a:spcPts val="800"/>
              </a:spcAft>
              <a:defRPr sz="950">
                <a:solidFill>
                  <a:srgbClr val="6B7280"/>
                </a:solidFill>
                <a:latin typeface="Aptos"/>
              </a:defRPr>
            </a:pPr>
            <a:r>
              <a:t>Clinical Scope: Wound &amp; Lesion Localization</a:t>
            </a:r>
          </a:p>
          <a:p>
            <a:pPr>
              <a:spcAft>
                <a:spcPts val="600"/>
              </a:spcAft>
              <a:defRPr sz="1000">
                <a:latin typeface="Aptos"/>
              </a:defRPr>
            </a:pPr>
            <a:r>
              <a:rPr b="1">
                <a:solidFill>
                  <a:srgbClr val="111827"/>
                </a:solidFill>
              </a:rPr>
              <a:t>• Input:</a:t>
            </a:r>
            <a:r>
              <a:rPr b="0">
                <a:solidFill>
                  <a:srgbClr val="374151"/>
                </a:solidFill>
              </a:rPr>
              <a:t> Full-body canine image (arbitrary aspect ratio, scaled to 640x640).</a:t>
            </a:r>
          </a:p>
          <a:p>
            <a:pPr>
              <a:spcAft>
                <a:spcPts val="600"/>
              </a:spcAft>
              <a:defRPr sz="1000">
                <a:latin typeface="Aptos"/>
              </a:defRPr>
            </a:pPr>
            <a:r>
              <a:rPr b="1">
                <a:solidFill>
                  <a:srgbClr val="111827"/>
                </a:solidFill>
              </a:rPr>
              <a:t>• Function:</a:t>
            </a:r>
            <a:r>
              <a:rPr b="0">
                <a:solidFill>
                  <a:srgbClr val="374151"/>
                </a:solidFill>
              </a:rPr>
              <a:t> High-speed single-stage object detection localizing canine bite wounds, ticks, and trauma.</a:t>
            </a:r>
          </a:p>
          <a:p>
            <a:pPr>
              <a:spcAft>
                <a:spcPts val="600"/>
              </a:spcAft>
              <a:defRPr sz="1000">
                <a:latin typeface="Aptos"/>
              </a:defRPr>
            </a:pPr>
            <a:r>
              <a:rPr b="1">
                <a:solidFill>
                  <a:srgbClr val="111827"/>
                </a:solidFill>
              </a:rPr>
              <a:t>• Output:</a:t>
            </a:r>
            <a:r>
              <a:rPr b="0">
                <a:solidFill>
                  <a:srgbClr val="374151"/>
                </a:solidFill>
              </a:rPr>
              <a:t> Normalized bounding box coordinates [x_min, y_min, x_max, y_max] and confidence scores.</a:t>
            </a:r>
          </a:p>
          <a:p>
            <a:pPr>
              <a:spcAft>
                <a:spcPts val="600"/>
              </a:spcAft>
              <a:defRPr sz="1000">
                <a:latin typeface="Aptos"/>
              </a:defRPr>
            </a:pPr>
            <a:r>
              <a:rPr b="1">
                <a:solidFill>
                  <a:srgbClr val="111827"/>
                </a:solidFill>
              </a:rPr>
              <a:t>• Cascading Role:</a:t>
            </a:r>
            <a:r>
              <a:rPr b="0">
                <a:solidFill>
                  <a:srgbClr val="374151"/>
                </a:solidFill>
              </a:rPr>
              <a:t> Crops wound regions with 10% context padding for U-Net refinement.</a:t>
            </a:r>
          </a:p>
          <a:p>
            <a:pPr>
              <a:spcAft>
                <a:spcPts val="600"/>
              </a:spcAft>
              <a:defRPr sz="1000">
                <a:latin typeface="Aptos"/>
              </a:defRPr>
            </a:pPr>
            <a:r>
              <a:rPr b="1">
                <a:solidFill>
                  <a:srgbClr val="111827"/>
                </a:solidFill>
              </a:rPr>
              <a:t>• Execution Time:</a:t>
            </a:r>
            <a:r>
              <a:rPr b="0">
                <a:solidFill>
                  <a:srgbClr val="374151"/>
                </a:solidFill>
              </a:rPr>
              <a:t> 18.2 ms per frame.</a:t>
            </a:r>
          </a:p>
        </p:txBody>
      </p:sp>
      <p:sp>
        <p:nvSpPr>
          <p:cNvPr id="16" name="Rectangle 15"/>
          <p:cNvSpPr/>
          <p:nvPr/>
        </p:nvSpPr>
        <p:spPr>
          <a:xfrm>
            <a:off x="8046720" y="1371600"/>
            <a:ext cx="3383280" cy="4663440"/>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6720" y="1371600"/>
            <a:ext cx="3383280" cy="73152"/>
          </a:xfrm>
          <a:prstGeom prst="rect">
            <a:avLst/>
          </a:prstGeom>
          <a:solidFill>
            <a:srgbClr val="8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0" y="1600200"/>
            <a:ext cx="3017520" cy="4206240"/>
          </a:xfrm>
          <a:prstGeom prst="rect">
            <a:avLst/>
          </a:prstGeom>
          <a:noFill/>
        </p:spPr>
        <p:txBody>
          <a:bodyPr wrap="square">
            <a:spAutoFit/>
          </a:bodyPr>
          <a:lstStyle/>
          <a:p>
            <a:pPr>
              <a:defRPr sz="1300" b="1">
                <a:solidFill>
                  <a:srgbClr val="800020"/>
                </a:solidFill>
                <a:latin typeface="Aptos"/>
              </a:defRPr>
            </a:pPr>
            <a:r>
              <a:t>U-Net Segmentation Module</a:t>
            </a:r>
          </a:p>
          <a:p>
            <a:pPr>
              <a:spcAft>
                <a:spcPts val="200"/>
              </a:spcAft>
              <a:defRPr sz="1000" b="1">
                <a:solidFill>
                  <a:srgbClr val="111827"/>
                </a:solidFill>
                <a:latin typeface="Aptos"/>
              </a:defRPr>
            </a:pPr>
            <a:r>
              <a:t>Architecture: 4-Stage Encoder-Decoder</a:t>
            </a:r>
          </a:p>
          <a:p>
            <a:pPr>
              <a:spcAft>
                <a:spcPts val="800"/>
              </a:spcAft>
              <a:defRPr sz="950">
                <a:solidFill>
                  <a:srgbClr val="6B7280"/>
                </a:solidFill>
                <a:latin typeface="Aptos"/>
              </a:defRPr>
            </a:pPr>
            <a:r>
              <a:t>Clinical Scope: Pixel-Level Surface Area Delineation</a:t>
            </a:r>
          </a:p>
          <a:p>
            <a:pPr>
              <a:spcAft>
                <a:spcPts val="600"/>
              </a:spcAft>
              <a:defRPr sz="1000">
                <a:latin typeface="Aptos"/>
              </a:defRPr>
            </a:pPr>
            <a:r>
              <a:rPr b="1">
                <a:solidFill>
                  <a:srgbClr val="111827"/>
                </a:solidFill>
              </a:rPr>
              <a:t>• Input:</a:t>
            </a:r>
            <a:r>
              <a:rPr b="0">
                <a:solidFill>
                  <a:srgbClr val="374151"/>
                </a:solidFill>
              </a:rPr>
              <a:t> 256x256 cropped lesion ROI from YOLOv8.</a:t>
            </a:r>
          </a:p>
          <a:p>
            <a:pPr>
              <a:spcAft>
                <a:spcPts val="600"/>
              </a:spcAft>
              <a:defRPr sz="1000">
                <a:latin typeface="Aptos"/>
              </a:defRPr>
            </a:pPr>
            <a:r>
              <a:rPr b="1">
                <a:solidFill>
                  <a:srgbClr val="111827"/>
                </a:solidFill>
              </a:rPr>
              <a:t>• Function:</a:t>
            </a:r>
            <a:r>
              <a:rPr b="0">
                <a:solidFill>
                  <a:srgbClr val="374151"/>
                </a:solidFill>
              </a:rPr>
              <a:t> Semantic pixel classification predicting exact wound boundary vs. healthy skin.</a:t>
            </a:r>
          </a:p>
          <a:p>
            <a:pPr>
              <a:spcAft>
                <a:spcPts val="600"/>
              </a:spcAft>
              <a:defRPr sz="1000">
                <a:latin typeface="Aptos"/>
              </a:defRPr>
            </a:pPr>
            <a:r>
              <a:rPr b="1">
                <a:solidFill>
                  <a:srgbClr val="111827"/>
                </a:solidFill>
              </a:rPr>
              <a:t>• Output:</a:t>
            </a:r>
            <a:r>
              <a:rPr b="0">
                <a:solidFill>
                  <a:srgbClr val="374151"/>
                </a:solidFill>
              </a:rPr>
              <a:t> Binary mask (0=healthy, 1=wound) and computed lesion area (cm²).</a:t>
            </a:r>
          </a:p>
          <a:p>
            <a:pPr>
              <a:spcAft>
                <a:spcPts val="600"/>
              </a:spcAft>
              <a:defRPr sz="1000">
                <a:latin typeface="Aptos"/>
              </a:defRPr>
            </a:pPr>
            <a:r>
              <a:rPr b="1">
                <a:solidFill>
                  <a:srgbClr val="111827"/>
                </a:solidFill>
              </a:rPr>
              <a:t>• Clinical Role:</a:t>
            </a:r>
            <a:r>
              <a:rPr b="0">
                <a:solidFill>
                  <a:srgbClr val="374151"/>
                </a:solidFill>
              </a:rPr>
              <a:t> Informs triage whether lesion is superficial abrasion or deep tissue loss.</a:t>
            </a:r>
          </a:p>
          <a:p>
            <a:pPr>
              <a:spcAft>
                <a:spcPts val="600"/>
              </a:spcAft>
              <a:defRPr sz="1000">
                <a:latin typeface="Aptos"/>
              </a:defRPr>
            </a:pPr>
            <a:r>
              <a:rPr b="1">
                <a:solidFill>
                  <a:srgbClr val="111827"/>
                </a:solidFill>
              </a:rPr>
              <a:t>• Execution Time:</a:t>
            </a:r>
            <a:r>
              <a:rPr b="0">
                <a:solidFill>
                  <a:srgbClr val="374151"/>
                </a:solidFill>
              </a:rPr>
              <a:t> 24.8 ms per lesion.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9921240" y="201168"/>
            <a:ext cx="1965960" cy="685800"/>
          </a:xfrm>
          <a:prstGeom prst="rect">
            <a:avLst/>
          </a:prstGeom>
        </p:spPr>
      </p:pic>
      <p:sp>
        <p:nvSpPr>
          <p:cNvPr id="3" name="TextBox 2"/>
          <p:cNvSpPr txBox="1"/>
          <p:nvPr/>
        </p:nvSpPr>
        <p:spPr>
          <a:xfrm>
            <a:off x="731520" y="320040"/>
            <a:ext cx="8961120" cy="777240"/>
          </a:xfrm>
          <a:prstGeom prst="rect">
            <a:avLst/>
          </a:prstGeom>
          <a:noFill/>
        </p:spPr>
        <p:txBody>
          <a:bodyPr wrap="square" lIns="0" tIns="0" rIns="0" bIns="0">
            <a:spAutoFit/>
          </a:bodyPr>
          <a:lstStyle/>
          <a:p>
            <a:pPr>
              <a:spcAft>
                <a:spcPts val="200"/>
              </a:spcAft>
              <a:defRPr sz="950" b="1">
                <a:solidFill>
                  <a:srgbClr val="B6114D"/>
                </a:solidFill>
                <a:latin typeface="Aptos"/>
              </a:defRPr>
            </a:pPr>
            <a:r>
              <a:t>SECTION B: SYSTEM ARCHITECTURE</a:t>
            </a:r>
          </a:p>
          <a:p>
            <a:pPr>
              <a:defRPr sz="2100" b="1">
                <a:solidFill>
                  <a:srgbClr val="111827"/>
                </a:solidFill>
                <a:latin typeface="Aptos"/>
              </a:defRPr>
            </a:pPr>
            <a:r>
              <a:t>Data Flow Between Computer Vision Modules &amp; Backend</a:t>
            </a:r>
          </a:p>
        </p:txBody>
      </p:sp>
      <p:sp>
        <p:nvSpPr>
          <p:cNvPr id="4" name="Rectangle 3"/>
          <p:cNvSpPr/>
          <p:nvPr/>
        </p:nvSpPr>
        <p:spPr>
          <a:xfrm>
            <a:off x="731520" y="1170432"/>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161288"/>
            <a:ext cx="1097280" cy="32004"/>
          </a:xfrm>
          <a:prstGeom prst="rect">
            <a:avLst/>
          </a:prstGeom>
          <a:solidFill>
            <a:srgbClr val="B6114D"/>
          </a:solidFill>
          <a:ln>
            <a:solidFill>
              <a:srgbClr val="B611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09360"/>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55080"/>
            <a:ext cx="4572000" cy="320040"/>
          </a:xfrm>
          <a:prstGeom prst="rect">
            <a:avLst/>
          </a:prstGeom>
          <a:noFill/>
        </p:spPr>
        <p:txBody>
          <a:bodyPr wrap="none" lIns="0" tIns="0" rIns="0" bIns="0">
            <a:spAutoFit/>
          </a:bodyPr>
          <a:lstStyle/>
          <a:p>
            <a:pPr>
              <a:defRPr sz="900">
                <a:solidFill>
                  <a:srgbClr val="6B7280"/>
                </a:solidFill>
                <a:latin typeface="Aptos"/>
              </a:defRPr>
            </a:pPr>
            <a:r>
              <a:t>MediPaw — every paw deserves a chance</a:t>
            </a:r>
          </a:p>
        </p:txBody>
      </p:sp>
      <p:sp>
        <p:nvSpPr>
          <p:cNvPr id="8" name="TextBox 7"/>
          <p:cNvSpPr txBox="1"/>
          <p:nvPr/>
        </p:nvSpPr>
        <p:spPr>
          <a:xfrm>
            <a:off x="4572000" y="6355080"/>
            <a:ext cx="4114800" cy="320040"/>
          </a:xfrm>
          <a:prstGeom prst="rect">
            <a:avLst/>
          </a:prstGeom>
          <a:noFill/>
        </p:spPr>
        <p:txBody>
          <a:bodyPr wrap="none" lIns="0" tIns="0" rIns="0" bIns="0">
            <a:spAutoFit/>
          </a:bodyPr>
          <a:lstStyle/>
          <a:p>
            <a:pPr algn="ctr">
              <a:defRPr sz="900">
                <a:solidFill>
                  <a:srgbClr val="6B7280"/>
                </a:solidFill>
                <a:latin typeface="Aptos"/>
              </a:defRPr>
            </a:pPr>
            <a:r>
              <a:t>A.C. Sanhitha Reddy (CB.SC.U4CSE23206) | 23CSE473 Review 2</a:t>
            </a:r>
          </a:p>
        </p:txBody>
      </p:sp>
      <p:sp>
        <p:nvSpPr>
          <p:cNvPr id="9" name="TextBox 8"/>
          <p:cNvSpPr txBox="1"/>
          <p:nvPr/>
        </p:nvSpPr>
        <p:spPr>
          <a:xfrm>
            <a:off x="9601200" y="6355080"/>
            <a:ext cx="1828800" cy="320040"/>
          </a:xfrm>
          <a:prstGeom prst="rect">
            <a:avLst/>
          </a:prstGeom>
          <a:noFill/>
        </p:spPr>
        <p:txBody>
          <a:bodyPr wrap="none" lIns="0" tIns="0" rIns="0" bIns="0">
            <a:spAutoFit/>
          </a:bodyPr>
          <a:lstStyle/>
          <a:p>
            <a:pPr algn="r">
              <a:defRPr sz="900" b="1">
                <a:solidFill>
                  <a:srgbClr val="B6114D"/>
                </a:solidFill>
                <a:latin typeface="Aptos"/>
              </a:defRPr>
            </a:pPr>
            <a:r>
              <a:t>Slide 10 of 44</a:t>
            </a:r>
          </a:p>
        </p:txBody>
      </p:sp>
      <p:pic>
        <p:nvPicPr>
          <p:cNvPr id="10" name="Picture 9" descr="Flowdiag horiz.png"/>
          <p:cNvPicPr>
            <a:picLocks noChangeAspect="1"/>
          </p:cNvPicPr>
          <p:nvPr/>
        </p:nvPicPr>
        <p:blipFill>
          <a:blip r:embed="rId3"/>
          <a:stretch>
            <a:fillRect/>
          </a:stretch>
        </p:blipFill>
        <p:spPr>
          <a:xfrm>
            <a:off x="731520" y="1371600"/>
            <a:ext cx="10698480" cy="2286000"/>
          </a:xfrm>
          <a:prstGeom prst="rect">
            <a:avLst/>
          </a:prstGeom>
        </p:spPr>
      </p:pic>
      <p:sp>
        <p:nvSpPr>
          <p:cNvPr id="11" name="Rectangle 10"/>
          <p:cNvSpPr/>
          <p:nvPr/>
        </p:nvSpPr>
        <p:spPr>
          <a:xfrm>
            <a:off x="731520" y="3931920"/>
            <a:ext cx="5212080" cy="2194560"/>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069080"/>
            <a:ext cx="4846320" cy="1920240"/>
          </a:xfrm>
          <a:prstGeom prst="rect">
            <a:avLst/>
          </a:prstGeom>
          <a:noFill/>
        </p:spPr>
        <p:txBody>
          <a:bodyPr wrap="square">
            <a:spAutoFit/>
          </a:bodyPr>
          <a:lstStyle/>
          <a:p>
            <a:pPr>
              <a:defRPr sz="1100" b="1">
                <a:solidFill>
                  <a:srgbClr val="B6114D"/>
                </a:solidFill>
                <a:latin typeface="Aptos"/>
              </a:defRPr>
            </a:pPr>
            <a:r>
              <a:t>IMAGE DISPATCH &amp; TENSOR LIFECYCLE</a:t>
            </a:r>
          </a:p>
          <a:p>
            <a:pPr>
              <a:spcAft>
                <a:spcPts val="400"/>
              </a:spcAft>
              <a:defRPr sz="1000">
                <a:latin typeface="Aptos"/>
              </a:defRPr>
            </a:pPr>
            <a:r>
              <a:rPr b="1">
                <a:solidFill>
                  <a:srgbClr val="111827"/>
                </a:solidFill>
              </a:rPr>
              <a:t>• Asynchronous Gateway:</a:t>
            </a:r>
            <a:r>
              <a:rPr b="0">
                <a:solidFill>
                  <a:srgbClr val="374151"/>
                </a:solidFill>
              </a:rPr>
              <a:t> FastAPI router intercepts multipart/form-data requests without blocking the event loop.</a:t>
            </a:r>
          </a:p>
          <a:p>
            <a:pPr>
              <a:spcAft>
                <a:spcPts val="400"/>
              </a:spcAft>
              <a:defRPr sz="1000">
                <a:latin typeface="Aptos"/>
              </a:defRPr>
            </a:pPr>
            <a:r>
              <a:rPr b="1">
                <a:solidFill>
                  <a:srgbClr val="111827"/>
                </a:solidFill>
              </a:rPr>
              <a:t>• In-Memory Tensor Transformation:</a:t>
            </a:r>
            <a:r>
              <a:rPr b="0">
                <a:solidFill>
                  <a:srgbClr val="374151"/>
                </a:solidFill>
              </a:rPr>
              <a:t> TorchVision transforms execute in RAM, avoiding disk I/O bottlenecks.</a:t>
            </a:r>
          </a:p>
          <a:p>
            <a:pPr>
              <a:spcAft>
                <a:spcPts val="400"/>
              </a:spcAft>
              <a:defRPr sz="1000">
                <a:latin typeface="Aptos"/>
              </a:defRPr>
            </a:pPr>
            <a:r>
              <a:rPr b="1">
                <a:solidFill>
                  <a:srgbClr val="111827"/>
                </a:solidFill>
              </a:rPr>
              <a:t>• Thread-Safe Model Instances:</a:t>
            </a:r>
            <a:r>
              <a:rPr b="0">
                <a:solidFill>
                  <a:srgbClr val="374151"/>
                </a:solidFill>
              </a:rPr>
              <a:t> Pre-loaded PyTorch weights serve concurrent requests using CPU/CUDA workers.</a:t>
            </a:r>
          </a:p>
        </p:txBody>
      </p:sp>
      <p:sp>
        <p:nvSpPr>
          <p:cNvPr id="13" name="Rectangle 12"/>
          <p:cNvSpPr/>
          <p:nvPr/>
        </p:nvSpPr>
        <p:spPr>
          <a:xfrm>
            <a:off x="6217920" y="3931920"/>
            <a:ext cx="5212080" cy="2194560"/>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4069080"/>
            <a:ext cx="4846320" cy="1920240"/>
          </a:xfrm>
          <a:prstGeom prst="rect">
            <a:avLst/>
          </a:prstGeom>
          <a:noFill/>
        </p:spPr>
        <p:txBody>
          <a:bodyPr wrap="square">
            <a:spAutoFit/>
          </a:bodyPr>
          <a:lstStyle/>
          <a:p>
            <a:pPr>
              <a:defRPr sz="1100" b="1">
                <a:solidFill>
                  <a:srgbClr val="086072"/>
                </a:solidFill>
                <a:latin typeface="Aptos"/>
              </a:defRPr>
            </a:pPr>
            <a:r>
              <a:t>STATE FUSION &amp; RESPONSE FORMULATION</a:t>
            </a:r>
          </a:p>
          <a:p>
            <a:pPr>
              <a:spcAft>
                <a:spcPts val="400"/>
              </a:spcAft>
              <a:defRPr sz="1000">
                <a:latin typeface="Aptos"/>
              </a:defRPr>
            </a:pPr>
            <a:r>
              <a:rPr b="1">
                <a:solidFill>
                  <a:srgbClr val="111827"/>
                </a:solidFill>
              </a:rPr>
              <a:t>• Feature Extraction Hooks:</a:t>
            </a:r>
            <a:r>
              <a:rPr b="0">
                <a:solidFill>
                  <a:srgbClr val="374151"/>
                </a:solidFill>
              </a:rPr>
              <a:t> Eye CNN register_forward_hook captures 576d vector while returning class logits.</a:t>
            </a:r>
          </a:p>
          <a:p>
            <a:pPr>
              <a:spcAft>
                <a:spcPts val="400"/>
              </a:spcAft>
              <a:defRPr sz="1000">
                <a:latin typeface="Aptos"/>
              </a:defRPr>
            </a:pPr>
            <a:r>
              <a:rPr b="1">
                <a:solidFill>
                  <a:srgbClr val="111827"/>
                </a:solidFill>
              </a:rPr>
              <a:t>• ROI Cropping Buffer:</a:t>
            </a:r>
            <a:r>
              <a:rPr b="0">
                <a:solidFill>
                  <a:srgbClr val="374151"/>
                </a:solidFill>
              </a:rPr>
              <a:t> NumPy slice extraction crops wound boundaries in &lt; 1 ms before passing to U-Net.</a:t>
            </a:r>
          </a:p>
          <a:p>
            <a:pPr>
              <a:spcAft>
                <a:spcPts val="400"/>
              </a:spcAft>
              <a:defRPr sz="1000">
                <a:latin typeface="Aptos"/>
              </a:defRPr>
            </a:pPr>
            <a:r>
              <a:rPr b="1">
                <a:solidFill>
                  <a:srgbClr val="111827"/>
                </a:solidFill>
              </a:rPr>
              <a:t>• Unified JSON Serialization:</a:t>
            </a:r>
            <a:r>
              <a:rPr b="0">
                <a:solidFill>
                  <a:srgbClr val="374151"/>
                </a:solidFill>
              </a:rPr>
              <a:t> Class predictions, bounding boxes, and base64 mask overlays bundled into a single JSON schema.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9921240" y="201168"/>
            <a:ext cx="1965960" cy="685800"/>
          </a:xfrm>
          <a:prstGeom prst="rect">
            <a:avLst/>
          </a:prstGeom>
        </p:spPr>
      </p:pic>
      <p:sp>
        <p:nvSpPr>
          <p:cNvPr id="3" name="TextBox 2"/>
          <p:cNvSpPr txBox="1"/>
          <p:nvPr/>
        </p:nvSpPr>
        <p:spPr>
          <a:xfrm>
            <a:off x="731520" y="320040"/>
            <a:ext cx="8961120" cy="777240"/>
          </a:xfrm>
          <a:prstGeom prst="rect">
            <a:avLst/>
          </a:prstGeom>
          <a:noFill/>
        </p:spPr>
        <p:txBody>
          <a:bodyPr wrap="square" lIns="0" tIns="0" rIns="0" bIns="0">
            <a:spAutoFit/>
          </a:bodyPr>
          <a:lstStyle/>
          <a:p>
            <a:pPr>
              <a:spcAft>
                <a:spcPts val="200"/>
              </a:spcAft>
              <a:defRPr sz="950" b="1">
                <a:solidFill>
                  <a:srgbClr val="B6114D"/>
                </a:solidFill>
                <a:latin typeface="Aptos"/>
              </a:defRPr>
            </a:pPr>
            <a:r>
              <a:t>SECTION B: SYSTEM ARCHITECTURE</a:t>
            </a:r>
          </a:p>
          <a:p>
            <a:pPr>
              <a:defRPr sz="2100" b="1">
                <a:solidFill>
                  <a:srgbClr val="111827"/>
                </a:solidFill>
                <a:latin typeface="Aptos"/>
              </a:defRPr>
            </a:pPr>
            <a:r>
              <a:t>Module Contracts: Tensor Specifications &amp; I/O Schemas</a:t>
            </a:r>
          </a:p>
        </p:txBody>
      </p:sp>
      <p:sp>
        <p:nvSpPr>
          <p:cNvPr id="4" name="Rectangle 3"/>
          <p:cNvSpPr/>
          <p:nvPr/>
        </p:nvSpPr>
        <p:spPr>
          <a:xfrm>
            <a:off x="731520" y="1170432"/>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161288"/>
            <a:ext cx="1097280" cy="32004"/>
          </a:xfrm>
          <a:prstGeom prst="rect">
            <a:avLst/>
          </a:prstGeom>
          <a:solidFill>
            <a:srgbClr val="B6114D"/>
          </a:solidFill>
          <a:ln>
            <a:solidFill>
              <a:srgbClr val="B611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09360"/>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55080"/>
            <a:ext cx="4572000" cy="320040"/>
          </a:xfrm>
          <a:prstGeom prst="rect">
            <a:avLst/>
          </a:prstGeom>
          <a:noFill/>
        </p:spPr>
        <p:txBody>
          <a:bodyPr wrap="none" lIns="0" tIns="0" rIns="0" bIns="0">
            <a:spAutoFit/>
          </a:bodyPr>
          <a:lstStyle/>
          <a:p>
            <a:pPr>
              <a:defRPr sz="900">
                <a:solidFill>
                  <a:srgbClr val="6B7280"/>
                </a:solidFill>
                <a:latin typeface="Aptos"/>
              </a:defRPr>
            </a:pPr>
            <a:r>
              <a:t>MediPaw — every paw deserves a chance</a:t>
            </a:r>
          </a:p>
        </p:txBody>
      </p:sp>
      <p:sp>
        <p:nvSpPr>
          <p:cNvPr id="8" name="TextBox 7"/>
          <p:cNvSpPr txBox="1"/>
          <p:nvPr/>
        </p:nvSpPr>
        <p:spPr>
          <a:xfrm>
            <a:off x="4572000" y="6355080"/>
            <a:ext cx="4114800" cy="320040"/>
          </a:xfrm>
          <a:prstGeom prst="rect">
            <a:avLst/>
          </a:prstGeom>
          <a:noFill/>
        </p:spPr>
        <p:txBody>
          <a:bodyPr wrap="none" lIns="0" tIns="0" rIns="0" bIns="0">
            <a:spAutoFit/>
          </a:bodyPr>
          <a:lstStyle/>
          <a:p>
            <a:pPr algn="ctr">
              <a:defRPr sz="900">
                <a:solidFill>
                  <a:srgbClr val="6B7280"/>
                </a:solidFill>
                <a:latin typeface="Aptos"/>
              </a:defRPr>
            </a:pPr>
            <a:r>
              <a:t>A.C. Sanhitha Reddy (CB.SC.U4CSE23206) | 23CSE473 Review 2</a:t>
            </a:r>
          </a:p>
        </p:txBody>
      </p:sp>
      <p:sp>
        <p:nvSpPr>
          <p:cNvPr id="9" name="TextBox 8"/>
          <p:cNvSpPr txBox="1"/>
          <p:nvPr/>
        </p:nvSpPr>
        <p:spPr>
          <a:xfrm>
            <a:off x="9601200" y="6355080"/>
            <a:ext cx="1828800" cy="320040"/>
          </a:xfrm>
          <a:prstGeom prst="rect">
            <a:avLst/>
          </a:prstGeom>
          <a:noFill/>
        </p:spPr>
        <p:txBody>
          <a:bodyPr wrap="none" lIns="0" tIns="0" rIns="0" bIns="0">
            <a:spAutoFit/>
          </a:bodyPr>
          <a:lstStyle/>
          <a:p>
            <a:pPr algn="r">
              <a:defRPr sz="900" b="1">
                <a:solidFill>
                  <a:srgbClr val="B6114D"/>
                </a:solidFill>
                <a:latin typeface="Aptos"/>
              </a:defRPr>
            </a:pPr>
            <a:r>
              <a:t>Slide 11 of 44</a:t>
            </a:r>
          </a:p>
        </p:txBody>
      </p:sp>
      <p:graphicFrame>
        <p:nvGraphicFramePr>
          <p:cNvPr id="10" name="Table 9"/>
          <p:cNvGraphicFramePr>
            <a:graphicFrameLocks noGrp="1"/>
          </p:cNvGraphicFramePr>
          <p:nvPr/>
        </p:nvGraphicFramePr>
        <p:xfrm>
          <a:off x="731520" y="1371600"/>
          <a:ext cx="10698480" cy="4663440"/>
        </p:xfrm>
        <a:graphic>
          <a:graphicData uri="http://schemas.openxmlformats.org/drawingml/2006/table">
            <a:tbl>
              <a:tblPr firstRow="1" bandRow="1">
                <a:tableStyleId>{5C22544A-7EE6-4342-B048-85BDC9FD1C3A}</a:tableStyleId>
              </a:tblPr>
              <a:tblGrid>
                <a:gridCol w="1645920"/>
                <a:gridCol w="2377440"/>
                <a:gridCol w="2468880"/>
                <a:gridCol w="2743200"/>
                <a:gridCol w="1463040"/>
              </a:tblGrid>
              <a:tr h="1165860">
                <a:tc>
                  <a:txBody>
                    <a:bodyPr/>
                    <a:lstStyle/>
                    <a:p>
                      <a:pPr algn="l">
                        <a:defRPr sz="1050" b="1">
                          <a:solidFill>
                            <a:srgbClr val="FFFFFF"/>
                          </a:solidFill>
                          <a:latin typeface="Aptos"/>
                        </a:defRPr>
                      </a:pPr>
                      <a:r>
                        <a:t>Module Name</a:t>
                      </a:r>
                    </a:p>
                  </a:txBody>
                  <a:tcPr>
                    <a:solidFill>
                      <a:srgbClr val="B6114D"/>
                    </a:solidFill>
                  </a:tcPr>
                </a:tc>
                <a:tc>
                  <a:txBody>
                    <a:bodyPr/>
                    <a:lstStyle/>
                    <a:p>
                      <a:pPr algn="l">
                        <a:defRPr sz="1050" b="1">
                          <a:solidFill>
                            <a:srgbClr val="FFFFFF"/>
                          </a:solidFill>
                          <a:latin typeface="Aptos"/>
                        </a:defRPr>
                      </a:pPr>
                      <a:r>
                        <a:t>Input Contract (Tensor / Format)</a:t>
                      </a:r>
                    </a:p>
                  </a:txBody>
                  <a:tcPr>
                    <a:solidFill>
                      <a:srgbClr val="B6114D"/>
                    </a:solidFill>
                  </a:tcPr>
                </a:tc>
                <a:tc>
                  <a:txBody>
                    <a:bodyPr/>
                    <a:lstStyle/>
                    <a:p>
                      <a:pPr algn="l">
                        <a:defRPr sz="1050" b="1">
                          <a:solidFill>
                            <a:srgbClr val="FFFFFF"/>
                          </a:solidFill>
                          <a:latin typeface="Aptos"/>
                        </a:defRPr>
                      </a:pPr>
                      <a:r>
                        <a:t>Internal Transforms &amp; Normalization</a:t>
                      </a:r>
                    </a:p>
                  </a:txBody>
                  <a:tcPr>
                    <a:solidFill>
                      <a:srgbClr val="B6114D"/>
                    </a:solidFill>
                  </a:tcPr>
                </a:tc>
                <a:tc>
                  <a:txBody>
                    <a:bodyPr/>
                    <a:lstStyle/>
                    <a:p>
                      <a:pPr algn="l">
                        <a:defRPr sz="1050" b="1">
                          <a:solidFill>
                            <a:srgbClr val="FFFFFF"/>
                          </a:solidFill>
                          <a:latin typeface="Aptos"/>
                        </a:defRPr>
                      </a:pPr>
                      <a:r>
                        <a:t>Output Contract (Payload Structure)</a:t>
                      </a:r>
                    </a:p>
                  </a:txBody>
                  <a:tcPr>
                    <a:solidFill>
                      <a:srgbClr val="B6114D"/>
                    </a:solidFill>
                  </a:tcPr>
                </a:tc>
                <a:tc>
                  <a:txBody>
                    <a:bodyPr/>
                    <a:lstStyle/>
                    <a:p>
                      <a:pPr algn="l">
                        <a:defRPr sz="1050" b="1">
                          <a:solidFill>
                            <a:srgbClr val="FFFFFF"/>
                          </a:solidFill>
                          <a:latin typeface="Aptos"/>
                        </a:defRPr>
                      </a:pPr>
                      <a:r>
                        <a:t>Status</a:t>
                      </a:r>
                    </a:p>
                  </a:txBody>
                  <a:tcPr>
                    <a:solidFill>
                      <a:srgbClr val="B6114D"/>
                    </a:solidFill>
                  </a:tcPr>
                </a:tc>
              </a:tr>
              <a:tr h="1165860">
                <a:tc>
                  <a:txBody>
                    <a:bodyPr/>
                    <a:lstStyle/>
                    <a:p>
                      <a:pPr algn="l">
                        <a:defRPr sz="1000" b="1">
                          <a:solidFill>
                            <a:srgbClr val="111827"/>
                          </a:solidFill>
                          <a:latin typeface="Aptos"/>
                        </a:defRPr>
                      </a:pPr>
                      <a:r>
                        <a:t>Eye CNN (Ocular)</a:t>
                      </a:r>
                    </a:p>
                  </a:txBody>
                  <a:tcPr>
                    <a:solidFill>
                      <a:srgbClr val="FFFFFF"/>
                    </a:solidFill>
                  </a:tcPr>
                </a:tc>
                <a:tc>
                  <a:txBody>
                    <a:bodyPr/>
                    <a:lstStyle/>
                    <a:p>
                      <a:pPr algn="l">
                        <a:defRPr sz="1000">
                          <a:solidFill>
                            <a:srgbClr val="374151"/>
                          </a:solidFill>
                          <a:latin typeface="Aptos"/>
                        </a:defRPr>
                      </a:pPr>
                      <a:r>
                        <a:t>RGB Image: Shape [B, 3, 224, 224]</a:t>
                      </a:r>
                      <a:br/>
                      <a:r>
                        <a:t>Format: float32, range [0, 1]</a:t>
                      </a:r>
                    </a:p>
                  </a:txBody>
                  <a:tcPr>
                    <a:solidFill>
                      <a:srgbClr val="FFFFFF"/>
                    </a:solidFill>
                  </a:tcPr>
                </a:tc>
                <a:tc>
                  <a:txBody>
                    <a:bodyPr/>
                    <a:lstStyle/>
                    <a:p>
                      <a:pPr algn="l">
                        <a:defRPr sz="1000">
                          <a:solidFill>
                            <a:srgbClr val="374151"/>
                          </a:solidFill>
                          <a:latin typeface="Aptos"/>
                        </a:defRPr>
                      </a:pPr>
                      <a:r>
                        <a:t>Resize(256), CenterCrop(224),</a:t>
                      </a:r>
                      <a:br/>
                      <a:r>
                        <a:t>Normalize(mean=[0.485, 0.456, 0.406],</a:t>
                      </a:r>
                      <a:br/>
                      <a:r>
                        <a:t>std=[0.229, 0.224, 0.225])</a:t>
                      </a:r>
                    </a:p>
                  </a:txBody>
                  <a:tcPr>
                    <a:solidFill>
                      <a:srgbClr val="FFFFFF"/>
                    </a:solidFill>
                  </a:tcPr>
                </a:tc>
                <a:tc>
                  <a:txBody>
                    <a:bodyPr/>
                    <a:lstStyle/>
                    <a:p>
                      <a:pPr algn="l">
                        <a:defRPr sz="1000">
                          <a:solidFill>
                            <a:srgbClr val="374151"/>
                          </a:solidFill>
                          <a:latin typeface="Aptos"/>
                        </a:defRPr>
                      </a:pPr>
                      <a:r>
                        <a:t>dict:</a:t>
                      </a:r>
                      <a:br/>
                      <a:r>
                        <a:t>• probabilities: [float x 4]</a:t>
                      </a:r>
                      <a:br/>
                      <a:r>
                        <a:t>• predicted_class: str</a:t>
                      </a:r>
                      <a:br/>
                      <a:r>
                        <a:t>• feature_vector: [float x 576]</a:t>
                      </a:r>
                    </a:p>
                  </a:txBody>
                  <a:tcPr>
                    <a:solidFill>
                      <a:srgbClr val="FFFFFF"/>
                    </a:solidFill>
                  </a:tcPr>
                </a:tc>
                <a:tc>
                  <a:txBody>
                    <a:bodyPr/>
                    <a:lstStyle/>
                    <a:p>
                      <a:pPr algn="l">
                        <a:defRPr sz="1000">
                          <a:solidFill>
                            <a:srgbClr val="374151"/>
                          </a:solidFill>
                          <a:latin typeface="Aptos"/>
                        </a:defRPr>
                      </a:pPr>
                      <a:r>
                        <a:t>VERIFIED</a:t>
                      </a:r>
                      <a:br/>
                      <a:r>
                        <a:t>(Trained &amp; Evaluated)</a:t>
                      </a:r>
                    </a:p>
                  </a:txBody>
                  <a:tcPr>
                    <a:solidFill>
                      <a:srgbClr val="FFFFFF"/>
                    </a:solidFill>
                  </a:tcPr>
                </a:tc>
              </a:tr>
              <a:tr h="1165860">
                <a:tc>
                  <a:txBody>
                    <a:bodyPr/>
                    <a:lstStyle/>
                    <a:p>
                      <a:pPr algn="l">
                        <a:defRPr sz="1000" b="1">
                          <a:solidFill>
                            <a:srgbClr val="111827"/>
                          </a:solidFill>
                          <a:latin typeface="Aptos"/>
                        </a:defRPr>
                      </a:pPr>
                      <a:r>
                        <a:t>YOLOv8 (Trauma ROI)</a:t>
                      </a:r>
                    </a:p>
                  </a:txBody>
                  <a:tcPr>
                    <a:solidFill>
                      <a:srgbClr val="FDF2F4"/>
                    </a:solidFill>
                  </a:tcPr>
                </a:tc>
                <a:tc>
                  <a:txBody>
                    <a:bodyPr/>
                    <a:lstStyle/>
                    <a:p>
                      <a:pPr algn="l">
                        <a:defRPr sz="1000">
                          <a:solidFill>
                            <a:srgbClr val="374151"/>
                          </a:solidFill>
                          <a:latin typeface="Aptos"/>
                        </a:defRPr>
                      </a:pPr>
                      <a:r>
                        <a:t>RGB Image: Shape [B, 3, 640, 640]</a:t>
                      </a:r>
                      <a:br/>
                      <a:r>
                        <a:t>Format: uint8 / float32</a:t>
                      </a:r>
                    </a:p>
                  </a:txBody>
                  <a:tcPr>
                    <a:solidFill>
                      <a:srgbClr val="FDF2F4"/>
                    </a:solidFill>
                  </a:tcPr>
                </a:tc>
                <a:tc>
                  <a:txBody>
                    <a:bodyPr/>
                    <a:lstStyle/>
                    <a:p>
                      <a:pPr algn="l">
                        <a:defRPr sz="1000">
                          <a:solidFill>
                            <a:srgbClr val="374151"/>
                          </a:solidFill>
                          <a:latin typeface="Aptos"/>
                        </a:defRPr>
                      </a:pPr>
                      <a:r>
                        <a:t>Letterbox padding to square 640x640,</a:t>
                      </a:r>
                      <a:br/>
                      <a:r>
                        <a:t>FP32 normalization</a:t>
                      </a:r>
                    </a:p>
                  </a:txBody>
                  <a:tcPr>
                    <a:solidFill>
                      <a:srgbClr val="FDF2F4"/>
                    </a:solidFill>
                  </a:tcPr>
                </a:tc>
                <a:tc>
                  <a:txBody>
                    <a:bodyPr/>
                    <a:lstStyle/>
                    <a:p>
                      <a:pPr algn="l">
                        <a:defRPr sz="1000">
                          <a:solidFill>
                            <a:srgbClr val="374151"/>
                          </a:solidFill>
                          <a:latin typeface="Aptos"/>
                        </a:defRPr>
                      </a:pPr>
                      <a:r>
                        <a:t>list[dict]:</a:t>
                      </a:r>
                      <a:br/>
                      <a:r>
                        <a:t>• bbox: [ymin, xmin, ymax, xmax]</a:t>
                      </a:r>
                      <a:br/>
                      <a:r>
                        <a:t>• confidence: float</a:t>
                      </a:r>
                      <a:br/>
                      <a:r>
                        <a:t>• class_id: int</a:t>
                      </a:r>
                    </a:p>
                  </a:txBody>
                  <a:tcPr>
                    <a:solidFill>
                      <a:srgbClr val="FDF2F4"/>
                    </a:solidFill>
                  </a:tcPr>
                </a:tc>
                <a:tc>
                  <a:txBody>
                    <a:bodyPr/>
                    <a:lstStyle/>
                    <a:p>
                      <a:pPr algn="l">
                        <a:defRPr sz="1000">
                          <a:solidFill>
                            <a:srgbClr val="374151"/>
                          </a:solidFill>
                          <a:latin typeface="Aptos"/>
                        </a:defRPr>
                      </a:pPr>
                      <a:r>
                        <a:t>VERIFIED</a:t>
                      </a:r>
                      <a:br/>
                      <a:r>
                        <a:t>(Detection Functional)</a:t>
                      </a:r>
                    </a:p>
                  </a:txBody>
                  <a:tcPr>
                    <a:solidFill>
                      <a:srgbClr val="FDF2F4"/>
                    </a:solidFill>
                  </a:tcPr>
                </a:tc>
              </a:tr>
              <a:tr h="1165860">
                <a:tc>
                  <a:txBody>
                    <a:bodyPr/>
                    <a:lstStyle/>
                    <a:p>
                      <a:pPr algn="l">
                        <a:defRPr sz="1000" b="1">
                          <a:solidFill>
                            <a:srgbClr val="111827"/>
                          </a:solidFill>
                          <a:latin typeface="Aptos"/>
                        </a:defRPr>
                      </a:pPr>
                      <a:r>
                        <a:t>U-Net (Lesion Mask)</a:t>
                      </a:r>
                    </a:p>
                  </a:txBody>
                  <a:tcPr>
                    <a:solidFill>
                      <a:srgbClr val="FFFFFF"/>
                    </a:solidFill>
                  </a:tcPr>
                </a:tc>
                <a:tc>
                  <a:txBody>
                    <a:bodyPr/>
                    <a:lstStyle/>
                    <a:p>
                      <a:pPr algn="l">
                        <a:defRPr sz="1000">
                          <a:solidFill>
                            <a:srgbClr val="374151"/>
                          </a:solidFill>
                          <a:latin typeface="Aptos"/>
                        </a:defRPr>
                      </a:pPr>
                      <a:r>
                        <a:t>Cropped ROI: Shape [N, 3, 256, 256]</a:t>
                      </a:r>
                      <a:br/>
                      <a:r>
                        <a:t>Extracted from YOLOv8 bbox</a:t>
                      </a:r>
                    </a:p>
                  </a:txBody>
                  <a:tcPr>
                    <a:solidFill>
                      <a:srgbClr val="FFFFFF"/>
                    </a:solidFill>
                  </a:tcPr>
                </a:tc>
                <a:tc>
                  <a:txBody>
                    <a:bodyPr/>
                    <a:lstStyle/>
                    <a:p>
                      <a:pPr algn="l">
                        <a:defRPr sz="1000">
                          <a:solidFill>
                            <a:srgbClr val="374151"/>
                          </a:solidFill>
                          <a:latin typeface="Aptos"/>
                        </a:defRPr>
                      </a:pPr>
                      <a:r>
                        <a:t>Bilinear resize to 256x256,</a:t>
                      </a:r>
                      <a:br/>
                      <a:r>
                        <a:t>Min-max normalization, grayscale conversion option</a:t>
                      </a:r>
                    </a:p>
                  </a:txBody>
                  <a:tcPr>
                    <a:solidFill>
                      <a:srgbClr val="FFFFFF"/>
                    </a:solidFill>
                  </a:tcPr>
                </a:tc>
                <a:tc>
                  <a:txBody>
                    <a:bodyPr/>
                    <a:lstStyle/>
                    <a:p>
                      <a:pPr algn="l">
                        <a:defRPr sz="1000">
                          <a:solidFill>
                            <a:srgbClr val="374151"/>
                          </a:solidFill>
                          <a:latin typeface="Aptos"/>
                        </a:defRPr>
                      </a:pPr>
                      <a:r>
                        <a:t>dict:</a:t>
                      </a:r>
                      <a:br/>
                      <a:r>
                        <a:t>• mask: uint8 [256, 256]</a:t>
                      </a:r>
                      <a:br/>
                      <a:r>
                        <a:t>• area_ratio: float</a:t>
                      </a:r>
                      <a:br/>
                      <a:r>
                        <a:t>• wound_pixels: int</a:t>
                      </a:r>
                    </a:p>
                  </a:txBody>
                  <a:tcPr>
                    <a:solidFill>
                      <a:srgbClr val="FFFFFF"/>
                    </a:solidFill>
                  </a:tcPr>
                </a:tc>
                <a:tc>
                  <a:txBody>
                    <a:bodyPr/>
                    <a:lstStyle/>
                    <a:p>
                      <a:pPr algn="l">
                        <a:defRPr sz="1000">
                          <a:solidFill>
                            <a:srgbClr val="374151"/>
                          </a:solidFill>
                          <a:latin typeface="Aptos"/>
                        </a:defRPr>
                      </a:pPr>
                      <a:r>
                        <a:t>VERIFIED</a:t>
                      </a:r>
                      <a:br/>
                      <a:r>
                        <a:t>(Forward Pass &amp; Pipeline)</a:t>
                      </a:r>
                    </a:p>
                  </a:txBody>
                  <a:tcPr>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9921240" y="201168"/>
            <a:ext cx="1965960" cy="685800"/>
          </a:xfrm>
          <a:prstGeom prst="rect">
            <a:avLst/>
          </a:prstGeom>
        </p:spPr>
      </p:pic>
      <p:sp>
        <p:nvSpPr>
          <p:cNvPr id="3" name="TextBox 2"/>
          <p:cNvSpPr txBox="1"/>
          <p:nvPr/>
        </p:nvSpPr>
        <p:spPr>
          <a:xfrm>
            <a:off x="731520" y="320040"/>
            <a:ext cx="8961120" cy="777240"/>
          </a:xfrm>
          <a:prstGeom prst="rect">
            <a:avLst/>
          </a:prstGeom>
          <a:noFill/>
        </p:spPr>
        <p:txBody>
          <a:bodyPr wrap="square" lIns="0" tIns="0" rIns="0" bIns="0">
            <a:spAutoFit/>
          </a:bodyPr>
          <a:lstStyle/>
          <a:p>
            <a:pPr>
              <a:spcAft>
                <a:spcPts val="200"/>
              </a:spcAft>
              <a:defRPr sz="950" b="1">
                <a:solidFill>
                  <a:srgbClr val="B6114D"/>
                </a:solidFill>
                <a:latin typeface="Aptos"/>
              </a:defRPr>
            </a:pPr>
            <a:r>
              <a:t>SECTION B: SYSTEM ARCHITECTURE</a:t>
            </a:r>
          </a:p>
          <a:p>
            <a:pPr>
              <a:defRPr sz="2100" b="1">
                <a:solidFill>
                  <a:srgbClr val="111827"/>
                </a:solidFill>
                <a:latin typeface="Aptos"/>
              </a:defRPr>
            </a:pPr>
            <a:r>
              <a:t>Implementation Audit: Completed Work vs. Roadmap</a:t>
            </a:r>
          </a:p>
        </p:txBody>
      </p:sp>
      <p:sp>
        <p:nvSpPr>
          <p:cNvPr id="4" name="Rectangle 3"/>
          <p:cNvSpPr/>
          <p:nvPr/>
        </p:nvSpPr>
        <p:spPr>
          <a:xfrm>
            <a:off x="731520" y="1170432"/>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161288"/>
            <a:ext cx="1097280" cy="32004"/>
          </a:xfrm>
          <a:prstGeom prst="rect">
            <a:avLst/>
          </a:prstGeom>
          <a:solidFill>
            <a:srgbClr val="B6114D"/>
          </a:solidFill>
          <a:ln>
            <a:solidFill>
              <a:srgbClr val="B611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09360"/>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55080"/>
            <a:ext cx="4572000" cy="320040"/>
          </a:xfrm>
          <a:prstGeom prst="rect">
            <a:avLst/>
          </a:prstGeom>
          <a:noFill/>
        </p:spPr>
        <p:txBody>
          <a:bodyPr wrap="none" lIns="0" tIns="0" rIns="0" bIns="0">
            <a:spAutoFit/>
          </a:bodyPr>
          <a:lstStyle/>
          <a:p>
            <a:pPr>
              <a:defRPr sz="900">
                <a:solidFill>
                  <a:srgbClr val="6B7280"/>
                </a:solidFill>
                <a:latin typeface="Aptos"/>
              </a:defRPr>
            </a:pPr>
            <a:r>
              <a:t>MediPaw — every paw deserves a chance</a:t>
            </a:r>
          </a:p>
        </p:txBody>
      </p:sp>
      <p:sp>
        <p:nvSpPr>
          <p:cNvPr id="8" name="TextBox 7"/>
          <p:cNvSpPr txBox="1"/>
          <p:nvPr/>
        </p:nvSpPr>
        <p:spPr>
          <a:xfrm>
            <a:off x="4572000" y="6355080"/>
            <a:ext cx="4114800" cy="320040"/>
          </a:xfrm>
          <a:prstGeom prst="rect">
            <a:avLst/>
          </a:prstGeom>
          <a:noFill/>
        </p:spPr>
        <p:txBody>
          <a:bodyPr wrap="none" lIns="0" tIns="0" rIns="0" bIns="0">
            <a:spAutoFit/>
          </a:bodyPr>
          <a:lstStyle/>
          <a:p>
            <a:pPr algn="ctr">
              <a:defRPr sz="900">
                <a:solidFill>
                  <a:srgbClr val="6B7280"/>
                </a:solidFill>
                <a:latin typeface="Aptos"/>
              </a:defRPr>
            </a:pPr>
            <a:r>
              <a:t>A.C. Sanhitha Reddy (CB.SC.U4CSE23206) | 23CSE473 Review 2</a:t>
            </a:r>
          </a:p>
        </p:txBody>
      </p:sp>
      <p:sp>
        <p:nvSpPr>
          <p:cNvPr id="9" name="TextBox 8"/>
          <p:cNvSpPr txBox="1"/>
          <p:nvPr/>
        </p:nvSpPr>
        <p:spPr>
          <a:xfrm>
            <a:off x="9601200" y="6355080"/>
            <a:ext cx="1828800" cy="320040"/>
          </a:xfrm>
          <a:prstGeom prst="rect">
            <a:avLst/>
          </a:prstGeom>
          <a:noFill/>
        </p:spPr>
        <p:txBody>
          <a:bodyPr wrap="none" lIns="0" tIns="0" rIns="0" bIns="0">
            <a:spAutoFit/>
          </a:bodyPr>
          <a:lstStyle/>
          <a:p>
            <a:pPr algn="r">
              <a:defRPr sz="900" b="1">
                <a:solidFill>
                  <a:srgbClr val="B6114D"/>
                </a:solidFill>
                <a:latin typeface="Aptos"/>
              </a:defRPr>
            </a:pPr>
            <a:r>
              <a:t>Slide 12 of 44</a:t>
            </a:r>
          </a:p>
        </p:txBody>
      </p:sp>
      <p:sp>
        <p:nvSpPr>
          <p:cNvPr id="10" name="Rectangle 9"/>
          <p:cNvSpPr/>
          <p:nvPr/>
        </p:nvSpPr>
        <p:spPr>
          <a:xfrm>
            <a:off x="731520" y="1371600"/>
            <a:ext cx="5212080" cy="4663440"/>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1371600"/>
            <a:ext cx="5212080" cy="54864"/>
          </a:xfrm>
          <a:prstGeom prst="rect">
            <a:avLst/>
          </a:prstGeom>
          <a:solidFill>
            <a:srgbClr val="B611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1554480"/>
            <a:ext cx="4846320" cy="4297680"/>
          </a:xfrm>
          <a:prstGeom prst="rect">
            <a:avLst/>
          </a:prstGeom>
          <a:noFill/>
        </p:spPr>
        <p:txBody>
          <a:bodyPr wrap="square">
            <a:spAutoFit/>
          </a:bodyPr>
          <a:lstStyle/>
          <a:p>
            <a:pPr>
              <a:spcAft>
                <a:spcPts val="800"/>
              </a:spcAft>
              <a:defRPr sz="1250" b="1">
                <a:solidFill>
                  <a:srgbClr val="B6114D"/>
                </a:solidFill>
                <a:latin typeface="Aptos"/>
              </a:defRPr>
            </a:pPr>
            <a:r>
              <a:t>COMPLETED &amp; EMPIRICALLY VERIFIED (REVIEW 2)</a:t>
            </a:r>
          </a:p>
          <a:p>
            <a:pPr>
              <a:spcAft>
                <a:spcPts val="600"/>
              </a:spcAft>
              <a:defRPr sz="1050">
                <a:latin typeface="Aptos"/>
              </a:defRPr>
            </a:pPr>
            <a:r>
              <a:rPr b="1">
                <a:solidFill>
                  <a:srgbClr val="111827"/>
                </a:solidFill>
              </a:rPr>
              <a:t>• Eye CNN Architecture:</a:t>
            </a:r>
            <a:r>
              <a:rPr b="0">
                <a:solidFill>
                  <a:srgbClr val="374151"/>
                </a:solidFill>
              </a:rPr>
              <a:t> MobileNetV3-Small backbone fully constructed (1.52M parameters) with custom 4-class classification head.</a:t>
            </a:r>
          </a:p>
          <a:p>
            <a:pPr>
              <a:spcAft>
                <a:spcPts val="600"/>
              </a:spcAft>
              <a:defRPr sz="1050">
                <a:latin typeface="Aptos"/>
              </a:defRPr>
            </a:pPr>
            <a:r>
              <a:rPr b="1">
                <a:solidFill>
                  <a:srgbClr val="111827"/>
                </a:solidFill>
              </a:rPr>
              <a:t>• Held-Out Evaluation:</a:t>
            </a:r>
            <a:r>
              <a:rPr b="0">
                <a:solidFill>
                  <a:srgbClr val="374151"/>
                </a:solidFill>
              </a:rPr>
              <a:t> Evaluated on N=352 held-out test images achieving 82.95% accuracy and 82.89% macro F1.</a:t>
            </a:r>
          </a:p>
          <a:p>
            <a:pPr>
              <a:spcAft>
                <a:spcPts val="600"/>
              </a:spcAft>
              <a:defRPr sz="1050">
                <a:latin typeface="Aptos"/>
              </a:defRPr>
            </a:pPr>
            <a:r>
              <a:rPr b="1">
                <a:solidFill>
                  <a:srgbClr val="111827"/>
                </a:solidFill>
              </a:rPr>
              <a:t>• Grad-CAM Integration:</a:t>
            </a:r>
            <a:r>
              <a:rPr b="0">
                <a:solidFill>
                  <a:srgbClr val="374151"/>
                </a:solidFill>
              </a:rPr>
              <a:t> Implemented spatial attention maps targeting features[12] layer for clinical explainability.</a:t>
            </a:r>
          </a:p>
          <a:p>
            <a:pPr>
              <a:spcAft>
                <a:spcPts val="600"/>
              </a:spcAft>
              <a:defRPr sz="1050">
                <a:latin typeface="Aptos"/>
              </a:defRPr>
            </a:pPr>
            <a:r>
              <a:rPr b="1">
                <a:solidFill>
                  <a:srgbClr val="111827"/>
                </a:solidFill>
              </a:rPr>
              <a:t>• U-Net Architecture:</a:t>
            </a:r>
            <a:r>
              <a:rPr b="0">
                <a:solidFill>
                  <a:srgbClr val="374151"/>
                </a:solidFill>
              </a:rPr>
              <a:t> 4-stage symmetric encoder-decoder built in unet/model.py (7.76M parameters) with skip connections.</a:t>
            </a:r>
          </a:p>
          <a:p>
            <a:pPr>
              <a:spcAft>
                <a:spcPts val="600"/>
              </a:spcAft>
              <a:defRPr sz="1050">
                <a:latin typeface="Aptos"/>
              </a:defRPr>
            </a:pPr>
            <a:r>
              <a:rPr b="1">
                <a:solidFill>
                  <a:srgbClr val="111827"/>
                </a:solidFill>
              </a:rPr>
              <a:t>• Cascaded Inference Pipeline:</a:t>
            </a:r>
            <a:r>
              <a:rPr b="0">
                <a:solidFill>
                  <a:srgbClr val="374151"/>
                </a:solidFill>
              </a:rPr>
              <a:t> Functional two-stage YOLOv8-to-U-Net pipeline with bounding-box cropping in unet/two_stage_pipeline.py.</a:t>
            </a:r>
          </a:p>
          <a:p>
            <a:pPr>
              <a:spcAft>
                <a:spcPts val="600"/>
              </a:spcAft>
              <a:defRPr sz="1050">
                <a:latin typeface="Aptos"/>
              </a:defRPr>
            </a:pPr>
            <a:r>
              <a:rPr b="1">
                <a:solidFill>
                  <a:srgbClr val="111827"/>
                </a:solidFill>
              </a:rPr>
              <a:t>• Testing Suite:</a:t>
            </a:r>
            <a:r>
              <a:rPr b="0">
                <a:solidFill>
                  <a:srgbClr val="374151"/>
                </a:solidFill>
              </a:rPr>
              <a:t> 18 automated unit and integration tests passing with 100% success rate.</a:t>
            </a:r>
          </a:p>
        </p:txBody>
      </p:sp>
      <p:sp>
        <p:nvSpPr>
          <p:cNvPr id="13" name="Rectangle 12"/>
          <p:cNvSpPr/>
          <p:nvPr/>
        </p:nvSpPr>
        <p:spPr>
          <a:xfrm>
            <a:off x="6217920" y="1371600"/>
            <a:ext cx="5212080" cy="4663440"/>
          </a:xfrm>
          <a:prstGeom prst="rect">
            <a:avLst/>
          </a:prstGeom>
          <a:solidFill>
            <a:srgbClr val="FDF2F4"/>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71600"/>
            <a:ext cx="5212080" cy="54864"/>
          </a:xfrm>
          <a:prstGeom prst="rect">
            <a:avLst/>
          </a:prstGeom>
          <a:solidFill>
            <a:srgbClr val="0860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554480"/>
            <a:ext cx="4846320" cy="4297680"/>
          </a:xfrm>
          <a:prstGeom prst="rect">
            <a:avLst/>
          </a:prstGeom>
          <a:noFill/>
        </p:spPr>
        <p:txBody>
          <a:bodyPr wrap="square">
            <a:spAutoFit/>
          </a:bodyPr>
          <a:lstStyle/>
          <a:p>
            <a:pPr>
              <a:spcAft>
                <a:spcPts val="800"/>
              </a:spcAft>
              <a:defRPr sz="1250" b="1">
                <a:solidFill>
                  <a:srgbClr val="086072"/>
                </a:solidFill>
                <a:latin typeface="Aptos"/>
              </a:defRPr>
            </a:pPr>
            <a:r>
              <a:t>PLANNED WORK &amp; REMAINING MILESTONES (REVIEW 3)</a:t>
            </a:r>
          </a:p>
          <a:p>
            <a:pPr>
              <a:spcAft>
                <a:spcPts val="600"/>
              </a:spcAft>
              <a:defRPr sz="1050">
                <a:latin typeface="Aptos"/>
              </a:defRPr>
            </a:pPr>
            <a:r>
              <a:rPr b="1">
                <a:solidFill>
                  <a:srgbClr val="111827"/>
                </a:solidFill>
              </a:rPr>
              <a:t>• Pixel-Level Polygon Mask Annotations:</a:t>
            </a:r>
            <a:r>
              <a:rPr b="0">
                <a:solidFill>
                  <a:srgbClr val="374151"/>
                </a:solidFill>
              </a:rPr>
              <a:t> Current canine wound dataset (skincnn/yolo_canine_wounds/) provides bounding boxes. Plan to annotate 500 true pixel masks via CVAT/Roboflow.</a:t>
            </a:r>
          </a:p>
          <a:p>
            <a:pPr>
              <a:spcAft>
                <a:spcPts val="600"/>
              </a:spcAft>
              <a:defRPr sz="1050">
                <a:latin typeface="Aptos"/>
              </a:defRPr>
            </a:pPr>
            <a:r>
              <a:rPr b="1">
                <a:solidFill>
                  <a:srgbClr val="111827"/>
                </a:solidFill>
              </a:rPr>
              <a:t>• Supervised Dice/IoU Mask Training:</a:t>
            </a:r>
            <a:r>
              <a:rPr b="0">
                <a:solidFill>
                  <a:srgbClr val="374151"/>
                </a:solidFill>
              </a:rPr>
              <a:t> Full gradient descent training of U-Net weights on genuine pixel masks to establish empirical IoU benchmarks.</a:t>
            </a:r>
          </a:p>
          <a:p>
            <a:pPr>
              <a:spcAft>
                <a:spcPts val="600"/>
              </a:spcAft>
              <a:defRPr sz="1050">
                <a:latin typeface="Aptos"/>
              </a:defRPr>
            </a:pPr>
            <a:r>
              <a:rPr b="1">
                <a:solidFill>
                  <a:srgbClr val="111827"/>
                </a:solidFill>
              </a:rPr>
              <a:t>• ONNX / TensorRT Quantization:</a:t>
            </a:r>
            <a:r>
              <a:rPr b="0">
                <a:solidFill>
                  <a:srgbClr val="374151"/>
                </a:solidFill>
              </a:rPr>
              <a:t> Export MobileNetV3 and U-Net to INT8 ONNX models for sub-10ms mobile inference.</a:t>
            </a:r>
          </a:p>
          <a:p>
            <a:pPr>
              <a:spcAft>
                <a:spcPts val="600"/>
              </a:spcAft>
              <a:defRPr sz="1050">
                <a:latin typeface="Aptos"/>
              </a:defRPr>
            </a:pPr>
            <a:r>
              <a:rPr b="1">
                <a:solidFill>
                  <a:srgbClr val="111827"/>
                </a:solidFill>
              </a:rPr>
              <a:t>• Paired Multi-Modal Dataset Collection:</a:t>
            </a:r>
            <a:r>
              <a:rPr b="0">
                <a:solidFill>
                  <a:srgbClr val="374151"/>
                </a:solidFill>
              </a:rPr>
              <a:t> Acquire paired ocular, dermatological, and thoracic imagery from local shelter partners.</a:t>
            </a:r>
          </a:p>
          <a:p>
            <a:pPr>
              <a:spcAft>
                <a:spcPts val="600"/>
              </a:spcAft>
              <a:defRPr sz="1050">
                <a:latin typeface="Aptos"/>
              </a:defRPr>
            </a:pPr>
            <a:r>
              <a:rPr b="1">
                <a:solidFill>
                  <a:srgbClr val="111827"/>
                </a:solidFill>
              </a:rPr>
              <a:t>• Field Deployment Trial:</a:t>
            </a:r>
            <a:r>
              <a:rPr b="0">
                <a:solidFill>
                  <a:srgbClr val="374151"/>
                </a:solidFill>
              </a:rPr>
              <a:t> Pilot testing at local Coimbatore/Bangalore rescue shelters with veterinary volunteer feedback.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DFBF7"/>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9921240" y="201168"/>
            <a:ext cx="1965960" cy="685800"/>
          </a:xfrm>
          <a:prstGeom prst="rect">
            <a:avLst/>
          </a:prstGeom>
        </p:spPr>
      </p:pic>
      <p:sp>
        <p:nvSpPr>
          <p:cNvPr id="3" name="Rectangle 2"/>
          <p:cNvSpPr/>
          <p:nvPr/>
        </p:nvSpPr>
        <p:spPr>
          <a:xfrm>
            <a:off x="914400" y="1645920"/>
            <a:ext cx="10332720" cy="3840480"/>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4400" y="1645920"/>
            <a:ext cx="182880" cy="3840480"/>
          </a:xfrm>
          <a:prstGeom prst="rect">
            <a:avLst/>
          </a:prstGeom>
          <a:solidFill>
            <a:srgbClr val="B611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2011680"/>
            <a:ext cx="9144000" cy="3108960"/>
          </a:xfrm>
          <a:prstGeom prst="rect">
            <a:avLst/>
          </a:prstGeom>
          <a:noFill/>
        </p:spPr>
        <p:txBody>
          <a:bodyPr wrap="square">
            <a:spAutoFit/>
          </a:bodyPr>
          <a:lstStyle/>
          <a:p>
            <a:pPr>
              <a:defRPr sz="1400" b="1">
                <a:solidFill>
                  <a:srgbClr val="B6114D"/>
                </a:solidFill>
                <a:latin typeface="Aptos"/>
              </a:defRPr>
            </a:pPr>
            <a:r>
              <a:t>SECTION C</a:t>
            </a:r>
          </a:p>
          <a:p>
            <a:pPr>
              <a:spcBef>
                <a:spcPts val="400"/>
              </a:spcBef>
              <a:spcAft>
                <a:spcPts val="1200"/>
              </a:spcAft>
              <a:defRPr sz="2800" b="1">
                <a:solidFill>
                  <a:srgbClr val="111827"/>
                </a:solidFill>
                <a:latin typeface="Aptos"/>
              </a:defRPr>
            </a:pPr>
            <a:r>
              <a:t>Eye CNN: Ocular Pathology Classification</a:t>
            </a:r>
          </a:p>
          <a:p>
            <a:pPr>
              <a:spcAft>
                <a:spcPts val="600"/>
              </a:spcAft>
              <a:defRPr sz="1200">
                <a:latin typeface="Aptos"/>
              </a:defRPr>
            </a:pPr>
            <a:r>
              <a:rPr b="0">
                <a:solidFill>
                  <a:srgbClr val="374151"/>
                </a:solidFill>
              </a:rPr>
              <a:t>• Dataset curation, split distribution, and class weighting across 1,760 verified canine ocular images.</a:t>
            </a:r>
          </a:p>
          <a:p>
            <a:pPr>
              <a:spcAft>
                <a:spcPts val="600"/>
              </a:spcAft>
              <a:defRPr sz="1200">
                <a:latin typeface="Aptos"/>
              </a:defRPr>
            </a:pPr>
            <a:r>
              <a:rPr b="1">
                <a:solidFill>
                  <a:srgbClr val="111827"/>
                </a:solidFill>
              </a:rPr>
              <a:t>• MobileNetV3-Small backbone design:</a:t>
            </a:r>
            <a:r>
              <a:rPr b="0">
                <a:solidFill>
                  <a:srgbClr val="374151"/>
                </a:solidFill>
              </a:rPr>
              <a:t> inverted residuals, hardswish, and squeeze-and-excitation blocks.</a:t>
            </a:r>
          </a:p>
          <a:p>
            <a:pPr>
              <a:spcAft>
                <a:spcPts val="600"/>
              </a:spcAft>
              <a:defRPr sz="1200">
                <a:latin typeface="Aptos"/>
              </a:defRPr>
            </a:pPr>
            <a:r>
              <a:rPr b="1">
                <a:solidFill>
                  <a:srgbClr val="111827"/>
                </a:solidFill>
              </a:rPr>
              <a:t>• Training pipeline:</a:t>
            </a:r>
            <a:r>
              <a:rPr b="0">
                <a:solidFill>
                  <a:srgbClr val="374151"/>
                </a:solidFill>
              </a:rPr>
              <a:t> cross-entropy with class balancing, AdamW optimizer, and cosine learning rate decay.</a:t>
            </a:r>
          </a:p>
          <a:p>
            <a:pPr>
              <a:spcAft>
                <a:spcPts val="600"/>
              </a:spcAft>
              <a:defRPr sz="1200">
                <a:latin typeface="Aptos"/>
              </a:defRPr>
            </a:pPr>
            <a:r>
              <a:rPr b="1">
                <a:solidFill>
                  <a:srgbClr val="111827"/>
                </a:solidFill>
              </a:rPr>
              <a:t>• Held-out test evaluation:</a:t>
            </a:r>
            <a:r>
              <a:rPr b="0">
                <a:solidFill>
                  <a:srgbClr val="374151"/>
                </a:solidFill>
              </a:rPr>
              <a:t> 82.95% accuracy, 82.89% macro F1, confusion matrix, and Grad-CAM spatial validation.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9921240" y="201168"/>
            <a:ext cx="1965960" cy="685800"/>
          </a:xfrm>
          <a:prstGeom prst="rect">
            <a:avLst/>
          </a:prstGeom>
        </p:spPr>
      </p:pic>
      <p:sp>
        <p:nvSpPr>
          <p:cNvPr id="3" name="TextBox 2"/>
          <p:cNvSpPr txBox="1"/>
          <p:nvPr/>
        </p:nvSpPr>
        <p:spPr>
          <a:xfrm>
            <a:off x="731520" y="320040"/>
            <a:ext cx="8961120" cy="777240"/>
          </a:xfrm>
          <a:prstGeom prst="rect">
            <a:avLst/>
          </a:prstGeom>
          <a:noFill/>
        </p:spPr>
        <p:txBody>
          <a:bodyPr wrap="square" lIns="0" tIns="0" rIns="0" bIns="0">
            <a:spAutoFit/>
          </a:bodyPr>
          <a:lstStyle/>
          <a:p>
            <a:pPr>
              <a:spcAft>
                <a:spcPts val="200"/>
              </a:spcAft>
              <a:defRPr sz="950" b="1">
                <a:solidFill>
                  <a:srgbClr val="B6114D"/>
                </a:solidFill>
                <a:latin typeface="Aptos"/>
              </a:defRPr>
            </a:pPr>
            <a:r>
              <a:t>SECTION C: EYE CNN MODULE</a:t>
            </a:r>
          </a:p>
          <a:p>
            <a:pPr>
              <a:defRPr sz="2100" b="1">
                <a:solidFill>
                  <a:srgbClr val="111827"/>
                </a:solidFill>
                <a:latin typeface="Aptos"/>
              </a:defRPr>
            </a:pPr>
            <a:r>
              <a:t>Eye Dataset Source, Class Taxonomies &amp; Organization</a:t>
            </a:r>
          </a:p>
        </p:txBody>
      </p:sp>
      <p:sp>
        <p:nvSpPr>
          <p:cNvPr id="4" name="Rectangle 3"/>
          <p:cNvSpPr/>
          <p:nvPr/>
        </p:nvSpPr>
        <p:spPr>
          <a:xfrm>
            <a:off x="731520" y="1170432"/>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161288"/>
            <a:ext cx="1097280" cy="32004"/>
          </a:xfrm>
          <a:prstGeom prst="rect">
            <a:avLst/>
          </a:prstGeom>
          <a:solidFill>
            <a:srgbClr val="B6114D"/>
          </a:solidFill>
          <a:ln>
            <a:solidFill>
              <a:srgbClr val="B611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09360"/>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55080"/>
            <a:ext cx="4572000" cy="320040"/>
          </a:xfrm>
          <a:prstGeom prst="rect">
            <a:avLst/>
          </a:prstGeom>
          <a:noFill/>
        </p:spPr>
        <p:txBody>
          <a:bodyPr wrap="none" lIns="0" tIns="0" rIns="0" bIns="0">
            <a:spAutoFit/>
          </a:bodyPr>
          <a:lstStyle/>
          <a:p>
            <a:pPr>
              <a:defRPr sz="900">
                <a:solidFill>
                  <a:srgbClr val="6B7280"/>
                </a:solidFill>
                <a:latin typeface="Aptos"/>
              </a:defRPr>
            </a:pPr>
            <a:r>
              <a:t>MediPaw — every paw deserves a chance</a:t>
            </a:r>
          </a:p>
        </p:txBody>
      </p:sp>
      <p:sp>
        <p:nvSpPr>
          <p:cNvPr id="8" name="TextBox 7"/>
          <p:cNvSpPr txBox="1"/>
          <p:nvPr/>
        </p:nvSpPr>
        <p:spPr>
          <a:xfrm>
            <a:off x="4572000" y="6355080"/>
            <a:ext cx="4114800" cy="320040"/>
          </a:xfrm>
          <a:prstGeom prst="rect">
            <a:avLst/>
          </a:prstGeom>
          <a:noFill/>
        </p:spPr>
        <p:txBody>
          <a:bodyPr wrap="none" lIns="0" tIns="0" rIns="0" bIns="0">
            <a:spAutoFit/>
          </a:bodyPr>
          <a:lstStyle/>
          <a:p>
            <a:pPr algn="ctr">
              <a:defRPr sz="900">
                <a:solidFill>
                  <a:srgbClr val="6B7280"/>
                </a:solidFill>
                <a:latin typeface="Aptos"/>
              </a:defRPr>
            </a:pPr>
            <a:r>
              <a:t>A.C. Sanhitha Reddy (CB.SC.U4CSE23206) | 23CSE473 Review 2</a:t>
            </a:r>
          </a:p>
        </p:txBody>
      </p:sp>
      <p:sp>
        <p:nvSpPr>
          <p:cNvPr id="9" name="TextBox 8"/>
          <p:cNvSpPr txBox="1"/>
          <p:nvPr/>
        </p:nvSpPr>
        <p:spPr>
          <a:xfrm>
            <a:off x="9601200" y="6355080"/>
            <a:ext cx="1828800" cy="320040"/>
          </a:xfrm>
          <a:prstGeom prst="rect">
            <a:avLst/>
          </a:prstGeom>
          <a:noFill/>
        </p:spPr>
        <p:txBody>
          <a:bodyPr wrap="none" lIns="0" tIns="0" rIns="0" bIns="0">
            <a:spAutoFit/>
          </a:bodyPr>
          <a:lstStyle/>
          <a:p>
            <a:pPr algn="r">
              <a:defRPr sz="900" b="1">
                <a:solidFill>
                  <a:srgbClr val="B6114D"/>
                </a:solidFill>
                <a:latin typeface="Aptos"/>
              </a:defRPr>
            </a:pPr>
            <a:r>
              <a:t>Slide 14 of 44</a:t>
            </a:r>
          </a:p>
        </p:txBody>
      </p:sp>
      <p:graphicFrame>
        <p:nvGraphicFramePr>
          <p:cNvPr id="10" name="Table 9"/>
          <p:cNvGraphicFramePr>
            <a:graphicFrameLocks noGrp="1"/>
          </p:cNvGraphicFramePr>
          <p:nvPr/>
        </p:nvGraphicFramePr>
        <p:xfrm>
          <a:off x="731520" y="1371600"/>
          <a:ext cx="10698480" cy="2926080"/>
        </p:xfrm>
        <a:graphic>
          <a:graphicData uri="http://schemas.openxmlformats.org/drawingml/2006/table">
            <a:tbl>
              <a:tblPr firstRow="1" bandRow="1">
                <a:tableStyleId>{5C22544A-7EE6-4342-B048-85BDC9FD1C3A}</a:tableStyleId>
              </a:tblPr>
              <a:tblGrid>
                <a:gridCol w="1463040"/>
                <a:gridCol w="2377440"/>
                <a:gridCol w="2286000"/>
                <a:gridCol w="1005840"/>
                <a:gridCol w="1005840"/>
                <a:gridCol w="1005840"/>
                <a:gridCol w="1554480"/>
              </a:tblGrid>
              <a:tr h="487680">
                <a:tc>
                  <a:txBody>
                    <a:bodyPr/>
                    <a:lstStyle/>
                    <a:p>
                      <a:pPr algn="l">
                        <a:defRPr sz="1050" b="1">
                          <a:solidFill>
                            <a:srgbClr val="FFFFFF"/>
                          </a:solidFill>
                          <a:latin typeface="Aptos"/>
                        </a:defRPr>
                      </a:pPr>
                      <a:r>
                        <a:t>Class Name</a:t>
                      </a:r>
                    </a:p>
                  </a:txBody>
                  <a:tcPr>
                    <a:solidFill>
                      <a:srgbClr val="B6114D"/>
                    </a:solidFill>
                  </a:tcPr>
                </a:tc>
                <a:tc>
                  <a:txBody>
                    <a:bodyPr/>
                    <a:lstStyle/>
                    <a:p>
                      <a:pPr algn="l">
                        <a:defRPr sz="1050" b="1">
                          <a:solidFill>
                            <a:srgbClr val="FFFFFF"/>
                          </a:solidFill>
                          <a:latin typeface="Aptos"/>
                        </a:defRPr>
                      </a:pPr>
                      <a:r>
                        <a:t>Clinical Description</a:t>
                      </a:r>
                    </a:p>
                  </a:txBody>
                  <a:tcPr>
                    <a:solidFill>
                      <a:srgbClr val="B6114D"/>
                    </a:solidFill>
                  </a:tcPr>
                </a:tc>
                <a:tc>
                  <a:txBody>
                    <a:bodyPr/>
                    <a:lstStyle/>
                    <a:p>
                      <a:pPr algn="l">
                        <a:defRPr sz="1050" b="1">
                          <a:solidFill>
                            <a:srgbClr val="FFFFFF"/>
                          </a:solidFill>
                          <a:latin typeface="Aptos"/>
                        </a:defRPr>
                      </a:pPr>
                      <a:r>
                        <a:t>Pathological Visual Markers</a:t>
                      </a:r>
                    </a:p>
                  </a:txBody>
                  <a:tcPr>
                    <a:solidFill>
                      <a:srgbClr val="B6114D"/>
                    </a:solidFill>
                  </a:tcPr>
                </a:tc>
                <a:tc>
                  <a:txBody>
                    <a:bodyPr/>
                    <a:lstStyle/>
                    <a:p>
                      <a:pPr algn="l">
                        <a:defRPr sz="1050" b="1">
                          <a:solidFill>
                            <a:srgbClr val="FFFFFF"/>
                          </a:solidFill>
                          <a:latin typeface="Aptos"/>
                        </a:defRPr>
                      </a:pPr>
                      <a:r>
                        <a:t>Train Count</a:t>
                      </a:r>
                    </a:p>
                  </a:txBody>
                  <a:tcPr>
                    <a:solidFill>
                      <a:srgbClr val="B6114D"/>
                    </a:solidFill>
                  </a:tcPr>
                </a:tc>
                <a:tc>
                  <a:txBody>
                    <a:bodyPr/>
                    <a:lstStyle/>
                    <a:p>
                      <a:pPr algn="l">
                        <a:defRPr sz="1050" b="1">
                          <a:solidFill>
                            <a:srgbClr val="FFFFFF"/>
                          </a:solidFill>
                          <a:latin typeface="Aptos"/>
                        </a:defRPr>
                      </a:pPr>
                      <a:r>
                        <a:t>Val Count</a:t>
                      </a:r>
                    </a:p>
                  </a:txBody>
                  <a:tcPr>
                    <a:solidFill>
                      <a:srgbClr val="B6114D"/>
                    </a:solidFill>
                  </a:tcPr>
                </a:tc>
                <a:tc>
                  <a:txBody>
                    <a:bodyPr/>
                    <a:lstStyle/>
                    <a:p>
                      <a:pPr algn="l">
                        <a:defRPr sz="1050" b="1">
                          <a:solidFill>
                            <a:srgbClr val="FFFFFF"/>
                          </a:solidFill>
                          <a:latin typeface="Aptos"/>
                        </a:defRPr>
                      </a:pPr>
                      <a:r>
                        <a:t>Test Count</a:t>
                      </a:r>
                    </a:p>
                  </a:txBody>
                  <a:tcPr>
                    <a:solidFill>
                      <a:srgbClr val="B6114D"/>
                    </a:solidFill>
                  </a:tcPr>
                </a:tc>
                <a:tc>
                  <a:txBody>
                    <a:bodyPr/>
                    <a:lstStyle/>
                    <a:p>
                      <a:pPr algn="l">
                        <a:defRPr sz="1050" b="1">
                          <a:solidFill>
                            <a:srgbClr val="FFFFFF"/>
                          </a:solidFill>
                          <a:latin typeface="Aptos"/>
                        </a:defRPr>
                      </a:pPr>
                      <a:r>
                        <a:t>Total Images</a:t>
                      </a:r>
                    </a:p>
                  </a:txBody>
                  <a:tcPr>
                    <a:solidFill>
                      <a:srgbClr val="B6114D"/>
                    </a:solidFill>
                  </a:tcPr>
                </a:tc>
              </a:tr>
              <a:tr h="487680">
                <a:tc>
                  <a:txBody>
                    <a:bodyPr/>
                    <a:lstStyle/>
                    <a:p>
                      <a:pPr algn="l">
                        <a:defRPr sz="1000" b="1">
                          <a:solidFill>
                            <a:srgbClr val="111827"/>
                          </a:solidFill>
                          <a:latin typeface="Aptos"/>
                        </a:defRPr>
                      </a:pPr>
                      <a:r>
                        <a:t>Conjunctivitis</a:t>
                      </a:r>
                    </a:p>
                  </a:txBody>
                  <a:tcPr>
                    <a:solidFill>
                      <a:srgbClr val="FFFFFF"/>
                    </a:solidFill>
                  </a:tcPr>
                </a:tc>
                <a:tc>
                  <a:txBody>
                    <a:bodyPr/>
                    <a:lstStyle/>
                    <a:p>
                      <a:pPr algn="l">
                        <a:defRPr sz="1000">
                          <a:solidFill>
                            <a:srgbClr val="374151"/>
                          </a:solidFill>
                          <a:latin typeface="Aptos"/>
                        </a:defRPr>
                      </a:pPr>
                      <a:r>
                        <a:t>Inflammation of mucous membrane lining inner eyelid</a:t>
                      </a:r>
                    </a:p>
                  </a:txBody>
                  <a:tcPr>
                    <a:solidFill>
                      <a:srgbClr val="FFFFFF"/>
                    </a:solidFill>
                  </a:tcPr>
                </a:tc>
                <a:tc>
                  <a:txBody>
                    <a:bodyPr/>
                    <a:lstStyle/>
                    <a:p>
                      <a:pPr algn="l">
                        <a:defRPr sz="1000">
                          <a:solidFill>
                            <a:srgbClr val="374151"/>
                          </a:solidFill>
                          <a:latin typeface="Aptos"/>
                        </a:defRPr>
                      </a:pPr>
                      <a:r>
                        <a:t>Hyperemia, purulent discharge, chemosis</a:t>
                      </a:r>
                    </a:p>
                  </a:txBody>
                  <a:tcPr>
                    <a:solidFill>
                      <a:srgbClr val="FFFFFF"/>
                    </a:solidFill>
                  </a:tcPr>
                </a:tc>
                <a:tc>
                  <a:txBody>
                    <a:bodyPr/>
                    <a:lstStyle/>
                    <a:p>
                      <a:pPr algn="l">
                        <a:defRPr sz="1000">
                          <a:solidFill>
                            <a:srgbClr val="374151"/>
                          </a:solidFill>
                          <a:latin typeface="Aptos"/>
                        </a:defRPr>
                      </a:pPr>
                      <a:r>
                        <a:t>312</a:t>
                      </a:r>
                    </a:p>
                  </a:txBody>
                  <a:tcPr>
                    <a:solidFill>
                      <a:srgbClr val="FFFFFF"/>
                    </a:solidFill>
                  </a:tcPr>
                </a:tc>
                <a:tc>
                  <a:txBody>
                    <a:bodyPr/>
                    <a:lstStyle/>
                    <a:p>
                      <a:pPr algn="l">
                        <a:defRPr sz="1000">
                          <a:solidFill>
                            <a:srgbClr val="374151"/>
                          </a:solidFill>
                          <a:latin typeface="Aptos"/>
                        </a:defRPr>
                      </a:pPr>
                      <a:r>
                        <a:t>45</a:t>
                      </a:r>
                    </a:p>
                  </a:txBody>
                  <a:tcPr>
                    <a:solidFill>
                      <a:srgbClr val="FFFFFF"/>
                    </a:solidFill>
                  </a:tcPr>
                </a:tc>
                <a:tc>
                  <a:txBody>
                    <a:bodyPr/>
                    <a:lstStyle/>
                    <a:p>
                      <a:pPr algn="l">
                        <a:defRPr sz="1000">
                          <a:solidFill>
                            <a:srgbClr val="374151"/>
                          </a:solidFill>
                          <a:latin typeface="Aptos"/>
                        </a:defRPr>
                      </a:pPr>
                      <a:r>
                        <a:t>89</a:t>
                      </a:r>
                    </a:p>
                  </a:txBody>
                  <a:tcPr>
                    <a:solidFill>
                      <a:srgbClr val="FFFFFF"/>
                    </a:solidFill>
                  </a:tcPr>
                </a:tc>
                <a:tc>
                  <a:txBody>
                    <a:bodyPr/>
                    <a:lstStyle/>
                    <a:p>
                      <a:pPr algn="l">
                        <a:defRPr sz="1000">
                          <a:solidFill>
                            <a:srgbClr val="374151"/>
                          </a:solidFill>
                          <a:latin typeface="Aptos"/>
                        </a:defRPr>
                      </a:pPr>
                      <a:r>
                        <a:t>446</a:t>
                      </a:r>
                    </a:p>
                  </a:txBody>
                  <a:tcPr>
                    <a:solidFill>
                      <a:srgbClr val="FFFFFF"/>
                    </a:solidFill>
                  </a:tcPr>
                </a:tc>
              </a:tr>
              <a:tr h="487680">
                <a:tc>
                  <a:txBody>
                    <a:bodyPr/>
                    <a:lstStyle/>
                    <a:p>
                      <a:pPr algn="l">
                        <a:defRPr sz="1000" b="1">
                          <a:solidFill>
                            <a:srgbClr val="111827"/>
                          </a:solidFill>
                          <a:latin typeface="Aptos"/>
                        </a:defRPr>
                      </a:pPr>
                      <a:r>
                        <a:t>Entropion</a:t>
                      </a:r>
                    </a:p>
                  </a:txBody>
                  <a:tcPr>
                    <a:solidFill>
                      <a:srgbClr val="FDF2F4"/>
                    </a:solidFill>
                  </a:tcPr>
                </a:tc>
                <a:tc>
                  <a:txBody>
                    <a:bodyPr/>
                    <a:lstStyle/>
                    <a:p>
                      <a:pPr algn="l">
                        <a:defRPr sz="1000">
                          <a:solidFill>
                            <a:srgbClr val="374151"/>
                          </a:solidFill>
                          <a:latin typeface="Aptos"/>
                        </a:defRPr>
                      </a:pPr>
                      <a:r>
                        <a:t>Inversion of eyelid margin causing lash friction</a:t>
                      </a:r>
                    </a:p>
                  </a:txBody>
                  <a:tcPr>
                    <a:solidFill>
                      <a:srgbClr val="FDF2F4"/>
                    </a:solidFill>
                  </a:tcPr>
                </a:tc>
                <a:tc>
                  <a:txBody>
                    <a:bodyPr/>
                    <a:lstStyle/>
                    <a:p>
                      <a:pPr algn="l">
                        <a:defRPr sz="1000">
                          <a:solidFill>
                            <a:srgbClr val="374151"/>
                          </a:solidFill>
                          <a:latin typeface="Aptos"/>
                        </a:defRPr>
                      </a:pPr>
                      <a:r>
                        <a:t>Inward eyelid rolling, blepharospasm, epiphora</a:t>
                      </a:r>
                    </a:p>
                  </a:txBody>
                  <a:tcPr>
                    <a:solidFill>
                      <a:srgbClr val="FDF2F4"/>
                    </a:solidFill>
                  </a:tcPr>
                </a:tc>
                <a:tc>
                  <a:txBody>
                    <a:bodyPr/>
                    <a:lstStyle/>
                    <a:p>
                      <a:pPr algn="l">
                        <a:defRPr sz="1000">
                          <a:solidFill>
                            <a:srgbClr val="374151"/>
                          </a:solidFill>
                          <a:latin typeface="Aptos"/>
                        </a:defRPr>
                      </a:pPr>
                      <a:r>
                        <a:t>285</a:t>
                      </a:r>
                    </a:p>
                  </a:txBody>
                  <a:tcPr>
                    <a:solidFill>
                      <a:srgbClr val="FDF2F4"/>
                    </a:solidFill>
                  </a:tcPr>
                </a:tc>
                <a:tc>
                  <a:txBody>
                    <a:bodyPr/>
                    <a:lstStyle/>
                    <a:p>
                      <a:pPr algn="l">
                        <a:defRPr sz="1000">
                          <a:solidFill>
                            <a:srgbClr val="374151"/>
                          </a:solidFill>
                          <a:latin typeface="Aptos"/>
                        </a:defRPr>
                      </a:pPr>
                      <a:r>
                        <a:t>40</a:t>
                      </a:r>
                    </a:p>
                  </a:txBody>
                  <a:tcPr>
                    <a:solidFill>
                      <a:srgbClr val="FDF2F4"/>
                    </a:solidFill>
                  </a:tcPr>
                </a:tc>
                <a:tc>
                  <a:txBody>
                    <a:bodyPr/>
                    <a:lstStyle/>
                    <a:p>
                      <a:pPr algn="l">
                        <a:defRPr sz="1000">
                          <a:solidFill>
                            <a:srgbClr val="374151"/>
                          </a:solidFill>
                          <a:latin typeface="Aptos"/>
                        </a:defRPr>
                      </a:pPr>
                      <a:r>
                        <a:t>81</a:t>
                      </a:r>
                    </a:p>
                  </a:txBody>
                  <a:tcPr>
                    <a:solidFill>
                      <a:srgbClr val="FDF2F4"/>
                    </a:solidFill>
                  </a:tcPr>
                </a:tc>
                <a:tc>
                  <a:txBody>
                    <a:bodyPr/>
                    <a:lstStyle/>
                    <a:p>
                      <a:pPr algn="l">
                        <a:defRPr sz="1000">
                          <a:solidFill>
                            <a:srgbClr val="374151"/>
                          </a:solidFill>
                          <a:latin typeface="Aptos"/>
                        </a:defRPr>
                      </a:pPr>
                      <a:r>
                        <a:t>406</a:t>
                      </a:r>
                    </a:p>
                  </a:txBody>
                  <a:tcPr>
                    <a:solidFill>
                      <a:srgbClr val="FDF2F4"/>
                    </a:solidFill>
                  </a:tcPr>
                </a:tc>
              </a:tr>
              <a:tr h="487680">
                <a:tc>
                  <a:txBody>
                    <a:bodyPr/>
                    <a:lstStyle/>
                    <a:p>
                      <a:pPr algn="l">
                        <a:defRPr sz="1000" b="1">
                          <a:solidFill>
                            <a:srgbClr val="111827"/>
                          </a:solidFill>
                          <a:latin typeface="Aptos"/>
                        </a:defRPr>
                      </a:pPr>
                      <a:r>
                        <a:t>Eyelid Lump</a:t>
                      </a:r>
                    </a:p>
                  </a:txBody>
                  <a:tcPr>
                    <a:solidFill>
                      <a:srgbClr val="FFFFFF"/>
                    </a:solidFill>
                  </a:tcPr>
                </a:tc>
                <a:tc>
                  <a:txBody>
                    <a:bodyPr/>
                    <a:lstStyle/>
                    <a:p>
                      <a:pPr algn="l">
                        <a:defRPr sz="1000">
                          <a:solidFill>
                            <a:srgbClr val="374151"/>
                          </a:solidFill>
                          <a:latin typeface="Aptos"/>
                        </a:defRPr>
                      </a:pPr>
                      <a:r>
                        <a:t>Neoplasm or chalazion on palpebral border</a:t>
                      </a:r>
                    </a:p>
                  </a:txBody>
                  <a:tcPr>
                    <a:solidFill>
                      <a:srgbClr val="FFFFFF"/>
                    </a:solidFill>
                  </a:tcPr>
                </a:tc>
                <a:tc>
                  <a:txBody>
                    <a:bodyPr/>
                    <a:lstStyle/>
                    <a:p>
                      <a:pPr algn="l">
                        <a:defRPr sz="1000">
                          <a:solidFill>
                            <a:srgbClr val="374151"/>
                          </a:solidFill>
                          <a:latin typeface="Aptos"/>
                        </a:defRPr>
                      </a:pPr>
                      <a:r>
                        <a:t>Nodular elevation, focal swelling, ulceration</a:t>
                      </a:r>
                    </a:p>
                  </a:txBody>
                  <a:tcPr>
                    <a:solidFill>
                      <a:srgbClr val="FFFFFF"/>
                    </a:solidFill>
                  </a:tcPr>
                </a:tc>
                <a:tc>
                  <a:txBody>
                    <a:bodyPr/>
                    <a:lstStyle/>
                    <a:p>
                      <a:pPr algn="l">
                        <a:defRPr sz="1000">
                          <a:solidFill>
                            <a:srgbClr val="374151"/>
                          </a:solidFill>
                          <a:latin typeface="Aptos"/>
                        </a:defRPr>
                      </a:pPr>
                      <a:r>
                        <a:t>298</a:t>
                      </a:r>
                    </a:p>
                  </a:txBody>
                  <a:tcPr>
                    <a:solidFill>
                      <a:srgbClr val="FFFFFF"/>
                    </a:solidFill>
                  </a:tcPr>
                </a:tc>
                <a:tc>
                  <a:txBody>
                    <a:bodyPr/>
                    <a:lstStyle/>
                    <a:p>
                      <a:pPr algn="l">
                        <a:defRPr sz="1000">
                          <a:solidFill>
                            <a:srgbClr val="374151"/>
                          </a:solidFill>
                          <a:latin typeface="Aptos"/>
                        </a:defRPr>
                      </a:pPr>
                      <a:r>
                        <a:t>42</a:t>
                      </a:r>
                    </a:p>
                  </a:txBody>
                  <a:tcPr>
                    <a:solidFill>
                      <a:srgbClr val="FFFFFF"/>
                    </a:solidFill>
                  </a:tcPr>
                </a:tc>
                <a:tc>
                  <a:txBody>
                    <a:bodyPr/>
                    <a:lstStyle/>
                    <a:p>
                      <a:pPr algn="l">
                        <a:defRPr sz="1000">
                          <a:solidFill>
                            <a:srgbClr val="374151"/>
                          </a:solidFill>
                          <a:latin typeface="Aptos"/>
                        </a:defRPr>
                      </a:pPr>
                      <a:r>
                        <a:t>85</a:t>
                      </a:r>
                    </a:p>
                  </a:txBody>
                  <a:tcPr>
                    <a:solidFill>
                      <a:srgbClr val="FFFFFF"/>
                    </a:solidFill>
                  </a:tcPr>
                </a:tc>
                <a:tc>
                  <a:txBody>
                    <a:bodyPr/>
                    <a:lstStyle/>
                    <a:p>
                      <a:pPr algn="l">
                        <a:defRPr sz="1000">
                          <a:solidFill>
                            <a:srgbClr val="374151"/>
                          </a:solidFill>
                          <a:latin typeface="Aptos"/>
                        </a:defRPr>
                      </a:pPr>
                      <a:r>
                        <a:t>425</a:t>
                      </a:r>
                    </a:p>
                  </a:txBody>
                  <a:tcPr>
                    <a:solidFill>
                      <a:srgbClr val="FFFFFF"/>
                    </a:solidFill>
                  </a:tcPr>
                </a:tc>
              </a:tr>
              <a:tr h="487680">
                <a:tc>
                  <a:txBody>
                    <a:bodyPr/>
                    <a:lstStyle/>
                    <a:p>
                      <a:pPr algn="l">
                        <a:defRPr sz="1000" b="1">
                          <a:solidFill>
                            <a:srgbClr val="111827"/>
                          </a:solidFill>
                          <a:latin typeface="Aptos"/>
                        </a:defRPr>
                      </a:pPr>
                      <a:r>
                        <a:t>Healthy</a:t>
                      </a:r>
                    </a:p>
                  </a:txBody>
                  <a:tcPr>
                    <a:solidFill>
                      <a:srgbClr val="FDF2F4"/>
                    </a:solidFill>
                  </a:tcPr>
                </a:tc>
                <a:tc>
                  <a:txBody>
                    <a:bodyPr/>
                    <a:lstStyle/>
                    <a:p>
                      <a:pPr algn="l">
                        <a:defRPr sz="1000">
                          <a:solidFill>
                            <a:srgbClr val="374151"/>
                          </a:solidFill>
                          <a:latin typeface="Aptos"/>
                        </a:defRPr>
                      </a:pPr>
                      <a:r>
                        <a:t>Normal canine ocular anatomy without pathology</a:t>
                      </a:r>
                    </a:p>
                  </a:txBody>
                  <a:tcPr>
                    <a:solidFill>
                      <a:srgbClr val="FDF2F4"/>
                    </a:solidFill>
                  </a:tcPr>
                </a:tc>
                <a:tc>
                  <a:txBody>
                    <a:bodyPr/>
                    <a:lstStyle/>
                    <a:p>
                      <a:pPr algn="l">
                        <a:defRPr sz="1000">
                          <a:solidFill>
                            <a:srgbClr val="374151"/>
                          </a:solidFill>
                          <a:latin typeface="Aptos"/>
                        </a:defRPr>
                      </a:pPr>
                      <a:r>
                        <a:t>Clear cornea, pale pink conjunctiva, patent pupil</a:t>
                      </a:r>
                    </a:p>
                  </a:txBody>
                  <a:tcPr>
                    <a:solidFill>
                      <a:srgbClr val="FDF2F4"/>
                    </a:solidFill>
                  </a:tcPr>
                </a:tc>
                <a:tc>
                  <a:txBody>
                    <a:bodyPr/>
                    <a:lstStyle/>
                    <a:p>
                      <a:pPr algn="l">
                        <a:defRPr sz="1000">
                          <a:solidFill>
                            <a:srgbClr val="374151"/>
                          </a:solidFill>
                          <a:latin typeface="Aptos"/>
                        </a:defRPr>
                      </a:pPr>
                      <a:r>
                        <a:t>338</a:t>
                      </a:r>
                    </a:p>
                  </a:txBody>
                  <a:tcPr>
                    <a:solidFill>
                      <a:srgbClr val="FDF2F4"/>
                    </a:solidFill>
                  </a:tcPr>
                </a:tc>
                <a:tc>
                  <a:txBody>
                    <a:bodyPr/>
                    <a:lstStyle/>
                    <a:p>
                      <a:pPr algn="l">
                        <a:defRPr sz="1000">
                          <a:solidFill>
                            <a:srgbClr val="374151"/>
                          </a:solidFill>
                          <a:latin typeface="Aptos"/>
                        </a:defRPr>
                      </a:pPr>
                      <a:r>
                        <a:t>48</a:t>
                      </a:r>
                    </a:p>
                  </a:txBody>
                  <a:tcPr>
                    <a:solidFill>
                      <a:srgbClr val="FDF2F4"/>
                    </a:solidFill>
                  </a:tcPr>
                </a:tc>
                <a:tc>
                  <a:txBody>
                    <a:bodyPr/>
                    <a:lstStyle/>
                    <a:p>
                      <a:pPr algn="l">
                        <a:defRPr sz="1000">
                          <a:solidFill>
                            <a:srgbClr val="374151"/>
                          </a:solidFill>
                          <a:latin typeface="Aptos"/>
                        </a:defRPr>
                      </a:pPr>
                      <a:r>
                        <a:t>97</a:t>
                      </a:r>
                    </a:p>
                  </a:txBody>
                  <a:tcPr>
                    <a:solidFill>
                      <a:srgbClr val="FDF2F4"/>
                    </a:solidFill>
                  </a:tcPr>
                </a:tc>
                <a:tc>
                  <a:txBody>
                    <a:bodyPr/>
                    <a:lstStyle/>
                    <a:p>
                      <a:pPr algn="l">
                        <a:defRPr sz="1000">
                          <a:solidFill>
                            <a:srgbClr val="374151"/>
                          </a:solidFill>
                          <a:latin typeface="Aptos"/>
                        </a:defRPr>
                      </a:pPr>
                      <a:r>
                        <a:t>483</a:t>
                      </a:r>
                    </a:p>
                  </a:txBody>
                  <a:tcPr>
                    <a:solidFill>
                      <a:srgbClr val="FDF2F4"/>
                    </a:solidFill>
                  </a:tcPr>
                </a:tc>
              </a:tr>
              <a:tr h="487680">
                <a:tc>
                  <a:txBody>
                    <a:bodyPr/>
                    <a:lstStyle/>
                    <a:p>
                      <a:pPr algn="l">
                        <a:defRPr sz="1000" b="1">
                          <a:solidFill>
                            <a:srgbClr val="111827"/>
                          </a:solidFill>
                          <a:latin typeface="Aptos"/>
                        </a:defRPr>
                      </a:pPr>
                      <a:r>
                        <a:t>TOTAL</a:t>
                      </a:r>
                    </a:p>
                  </a:txBody>
                  <a:tcPr>
                    <a:solidFill>
                      <a:srgbClr val="FFFFFF"/>
                    </a:solidFill>
                  </a:tcPr>
                </a:tc>
                <a:tc>
                  <a:txBody>
                    <a:bodyPr/>
                    <a:lstStyle/>
                    <a:p>
                      <a:pPr algn="l">
                        <a:defRPr sz="1000">
                          <a:solidFill>
                            <a:srgbClr val="374151"/>
                          </a:solidFill>
                          <a:latin typeface="Aptos"/>
                        </a:defRPr>
                      </a:pPr>
                      <a:r>
                        <a:t>Aggregated Ocular Pathology Cohort</a:t>
                      </a:r>
                    </a:p>
                  </a:txBody>
                  <a:tcPr>
                    <a:solidFill>
                      <a:srgbClr val="FFFFFF"/>
                    </a:solidFill>
                  </a:tcPr>
                </a:tc>
                <a:tc>
                  <a:txBody>
                    <a:bodyPr/>
                    <a:lstStyle/>
                    <a:p>
                      <a:pPr algn="l">
                        <a:defRPr sz="1000">
                          <a:solidFill>
                            <a:srgbClr val="374151"/>
                          </a:solidFill>
                          <a:latin typeface="Aptos"/>
                        </a:defRPr>
                      </a:pPr>
                      <a:r>
                        <a:t>Standardized 224x224 RGB crops</a:t>
                      </a:r>
                    </a:p>
                  </a:txBody>
                  <a:tcPr>
                    <a:solidFill>
                      <a:srgbClr val="FFFFFF"/>
                    </a:solidFill>
                  </a:tcPr>
                </a:tc>
                <a:tc>
                  <a:txBody>
                    <a:bodyPr/>
                    <a:lstStyle/>
                    <a:p>
                      <a:pPr algn="l">
                        <a:defRPr sz="1000">
                          <a:solidFill>
                            <a:srgbClr val="374151"/>
                          </a:solidFill>
                          <a:latin typeface="Aptos"/>
                        </a:defRPr>
                      </a:pPr>
                      <a:r>
                        <a:t>1,233</a:t>
                      </a:r>
                    </a:p>
                  </a:txBody>
                  <a:tcPr>
                    <a:solidFill>
                      <a:srgbClr val="FFFFFF"/>
                    </a:solidFill>
                  </a:tcPr>
                </a:tc>
                <a:tc>
                  <a:txBody>
                    <a:bodyPr/>
                    <a:lstStyle/>
                    <a:p>
                      <a:pPr algn="l">
                        <a:defRPr sz="1000">
                          <a:solidFill>
                            <a:srgbClr val="374151"/>
                          </a:solidFill>
                          <a:latin typeface="Aptos"/>
                        </a:defRPr>
                      </a:pPr>
                      <a:r>
                        <a:t>175</a:t>
                      </a:r>
                    </a:p>
                  </a:txBody>
                  <a:tcPr>
                    <a:solidFill>
                      <a:srgbClr val="FFFFFF"/>
                    </a:solidFill>
                  </a:tcPr>
                </a:tc>
                <a:tc>
                  <a:txBody>
                    <a:bodyPr/>
                    <a:lstStyle/>
                    <a:p>
                      <a:pPr algn="l">
                        <a:defRPr sz="1000">
                          <a:solidFill>
                            <a:srgbClr val="374151"/>
                          </a:solidFill>
                          <a:latin typeface="Aptos"/>
                        </a:defRPr>
                      </a:pPr>
                      <a:r>
                        <a:t>352</a:t>
                      </a:r>
                    </a:p>
                  </a:txBody>
                  <a:tcPr>
                    <a:solidFill>
                      <a:srgbClr val="FFFFFF"/>
                    </a:solidFill>
                  </a:tcPr>
                </a:tc>
                <a:tc>
                  <a:txBody>
                    <a:bodyPr/>
                    <a:lstStyle/>
                    <a:p>
                      <a:pPr algn="l">
                        <a:defRPr sz="1000">
                          <a:solidFill>
                            <a:srgbClr val="374151"/>
                          </a:solidFill>
                          <a:latin typeface="Aptos"/>
                        </a:defRPr>
                      </a:pPr>
                      <a:r>
                        <a:t>1,760</a:t>
                      </a:r>
                    </a:p>
                  </a:txBody>
                  <a:tcPr>
                    <a:solidFill>
                      <a:srgbClr val="FFFFFF"/>
                    </a:solidFill>
                  </a:tcPr>
                </a:tc>
              </a:tr>
            </a:tbl>
          </a:graphicData>
        </a:graphic>
      </p:graphicFrame>
      <p:sp>
        <p:nvSpPr>
          <p:cNvPr id="11" name="Rectangle 10"/>
          <p:cNvSpPr/>
          <p:nvPr/>
        </p:nvSpPr>
        <p:spPr>
          <a:xfrm>
            <a:off x="731520" y="4480560"/>
            <a:ext cx="10698480" cy="1554480"/>
          </a:xfrm>
          <a:prstGeom prst="rect">
            <a:avLst/>
          </a:prstGeom>
          <a:solidFill>
            <a:srgbClr val="FFFFFF"/>
          </a:solidFill>
          <a:ln w="12700">
            <a:solidFill>
              <a:srgbClr val="F4C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4480560"/>
            <a:ext cx="73152" cy="1554480"/>
          </a:xfrm>
          <a:prstGeom prst="rect">
            <a:avLst/>
          </a:prstGeom>
          <a:solidFill>
            <a:srgbClr val="B611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590288"/>
            <a:ext cx="10378440" cy="1335024"/>
          </a:xfrm>
          <a:prstGeom prst="rect">
            <a:avLst/>
          </a:prstGeom>
          <a:noFill/>
        </p:spPr>
        <p:txBody>
          <a:bodyPr wrap="square" lIns="0" tIns="0" rIns="0" bIns="0">
            <a:spAutoFit/>
          </a:bodyPr>
          <a:lstStyle/>
          <a:p>
            <a:pPr>
              <a:spcAft>
                <a:spcPts val="300"/>
              </a:spcAft>
              <a:defRPr sz="1150" b="1">
                <a:solidFill>
                  <a:srgbClr val="B6114D"/>
                </a:solidFill>
                <a:latin typeface="Aptos"/>
              </a:defRPr>
            </a:pPr>
            <a:r>
              <a:t>DATASET REPOSITORY &amp; STORAGE ARCHITECTURE</a:t>
            </a:r>
          </a:p>
          <a:p>
            <a:pPr>
              <a:defRPr sz="1050">
                <a:solidFill>
                  <a:srgbClr val="374151"/>
                </a:solidFill>
                <a:latin typeface="Aptos"/>
              </a:defRPr>
            </a:pPr>
            <a:r>
              <a:t>• Source Repositories: Aggregated from Roboflow Dog Eyes Version 4 and published open veterinary dermatology cohorts.</a:t>
            </a:r>
            <a:br/>
            <a:r>
              <a:t>• Directory Structure: Organized strictly by partition under eyecnn/datasets/eye/{train, val, test}/{class_name}/.</a:t>
            </a:r>
            <a:br/>
            <a:r>
              <a:t>• Metadata Manifest: Full provenance tracked in eyecnn/datasets/eye/crop_metadata.csv with resolution, bounding coordinates, and split labels.</a:t>
            </a:r>
            <a:br/>
            <a:r>
              <a:t>• Class Balancing: Inherent minor class imbalance mitigated via computed inverse-frequency loss weighting saved in class_weights.json.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9921240" y="201168"/>
            <a:ext cx="1965960" cy="685800"/>
          </a:xfrm>
          <a:prstGeom prst="rect">
            <a:avLst/>
          </a:prstGeom>
        </p:spPr>
      </p:pic>
      <p:sp>
        <p:nvSpPr>
          <p:cNvPr id="3" name="TextBox 2"/>
          <p:cNvSpPr txBox="1"/>
          <p:nvPr/>
        </p:nvSpPr>
        <p:spPr>
          <a:xfrm>
            <a:off x="731520" y="320040"/>
            <a:ext cx="8961120" cy="777240"/>
          </a:xfrm>
          <a:prstGeom prst="rect">
            <a:avLst/>
          </a:prstGeom>
          <a:noFill/>
        </p:spPr>
        <p:txBody>
          <a:bodyPr wrap="square" lIns="0" tIns="0" rIns="0" bIns="0">
            <a:spAutoFit/>
          </a:bodyPr>
          <a:lstStyle/>
          <a:p>
            <a:pPr>
              <a:spcAft>
                <a:spcPts val="200"/>
              </a:spcAft>
              <a:defRPr sz="950" b="1">
                <a:solidFill>
                  <a:srgbClr val="B6114D"/>
                </a:solidFill>
                <a:latin typeface="Aptos"/>
              </a:defRPr>
            </a:pPr>
            <a:r>
              <a:t>SECTION C: EYE CNN MODULE</a:t>
            </a:r>
          </a:p>
          <a:p>
            <a:pPr>
              <a:defRPr sz="2100" b="1">
                <a:solidFill>
                  <a:srgbClr val="111827"/>
                </a:solidFill>
                <a:latin typeface="Aptos"/>
              </a:defRPr>
            </a:pPr>
            <a:r>
              <a:t>Representative Canine Ocular Pathology Samples</a:t>
            </a:r>
          </a:p>
        </p:txBody>
      </p:sp>
      <p:sp>
        <p:nvSpPr>
          <p:cNvPr id="4" name="Rectangle 3"/>
          <p:cNvSpPr/>
          <p:nvPr/>
        </p:nvSpPr>
        <p:spPr>
          <a:xfrm>
            <a:off x="731520" y="1170432"/>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161288"/>
            <a:ext cx="1097280" cy="32004"/>
          </a:xfrm>
          <a:prstGeom prst="rect">
            <a:avLst/>
          </a:prstGeom>
          <a:solidFill>
            <a:srgbClr val="B6114D"/>
          </a:solidFill>
          <a:ln>
            <a:solidFill>
              <a:srgbClr val="B611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09360"/>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55080"/>
            <a:ext cx="4572000" cy="320040"/>
          </a:xfrm>
          <a:prstGeom prst="rect">
            <a:avLst/>
          </a:prstGeom>
          <a:noFill/>
        </p:spPr>
        <p:txBody>
          <a:bodyPr wrap="none" lIns="0" tIns="0" rIns="0" bIns="0">
            <a:spAutoFit/>
          </a:bodyPr>
          <a:lstStyle/>
          <a:p>
            <a:pPr>
              <a:defRPr sz="900">
                <a:solidFill>
                  <a:srgbClr val="6B7280"/>
                </a:solidFill>
                <a:latin typeface="Aptos"/>
              </a:defRPr>
            </a:pPr>
            <a:r>
              <a:t>MediPaw — every paw deserves a chance</a:t>
            </a:r>
          </a:p>
        </p:txBody>
      </p:sp>
      <p:sp>
        <p:nvSpPr>
          <p:cNvPr id="8" name="TextBox 7"/>
          <p:cNvSpPr txBox="1"/>
          <p:nvPr/>
        </p:nvSpPr>
        <p:spPr>
          <a:xfrm>
            <a:off x="4572000" y="6355080"/>
            <a:ext cx="4114800" cy="320040"/>
          </a:xfrm>
          <a:prstGeom prst="rect">
            <a:avLst/>
          </a:prstGeom>
          <a:noFill/>
        </p:spPr>
        <p:txBody>
          <a:bodyPr wrap="none" lIns="0" tIns="0" rIns="0" bIns="0">
            <a:spAutoFit/>
          </a:bodyPr>
          <a:lstStyle/>
          <a:p>
            <a:pPr algn="ctr">
              <a:defRPr sz="900">
                <a:solidFill>
                  <a:srgbClr val="6B7280"/>
                </a:solidFill>
                <a:latin typeface="Aptos"/>
              </a:defRPr>
            </a:pPr>
            <a:r>
              <a:t>A.C. Sanhitha Reddy (CB.SC.U4CSE23206) | 23CSE473 Review 2</a:t>
            </a:r>
          </a:p>
        </p:txBody>
      </p:sp>
      <p:sp>
        <p:nvSpPr>
          <p:cNvPr id="9" name="TextBox 8"/>
          <p:cNvSpPr txBox="1"/>
          <p:nvPr/>
        </p:nvSpPr>
        <p:spPr>
          <a:xfrm>
            <a:off x="9601200" y="6355080"/>
            <a:ext cx="1828800" cy="320040"/>
          </a:xfrm>
          <a:prstGeom prst="rect">
            <a:avLst/>
          </a:prstGeom>
          <a:noFill/>
        </p:spPr>
        <p:txBody>
          <a:bodyPr wrap="none" lIns="0" tIns="0" rIns="0" bIns="0">
            <a:spAutoFit/>
          </a:bodyPr>
          <a:lstStyle/>
          <a:p>
            <a:pPr algn="r">
              <a:defRPr sz="900" b="1">
                <a:solidFill>
                  <a:srgbClr val="B6114D"/>
                </a:solidFill>
                <a:latin typeface="Aptos"/>
              </a:defRPr>
            </a:pPr>
            <a:r>
              <a:t>Slide 15 of 44</a:t>
            </a:r>
          </a:p>
        </p:txBody>
      </p:sp>
      <p:sp>
        <p:nvSpPr>
          <p:cNvPr id="10" name="Rectangle 9"/>
          <p:cNvSpPr/>
          <p:nvPr/>
        </p:nvSpPr>
        <p:spPr>
          <a:xfrm>
            <a:off x="731520" y="1371600"/>
            <a:ext cx="2606040" cy="4663440"/>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1371600"/>
            <a:ext cx="2606040" cy="54864"/>
          </a:xfrm>
          <a:prstGeom prst="rect">
            <a:avLst/>
          </a:prstGeom>
          <a:solidFill>
            <a:srgbClr val="B611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1463040"/>
            <a:ext cx="2423160" cy="365760"/>
          </a:xfrm>
          <a:prstGeom prst="rect">
            <a:avLst/>
          </a:prstGeom>
          <a:noFill/>
        </p:spPr>
        <p:txBody>
          <a:bodyPr wrap="none">
            <a:spAutoFit/>
          </a:bodyPr>
          <a:lstStyle/>
          <a:p>
            <a:pPr algn="ctr">
              <a:defRPr sz="1200" b="1">
                <a:solidFill>
                  <a:srgbClr val="B6114D"/>
                </a:solidFill>
                <a:latin typeface="Aptos"/>
              </a:defRPr>
            </a:pPr>
            <a:r>
              <a:t>Conjunctivitis</a:t>
            </a:r>
          </a:p>
        </p:txBody>
      </p:sp>
      <p:pic>
        <p:nvPicPr>
          <p:cNvPr id="13" name="Picture 12" descr="sample_eye_conjunctivitis.jpg"/>
          <p:cNvPicPr>
            <a:picLocks noChangeAspect="1"/>
          </p:cNvPicPr>
          <p:nvPr/>
        </p:nvPicPr>
        <p:blipFill>
          <a:blip r:embed="rId3"/>
          <a:stretch>
            <a:fillRect/>
          </a:stretch>
        </p:blipFill>
        <p:spPr>
          <a:xfrm>
            <a:off x="914400" y="1874519"/>
            <a:ext cx="2240280" cy="2240280"/>
          </a:xfrm>
          <a:prstGeom prst="rect">
            <a:avLst/>
          </a:prstGeom>
        </p:spPr>
      </p:pic>
      <p:sp>
        <p:nvSpPr>
          <p:cNvPr id="14" name="TextBox 13"/>
          <p:cNvSpPr txBox="1"/>
          <p:nvPr/>
        </p:nvSpPr>
        <p:spPr>
          <a:xfrm>
            <a:off x="868680" y="4206240"/>
            <a:ext cx="2331720" cy="1737360"/>
          </a:xfrm>
          <a:prstGeom prst="rect">
            <a:avLst/>
          </a:prstGeom>
          <a:noFill/>
        </p:spPr>
        <p:txBody>
          <a:bodyPr wrap="square">
            <a:spAutoFit/>
          </a:bodyPr>
          <a:lstStyle/>
          <a:p>
            <a:pPr>
              <a:defRPr sz="950">
                <a:solidFill>
                  <a:srgbClr val="374151"/>
                </a:solidFill>
                <a:latin typeface="Aptos"/>
              </a:defRPr>
            </a:pPr>
            <a:r>
              <a:t>Severe conjunctival erythema and mucoid discharge along medial canthus.</a:t>
            </a:r>
          </a:p>
        </p:txBody>
      </p:sp>
      <p:sp>
        <p:nvSpPr>
          <p:cNvPr id="15" name="Rectangle 14"/>
          <p:cNvSpPr/>
          <p:nvPr/>
        </p:nvSpPr>
        <p:spPr>
          <a:xfrm>
            <a:off x="3429000" y="1371600"/>
            <a:ext cx="2606040" cy="4663440"/>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29000" y="1371600"/>
            <a:ext cx="2606040" cy="54864"/>
          </a:xfrm>
          <a:prstGeom prst="rect">
            <a:avLst/>
          </a:prstGeom>
          <a:solidFill>
            <a:srgbClr val="8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20440" y="1463040"/>
            <a:ext cx="2423160" cy="365760"/>
          </a:xfrm>
          <a:prstGeom prst="rect">
            <a:avLst/>
          </a:prstGeom>
          <a:noFill/>
        </p:spPr>
        <p:txBody>
          <a:bodyPr wrap="none">
            <a:spAutoFit/>
          </a:bodyPr>
          <a:lstStyle/>
          <a:p>
            <a:pPr algn="ctr">
              <a:defRPr sz="1200" b="1">
                <a:solidFill>
                  <a:srgbClr val="800020"/>
                </a:solidFill>
                <a:latin typeface="Aptos"/>
              </a:defRPr>
            </a:pPr>
            <a:r>
              <a:t>Entropion</a:t>
            </a:r>
          </a:p>
        </p:txBody>
      </p:sp>
      <p:pic>
        <p:nvPicPr>
          <p:cNvPr id="18" name="Picture 17" descr="sample_eye_entropion.jpg"/>
          <p:cNvPicPr>
            <a:picLocks noChangeAspect="1"/>
          </p:cNvPicPr>
          <p:nvPr/>
        </p:nvPicPr>
        <p:blipFill>
          <a:blip r:embed="rId4"/>
          <a:stretch>
            <a:fillRect/>
          </a:stretch>
        </p:blipFill>
        <p:spPr>
          <a:xfrm>
            <a:off x="3611880" y="1874519"/>
            <a:ext cx="2240280" cy="2240280"/>
          </a:xfrm>
          <a:prstGeom prst="rect">
            <a:avLst/>
          </a:prstGeom>
        </p:spPr>
      </p:pic>
      <p:sp>
        <p:nvSpPr>
          <p:cNvPr id="19" name="TextBox 18"/>
          <p:cNvSpPr txBox="1"/>
          <p:nvPr/>
        </p:nvSpPr>
        <p:spPr>
          <a:xfrm>
            <a:off x="3566160" y="4206240"/>
            <a:ext cx="2331720" cy="1737360"/>
          </a:xfrm>
          <a:prstGeom prst="rect">
            <a:avLst/>
          </a:prstGeom>
          <a:noFill/>
        </p:spPr>
        <p:txBody>
          <a:bodyPr wrap="square">
            <a:spAutoFit/>
          </a:bodyPr>
          <a:lstStyle/>
          <a:p>
            <a:pPr>
              <a:defRPr sz="950">
                <a:solidFill>
                  <a:srgbClr val="374151"/>
                </a:solidFill>
                <a:latin typeface="Aptos"/>
              </a:defRPr>
            </a:pPr>
            <a:r>
              <a:t>Inward margin rolling with secondary corneal irritation and epiphora.</a:t>
            </a:r>
          </a:p>
        </p:txBody>
      </p:sp>
      <p:sp>
        <p:nvSpPr>
          <p:cNvPr id="20" name="Rectangle 19"/>
          <p:cNvSpPr/>
          <p:nvPr/>
        </p:nvSpPr>
        <p:spPr>
          <a:xfrm>
            <a:off x="6126480" y="1371600"/>
            <a:ext cx="2606040" cy="4663440"/>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26480" y="1371600"/>
            <a:ext cx="2606040" cy="54864"/>
          </a:xfrm>
          <a:prstGeom prst="rect">
            <a:avLst/>
          </a:prstGeom>
          <a:solidFill>
            <a:srgbClr val="0860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0" y="1463040"/>
            <a:ext cx="2423160" cy="365760"/>
          </a:xfrm>
          <a:prstGeom prst="rect">
            <a:avLst/>
          </a:prstGeom>
          <a:noFill/>
        </p:spPr>
        <p:txBody>
          <a:bodyPr wrap="none">
            <a:spAutoFit/>
          </a:bodyPr>
          <a:lstStyle/>
          <a:p>
            <a:pPr algn="ctr">
              <a:defRPr sz="1200" b="1">
                <a:solidFill>
                  <a:srgbClr val="086072"/>
                </a:solidFill>
                <a:latin typeface="Aptos"/>
              </a:defRPr>
            </a:pPr>
            <a:r>
              <a:t>Eyelid Lump</a:t>
            </a:r>
          </a:p>
        </p:txBody>
      </p:sp>
      <p:pic>
        <p:nvPicPr>
          <p:cNvPr id="23" name="Picture 22" descr="sample_eye_eyelid_lump.jpg"/>
          <p:cNvPicPr>
            <a:picLocks noChangeAspect="1"/>
          </p:cNvPicPr>
          <p:nvPr/>
        </p:nvPicPr>
        <p:blipFill>
          <a:blip r:embed="rId5"/>
          <a:stretch>
            <a:fillRect/>
          </a:stretch>
        </p:blipFill>
        <p:spPr>
          <a:xfrm>
            <a:off x="6309360" y="1874519"/>
            <a:ext cx="2240280" cy="2240280"/>
          </a:xfrm>
          <a:prstGeom prst="rect">
            <a:avLst/>
          </a:prstGeom>
        </p:spPr>
      </p:pic>
      <p:sp>
        <p:nvSpPr>
          <p:cNvPr id="24" name="TextBox 23"/>
          <p:cNvSpPr txBox="1"/>
          <p:nvPr/>
        </p:nvSpPr>
        <p:spPr>
          <a:xfrm>
            <a:off x="6263640" y="4206240"/>
            <a:ext cx="2331720" cy="1737360"/>
          </a:xfrm>
          <a:prstGeom prst="rect">
            <a:avLst/>
          </a:prstGeom>
          <a:noFill/>
        </p:spPr>
        <p:txBody>
          <a:bodyPr wrap="square">
            <a:spAutoFit/>
          </a:bodyPr>
          <a:lstStyle/>
          <a:p>
            <a:pPr>
              <a:defRPr sz="950">
                <a:solidFill>
                  <a:srgbClr val="374151"/>
                </a:solidFill>
                <a:latin typeface="Aptos"/>
              </a:defRPr>
            </a:pPr>
            <a:r>
              <a:t>Focal meibomian gland nodule protruding on lower eyelid border.</a:t>
            </a:r>
          </a:p>
        </p:txBody>
      </p:sp>
      <p:sp>
        <p:nvSpPr>
          <p:cNvPr id="25" name="Rectangle 24"/>
          <p:cNvSpPr/>
          <p:nvPr/>
        </p:nvSpPr>
        <p:spPr>
          <a:xfrm>
            <a:off x="8823960" y="1371600"/>
            <a:ext cx="2606040" cy="4663440"/>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23960" y="1371600"/>
            <a:ext cx="2606040" cy="54864"/>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15400" y="1463040"/>
            <a:ext cx="2423160" cy="365760"/>
          </a:xfrm>
          <a:prstGeom prst="rect">
            <a:avLst/>
          </a:prstGeom>
          <a:noFill/>
        </p:spPr>
        <p:txBody>
          <a:bodyPr wrap="none">
            <a:spAutoFit/>
          </a:bodyPr>
          <a:lstStyle/>
          <a:p>
            <a:pPr algn="ctr">
              <a:defRPr sz="1200" b="1">
                <a:solidFill>
                  <a:srgbClr val="111827"/>
                </a:solidFill>
                <a:latin typeface="Aptos"/>
              </a:defRPr>
            </a:pPr>
            <a:r>
              <a:t>Healthy</a:t>
            </a:r>
          </a:p>
        </p:txBody>
      </p:sp>
      <p:pic>
        <p:nvPicPr>
          <p:cNvPr id="28" name="Picture 27" descr="sample_eye_healthy.jpg"/>
          <p:cNvPicPr>
            <a:picLocks noChangeAspect="1"/>
          </p:cNvPicPr>
          <p:nvPr/>
        </p:nvPicPr>
        <p:blipFill>
          <a:blip r:embed="rId6"/>
          <a:stretch>
            <a:fillRect/>
          </a:stretch>
        </p:blipFill>
        <p:spPr>
          <a:xfrm>
            <a:off x="9006840" y="1874519"/>
            <a:ext cx="2240280" cy="2240280"/>
          </a:xfrm>
          <a:prstGeom prst="rect">
            <a:avLst/>
          </a:prstGeom>
        </p:spPr>
      </p:pic>
      <p:sp>
        <p:nvSpPr>
          <p:cNvPr id="29" name="TextBox 28"/>
          <p:cNvSpPr txBox="1"/>
          <p:nvPr/>
        </p:nvSpPr>
        <p:spPr>
          <a:xfrm>
            <a:off x="8961120" y="4206240"/>
            <a:ext cx="2331720" cy="1737360"/>
          </a:xfrm>
          <a:prstGeom prst="rect">
            <a:avLst/>
          </a:prstGeom>
          <a:noFill/>
        </p:spPr>
        <p:txBody>
          <a:bodyPr wrap="square">
            <a:spAutoFit/>
          </a:bodyPr>
          <a:lstStyle/>
          <a:p>
            <a:pPr>
              <a:defRPr sz="950">
                <a:solidFill>
                  <a:srgbClr val="374151"/>
                </a:solidFill>
                <a:latin typeface="Aptos"/>
              </a:defRPr>
            </a:pPr>
            <a:r>
              <a:t>Clear corneal reflection with smooth eyelid margins and normal sclera.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9921240" y="201168"/>
            <a:ext cx="1965960" cy="685800"/>
          </a:xfrm>
          <a:prstGeom prst="rect">
            <a:avLst/>
          </a:prstGeom>
        </p:spPr>
      </p:pic>
      <p:sp>
        <p:nvSpPr>
          <p:cNvPr id="3" name="TextBox 2"/>
          <p:cNvSpPr txBox="1"/>
          <p:nvPr/>
        </p:nvSpPr>
        <p:spPr>
          <a:xfrm>
            <a:off x="731520" y="320040"/>
            <a:ext cx="8961120" cy="777240"/>
          </a:xfrm>
          <a:prstGeom prst="rect">
            <a:avLst/>
          </a:prstGeom>
          <a:noFill/>
        </p:spPr>
        <p:txBody>
          <a:bodyPr wrap="square" lIns="0" tIns="0" rIns="0" bIns="0">
            <a:spAutoFit/>
          </a:bodyPr>
          <a:lstStyle/>
          <a:p>
            <a:pPr>
              <a:spcAft>
                <a:spcPts val="200"/>
              </a:spcAft>
              <a:defRPr sz="950" b="1">
                <a:solidFill>
                  <a:srgbClr val="B6114D"/>
                </a:solidFill>
                <a:latin typeface="Aptos"/>
              </a:defRPr>
            </a:pPr>
            <a:r>
              <a:t>SECTION C: EYE CNN MODULE</a:t>
            </a:r>
          </a:p>
          <a:p>
            <a:pPr>
              <a:defRPr sz="2100" b="1">
                <a:solidFill>
                  <a:srgbClr val="111827"/>
                </a:solidFill>
                <a:latin typeface="Aptos"/>
              </a:defRPr>
            </a:pPr>
            <a:r>
              <a:t>Data Preprocessing &amp; Augmentation Strategy</a:t>
            </a:r>
          </a:p>
        </p:txBody>
      </p:sp>
      <p:sp>
        <p:nvSpPr>
          <p:cNvPr id="4" name="Rectangle 3"/>
          <p:cNvSpPr/>
          <p:nvPr/>
        </p:nvSpPr>
        <p:spPr>
          <a:xfrm>
            <a:off x="731520" y="1170432"/>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161288"/>
            <a:ext cx="1097280" cy="32004"/>
          </a:xfrm>
          <a:prstGeom prst="rect">
            <a:avLst/>
          </a:prstGeom>
          <a:solidFill>
            <a:srgbClr val="B6114D"/>
          </a:solidFill>
          <a:ln>
            <a:solidFill>
              <a:srgbClr val="B611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09360"/>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55080"/>
            <a:ext cx="4572000" cy="320040"/>
          </a:xfrm>
          <a:prstGeom prst="rect">
            <a:avLst/>
          </a:prstGeom>
          <a:noFill/>
        </p:spPr>
        <p:txBody>
          <a:bodyPr wrap="none" lIns="0" tIns="0" rIns="0" bIns="0">
            <a:spAutoFit/>
          </a:bodyPr>
          <a:lstStyle/>
          <a:p>
            <a:pPr>
              <a:defRPr sz="900">
                <a:solidFill>
                  <a:srgbClr val="6B7280"/>
                </a:solidFill>
                <a:latin typeface="Aptos"/>
              </a:defRPr>
            </a:pPr>
            <a:r>
              <a:t>MediPaw — every paw deserves a chance</a:t>
            </a:r>
          </a:p>
        </p:txBody>
      </p:sp>
      <p:sp>
        <p:nvSpPr>
          <p:cNvPr id="8" name="TextBox 7"/>
          <p:cNvSpPr txBox="1"/>
          <p:nvPr/>
        </p:nvSpPr>
        <p:spPr>
          <a:xfrm>
            <a:off x="4572000" y="6355080"/>
            <a:ext cx="4114800" cy="320040"/>
          </a:xfrm>
          <a:prstGeom prst="rect">
            <a:avLst/>
          </a:prstGeom>
          <a:noFill/>
        </p:spPr>
        <p:txBody>
          <a:bodyPr wrap="none" lIns="0" tIns="0" rIns="0" bIns="0">
            <a:spAutoFit/>
          </a:bodyPr>
          <a:lstStyle/>
          <a:p>
            <a:pPr algn="ctr">
              <a:defRPr sz="900">
                <a:solidFill>
                  <a:srgbClr val="6B7280"/>
                </a:solidFill>
                <a:latin typeface="Aptos"/>
              </a:defRPr>
            </a:pPr>
            <a:r>
              <a:t>A.C. Sanhitha Reddy (CB.SC.U4CSE23206) | 23CSE473 Review 2</a:t>
            </a:r>
          </a:p>
        </p:txBody>
      </p:sp>
      <p:sp>
        <p:nvSpPr>
          <p:cNvPr id="9" name="TextBox 8"/>
          <p:cNvSpPr txBox="1"/>
          <p:nvPr/>
        </p:nvSpPr>
        <p:spPr>
          <a:xfrm>
            <a:off x="9601200" y="6355080"/>
            <a:ext cx="1828800" cy="320040"/>
          </a:xfrm>
          <a:prstGeom prst="rect">
            <a:avLst/>
          </a:prstGeom>
          <a:noFill/>
        </p:spPr>
        <p:txBody>
          <a:bodyPr wrap="none" lIns="0" tIns="0" rIns="0" bIns="0">
            <a:spAutoFit/>
          </a:bodyPr>
          <a:lstStyle/>
          <a:p>
            <a:pPr algn="r">
              <a:defRPr sz="900" b="1">
                <a:solidFill>
                  <a:srgbClr val="B6114D"/>
                </a:solidFill>
                <a:latin typeface="Aptos"/>
              </a:defRPr>
            </a:pPr>
            <a:r>
              <a:t>Slide 16 of 44</a:t>
            </a:r>
          </a:p>
        </p:txBody>
      </p:sp>
      <p:sp>
        <p:nvSpPr>
          <p:cNvPr id="10" name="Rectangle 9"/>
          <p:cNvSpPr/>
          <p:nvPr/>
        </p:nvSpPr>
        <p:spPr>
          <a:xfrm>
            <a:off x="731520" y="1371600"/>
            <a:ext cx="5212080" cy="4663440"/>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1371600"/>
            <a:ext cx="5212080" cy="54864"/>
          </a:xfrm>
          <a:prstGeom prst="rect">
            <a:avLst/>
          </a:prstGeom>
          <a:solidFill>
            <a:srgbClr val="B611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1554480"/>
            <a:ext cx="4846320" cy="4297680"/>
          </a:xfrm>
          <a:prstGeom prst="rect">
            <a:avLst/>
          </a:prstGeom>
          <a:noFill/>
        </p:spPr>
        <p:txBody>
          <a:bodyPr wrap="square">
            <a:spAutoFit/>
          </a:bodyPr>
          <a:lstStyle/>
          <a:p>
            <a:pPr>
              <a:spcAft>
                <a:spcPts val="800"/>
              </a:spcAft>
              <a:defRPr sz="1200" b="1">
                <a:solidFill>
                  <a:srgbClr val="B6114D"/>
                </a:solidFill>
                <a:latin typeface="Aptos"/>
              </a:defRPr>
            </a:pPr>
            <a:r>
              <a:t>TRAINING DATA AUGMENTATION PIPELINE</a:t>
            </a:r>
          </a:p>
          <a:p>
            <a:pPr>
              <a:spcAft>
                <a:spcPts val="600"/>
              </a:spcAft>
              <a:defRPr sz="1050">
                <a:latin typeface="Aptos"/>
              </a:defRPr>
            </a:pPr>
            <a:r>
              <a:rPr b="1">
                <a:solidFill>
                  <a:srgbClr val="111827"/>
                </a:solidFill>
              </a:rPr>
              <a:t>• Random Resized Crop:</a:t>
            </a:r>
            <a:r>
              <a:rPr b="0">
                <a:solidFill>
                  <a:srgbClr val="374151"/>
                </a:solidFill>
              </a:rPr>
              <a:t> Random crop scaling between [0.8, 1.0] resized to 224x224 pixels to simulate varying capture distances.</a:t>
            </a:r>
          </a:p>
          <a:p>
            <a:pPr>
              <a:spcAft>
                <a:spcPts val="600"/>
              </a:spcAft>
              <a:defRPr sz="1050">
                <a:latin typeface="Aptos"/>
              </a:defRPr>
            </a:pPr>
            <a:r>
              <a:rPr b="1">
                <a:solidFill>
                  <a:srgbClr val="111827"/>
                </a:solidFill>
              </a:rPr>
              <a:t>• Horizontal Flips:</a:t>
            </a:r>
            <a:r>
              <a:rPr b="0">
                <a:solidFill>
                  <a:srgbClr val="374151"/>
                </a:solidFill>
              </a:rPr>
              <a:t> RandomHorizontalFlip(p=0.5) leveraging bilateral ocular symmetry without altering pathological meaning.</a:t>
            </a:r>
          </a:p>
          <a:p>
            <a:pPr>
              <a:spcAft>
                <a:spcPts val="600"/>
              </a:spcAft>
              <a:defRPr sz="1050">
                <a:latin typeface="Aptos"/>
              </a:defRPr>
            </a:pPr>
            <a:r>
              <a:rPr b="1">
                <a:solidFill>
                  <a:srgbClr val="111827"/>
                </a:solidFill>
              </a:rPr>
              <a:t>• Mild Angular Rotation:</a:t>
            </a:r>
            <a:r>
              <a:rPr b="0">
                <a:solidFill>
                  <a:srgbClr val="374151"/>
                </a:solidFill>
              </a:rPr>
              <a:t> RandomRotation(degrees=15) accommodating head tilting in distressed rescue animals.</a:t>
            </a:r>
          </a:p>
          <a:p>
            <a:pPr>
              <a:spcAft>
                <a:spcPts val="600"/>
              </a:spcAft>
              <a:defRPr sz="1050">
                <a:latin typeface="Aptos"/>
              </a:defRPr>
            </a:pPr>
            <a:r>
              <a:rPr b="1">
                <a:solidFill>
                  <a:srgbClr val="111827"/>
                </a:solidFill>
              </a:rPr>
              <a:t>• Color Jitter:</a:t>
            </a:r>
            <a:r>
              <a:rPr b="0">
                <a:solidFill>
                  <a:srgbClr val="374151"/>
                </a:solidFill>
              </a:rPr>
              <a:t> ColorJitter(brightness=0.2, contrast=0.2, saturation=0.2) to simulate natural shelter lighting variations.</a:t>
            </a:r>
          </a:p>
          <a:p>
            <a:pPr>
              <a:spcAft>
                <a:spcPts val="600"/>
              </a:spcAft>
              <a:defRPr sz="1050">
                <a:latin typeface="Aptos"/>
              </a:defRPr>
            </a:pPr>
            <a:r>
              <a:rPr b="1">
                <a:solidFill>
                  <a:srgbClr val="111827"/>
                </a:solidFill>
              </a:rPr>
              <a:t>• Gaussian Blur:</a:t>
            </a:r>
            <a:r>
              <a:rPr b="0">
                <a:solidFill>
                  <a:srgbClr val="374151"/>
                </a:solidFill>
              </a:rPr>
              <a:t> RandomApply(GaussianBlur(kernel_size=3), p=0.2) modeling minor camera motion blur during field intake.</a:t>
            </a:r>
          </a:p>
          <a:p>
            <a:pPr>
              <a:spcAft>
                <a:spcPts val="600"/>
              </a:spcAft>
              <a:defRPr sz="1050">
                <a:latin typeface="Aptos"/>
              </a:defRPr>
            </a:pPr>
            <a:r>
              <a:rPr b="1">
                <a:solidFill>
                  <a:srgbClr val="111827"/>
                </a:solidFill>
              </a:rPr>
              <a:t>• ImageNet Standardization:</a:t>
            </a:r>
            <a:r>
              <a:rPr b="0">
                <a:solidFill>
                  <a:srgbClr val="374151"/>
                </a:solidFill>
              </a:rPr>
              <a:t> Normalization with mean=[0.485, 0.456, 0.406] and std=[0.229, 0.224, 0.225].</a:t>
            </a:r>
          </a:p>
        </p:txBody>
      </p:sp>
      <p:sp>
        <p:nvSpPr>
          <p:cNvPr id="13" name="Rectangle 12"/>
          <p:cNvSpPr/>
          <p:nvPr/>
        </p:nvSpPr>
        <p:spPr>
          <a:xfrm>
            <a:off x="6217920" y="1371600"/>
            <a:ext cx="5212080" cy="4663440"/>
          </a:xfrm>
          <a:prstGeom prst="rect">
            <a:avLst/>
          </a:prstGeom>
          <a:solidFill>
            <a:srgbClr val="FDF2F4"/>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71600"/>
            <a:ext cx="5212080" cy="54864"/>
          </a:xfrm>
          <a:prstGeom prst="rect">
            <a:avLst/>
          </a:prstGeom>
          <a:solidFill>
            <a:srgbClr val="0860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554480"/>
            <a:ext cx="4846320" cy="4297680"/>
          </a:xfrm>
          <a:prstGeom prst="rect">
            <a:avLst/>
          </a:prstGeom>
          <a:noFill/>
        </p:spPr>
        <p:txBody>
          <a:bodyPr wrap="square">
            <a:spAutoFit/>
          </a:bodyPr>
          <a:lstStyle/>
          <a:p>
            <a:pPr>
              <a:spcAft>
                <a:spcPts val="800"/>
              </a:spcAft>
              <a:defRPr sz="1200" b="1">
                <a:solidFill>
                  <a:srgbClr val="086072"/>
                </a:solidFill>
                <a:latin typeface="Aptos"/>
              </a:defRPr>
            </a:pPr>
            <a:r>
              <a:t>VALIDATION &amp; INFERENCE PREPROCESSING CONTRACT</a:t>
            </a:r>
          </a:p>
          <a:p>
            <a:pPr>
              <a:spcAft>
                <a:spcPts val="600"/>
              </a:spcAft>
              <a:defRPr sz="1050">
                <a:latin typeface="Aptos"/>
              </a:defRPr>
            </a:pPr>
            <a:r>
              <a:rPr b="1">
                <a:solidFill>
                  <a:srgbClr val="111827"/>
                </a:solidFill>
              </a:rPr>
              <a:t>• Deterministic Aspect Preservation:</a:t>
            </a:r>
            <a:r>
              <a:rPr b="0">
                <a:solidFill>
                  <a:srgbClr val="374151"/>
                </a:solidFill>
              </a:rPr>
              <a:t> Raw input is resized to 256x256 using bilinear interpolation with antialiasing.</a:t>
            </a:r>
          </a:p>
          <a:p>
            <a:pPr>
              <a:spcAft>
                <a:spcPts val="600"/>
              </a:spcAft>
              <a:defRPr sz="1050">
                <a:latin typeface="Aptos"/>
              </a:defRPr>
            </a:pPr>
            <a:r>
              <a:rPr b="1">
                <a:solidFill>
                  <a:srgbClr val="111827"/>
                </a:solidFill>
              </a:rPr>
              <a:t>• Center Crop:</a:t>
            </a:r>
            <a:r>
              <a:rPr b="0">
                <a:solidFill>
                  <a:srgbClr val="374151"/>
                </a:solidFill>
              </a:rPr>
              <a:t> Deterministic CenterCrop(224) isolates the ocular region while discarding irrelevant peripheral fur.</a:t>
            </a:r>
          </a:p>
          <a:p>
            <a:pPr>
              <a:spcAft>
                <a:spcPts val="600"/>
              </a:spcAft>
              <a:defRPr sz="1050">
                <a:latin typeface="Aptos"/>
              </a:defRPr>
            </a:pPr>
            <a:r>
              <a:rPr b="1">
                <a:solidFill>
                  <a:srgbClr val="111827"/>
                </a:solidFill>
              </a:rPr>
              <a:t>• Tensor Conversion:</a:t>
            </a:r>
            <a:r>
              <a:rPr b="0">
                <a:solidFill>
                  <a:srgbClr val="374151"/>
                </a:solidFill>
              </a:rPr>
              <a:t> Scaled from uint8 [0, 255] to float32 [0.0, 1.0] representation.</a:t>
            </a:r>
          </a:p>
          <a:p>
            <a:pPr>
              <a:spcAft>
                <a:spcPts val="600"/>
              </a:spcAft>
              <a:defRPr sz="1050">
                <a:latin typeface="Aptos"/>
              </a:defRPr>
            </a:pPr>
            <a:r>
              <a:rPr b="1">
                <a:solidFill>
                  <a:srgbClr val="111827"/>
                </a:solidFill>
              </a:rPr>
              <a:t>• Exact Channel Normalization:</a:t>
            </a:r>
            <a:r>
              <a:rPr b="0">
                <a:solidFill>
                  <a:srgbClr val="374151"/>
                </a:solidFill>
              </a:rPr>
              <a:t> Fixed subtraction and division via ImageNet parameters identical to training pipeline.</a:t>
            </a:r>
          </a:p>
          <a:p>
            <a:pPr>
              <a:spcAft>
                <a:spcPts val="600"/>
              </a:spcAft>
              <a:defRPr sz="1050">
                <a:latin typeface="Aptos"/>
              </a:defRPr>
            </a:pPr>
            <a:r>
              <a:rPr b="1">
                <a:solidFill>
                  <a:srgbClr val="111827"/>
                </a:solidFill>
              </a:rPr>
              <a:t>• Batch Dimension Injection:</a:t>
            </a:r>
            <a:r>
              <a:rPr b="0">
                <a:solidFill>
                  <a:srgbClr val="374151"/>
                </a:solidFill>
              </a:rPr>
              <a:t> Shape expanded from [3, 224, 224] to [1, 3, 224, 224] for single-image FastAPI inference.</a:t>
            </a:r>
          </a:p>
          <a:p>
            <a:pPr>
              <a:spcAft>
                <a:spcPts val="600"/>
              </a:spcAft>
              <a:defRPr sz="1050">
                <a:latin typeface="Aptos"/>
              </a:defRPr>
            </a:pPr>
            <a:r>
              <a:rPr b="1">
                <a:solidFill>
                  <a:srgbClr val="111827"/>
                </a:solidFill>
              </a:rPr>
              <a:t>• Execution Benchmark:</a:t>
            </a:r>
            <a:r>
              <a:rPr b="0">
                <a:solidFill>
                  <a:srgbClr val="374151"/>
                </a:solidFill>
              </a:rPr>
              <a:t> End-to-end preprocessing completes in 1.4 ms on standard CPU worker.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9921240" y="201168"/>
            <a:ext cx="1965960" cy="685800"/>
          </a:xfrm>
          <a:prstGeom prst="rect">
            <a:avLst/>
          </a:prstGeom>
        </p:spPr>
      </p:pic>
      <p:sp>
        <p:nvSpPr>
          <p:cNvPr id="3" name="TextBox 2"/>
          <p:cNvSpPr txBox="1"/>
          <p:nvPr/>
        </p:nvSpPr>
        <p:spPr>
          <a:xfrm>
            <a:off x="731520" y="320040"/>
            <a:ext cx="8961120" cy="777240"/>
          </a:xfrm>
          <a:prstGeom prst="rect">
            <a:avLst/>
          </a:prstGeom>
          <a:noFill/>
        </p:spPr>
        <p:txBody>
          <a:bodyPr wrap="square" lIns="0" tIns="0" rIns="0" bIns="0">
            <a:spAutoFit/>
          </a:bodyPr>
          <a:lstStyle/>
          <a:p>
            <a:pPr>
              <a:spcAft>
                <a:spcPts val="200"/>
              </a:spcAft>
              <a:defRPr sz="950" b="1">
                <a:solidFill>
                  <a:srgbClr val="B6114D"/>
                </a:solidFill>
                <a:latin typeface="Aptos"/>
              </a:defRPr>
            </a:pPr>
            <a:r>
              <a:t>SECTION C: EYE CNN MODULE</a:t>
            </a:r>
          </a:p>
          <a:p>
            <a:pPr>
              <a:defRPr sz="2100" b="1">
                <a:solidFill>
                  <a:srgbClr val="111827"/>
                </a:solidFill>
                <a:latin typeface="Aptos"/>
              </a:defRPr>
            </a:pPr>
            <a:r>
              <a:t>Dataset Splitting &amp; Data Leakage Prevention Strategy</a:t>
            </a:r>
          </a:p>
        </p:txBody>
      </p:sp>
      <p:sp>
        <p:nvSpPr>
          <p:cNvPr id="4" name="Rectangle 3"/>
          <p:cNvSpPr/>
          <p:nvPr/>
        </p:nvSpPr>
        <p:spPr>
          <a:xfrm>
            <a:off x="731520" y="1170432"/>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161288"/>
            <a:ext cx="1097280" cy="32004"/>
          </a:xfrm>
          <a:prstGeom prst="rect">
            <a:avLst/>
          </a:prstGeom>
          <a:solidFill>
            <a:srgbClr val="B6114D"/>
          </a:solidFill>
          <a:ln>
            <a:solidFill>
              <a:srgbClr val="B611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09360"/>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55080"/>
            <a:ext cx="4572000" cy="320040"/>
          </a:xfrm>
          <a:prstGeom prst="rect">
            <a:avLst/>
          </a:prstGeom>
          <a:noFill/>
        </p:spPr>
        <p:txBody>
          <a:bodyPr wrap="none" lIns="0" tIns="0" rIns="0" bIns="0">
            <a:spAutoFit/>
          </a:bodyPr>
          <a:lstStyle/>
          <a:p>
            <a:pPr>
              <a:defRPr sz="900">
                <a:solidFill>
                  <a:srgbClr val="6B7280"/>
                </a:solidFill>
                <a:latin typeface="Aptos"/>
              </a:defRPr>
            </a:pPr>
            <a:r>
              <a:t>MediPaw — every paw deserves a chance</a:t>
            </a:r>
          </a:p>
        </p:txBody>
      </p:sp>
      <p:sp>
        <p:nvSpPr>
          <p:cNvPr id="8" name="TextBox 7"/>
          <p:cNvSpPr txBox="1"/>
          <p:nvPr/>
        </p:nvSpPr>
        <p:spPr>
          <a:xfrm>
            <a:off x="4572000" y="6355080"/>
            <a:ext cx="4114800" cy="320040"/>
          </a:xfrm>
          <a:prstGeom prst="rect">
            <a:avLst/>
          </a:prstGeom>
          <a:noFill/>
        </p:spPr>
        <p:txBody>
          <a:bodyPr wrap="none" lIns="0" tIns="0" rIns="0" bIns="0">
            <a:spAutoFit/>
          </a:bodyPr>
          <a:lstStyle/>
          <a:p>
            <a:pPr algn="ctr">
              <a:defRPr sz="900">
                <a:solidFill>
                  <a:srgbClr val="6B7280"/>
                </a:solidFill>
                <a:latin typeface="Aptos"/>
              </a:defRPr>
            </a:pPr>
            <a:r>
              <a:t>A.C. Sanhitha Reddy (CB.SC.U4CSE23206) | 23CSE473 Review 2</a:t>
            </a:r>
          </a:p>
        </p:txBody>
      </p:sp>
      <p:sp>
        <p:nvSpPr>
          <p:cNvPr id="9" name="TextBox 8"/>
          <p:cNvSpPr txBox="1"/>
          <p:nvPr/>
        </p:nvSpPr>
        <p:spPr>
          <a:xfrm>
            <a:off x="9601200" y="6355080"/>
            <a:ext cx="1828800" cy="320040"/>
          </a:xfrm>
          <a:prstGeom prst="rect">
            <a:avLst/>
          </a:prstGeom>
          <a:noFill/>
        </p:spPr>
        <p:txBody>
          <a:bodyPr wrap="none" lIns="0" tIns="0" rIns="0" bIns="0">
            <a:spAutoFit/>
          </a:bodyPr>
          <a:lstStyle/>
          <a:p>
            <a:pPr algn="r">
              <a:defRPr sz="900" b="1">
                <a:solidFill>
                  <a:srgbClr val="B6114D"/>
                </a:solidFill>
                <a:latin typeface="Aptos"/>
              </a:defRPr>
            </a:pPr>
            <a:r>
              <a:t>Slide 17 of 44</a:t>
            </a:r>
          </a:p>
        </p:txBody>
      </p:sp>
      <p:sp>
        <p:nvSpPr>
          <p:cNvPr id="10" name="Rectangle 9"/>
          <p:cNvSpPr/>
          <p:nvPr/>
        </p:nvSpPr>
        <p:spPr>
          <a:xfrm>
            <a:off x="731520" y="1371600"/>
            <a:ext cx="3383280" cy="4663440"/>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1371600"/>
            <a:ext cx="3383280" cy="73152"/>
          </a:xfrm>
          <a:prstGeom prst="rect">
            <a:avLst/>
          </a:prstGeom>
          <a:solidFill>
            <a:srgbClr val="B611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1600200"/>
            <a:ext cx="3017520" cy="4206240"/>
          </a:xfrm>
          <a:prstGeom prst="rect">
            <a:avLst/>
          </a:prstGeom>
          <a:noFill/>
        </p:spPr>
        <p:txBody>
          <a:bodyPr wrap="square">
            <a:spAutoFit/>
          </a:bodyPr>
          <a:lstStyle/>
          <a:p>
            <a:pPr>
              <a:spcAft>
                <a:spcPts val="1000"/>
              </a:spcAft>
              <a:defRPr sz="1300" b="1">
                <a:solidFill>
                  <a:srgbClr val="B6114D"/>
                </a:solidFill>
                <a:latin typeface="Aptos"/>
              </a:defRPr>
            </a:pPr>
            <a:r>
              <a:t>Stratified Split Protocol</a:t>
            </a:r>
          </a:p>
          <a:p>
            <a:pPr>
              <a:spcAft>
                <a:spcPts val="800"/>
              </a:spcAft>
              <a:defRPr sz="1050">
                <a:latin typeface="Aptos"/>
              </a:defRPr>
            </a:pPr>
            <a:r>
              <a:rPr b="1">
                <a:solidFill>
                  <a:srgbClr val="111827"/>
                </a:solidFill>
              </a:rPr>
              <a:t>• Fixed 70 / 10 / 20 Partition:</a:t>
            </a:r>
            <a:r>
              <a:rPr b="0">
                <a:solidFill>
                  <a:srgbClr val="374151"/>
                </a:solidFill>
              </a:rPr>
              <a:t> 1,233 training, 175 validation, and 352 held-out testing images.</a:t>
            </a:r>
          </a:p>
          <a:p>
            <a:pPr>
              <a:spcAft>
                <a:spcPts val="800"/>
              </a:spcAft>
              <a:defRPr sz="1050">
                <a:latin typeface="Aptos"/>
              </a:defRPr>
            </a:pPr>
            <a:r>
              <a:rPr b="1">
                <a:solidFill>
                  <a:srgbClr val="111827"/>
                </a:solidFill>
              </a:rPr>
              <a:t>• Class Ratio Preservation:</a:t>
            </a:r>
            <a:r>
              <a:rPr b="0">
                <a:solidFill>
                  <a:srgbClr val="374151"/>
                </a:solidFill>
              </a:rPr>
              <a:t> Every diagnostic class maintains an exact 70/10/20 proportion across all three sets.</a:t>
            </a:r>
          </a:p>
          <a:p>
            <a:pPr>
              <a:spcAft>
                <a:spcPts val="800"/>
              </a:spcAft>
              <a:defRPr sz="1050">
                <a:latin typeface="Aptos"/>
              </a:defRPr>
            </a:pPr>
            <a:r>
              <a:rPr b="1">
                <a:solidFill>
                  <a:srgbClr val="111827"/>
                </a:solidFill>
              </a:rPr>
              <a:t>• Repeatable Seeding:</a:t>
            </a:r>
            <a:r>
              <a:rPr b="0">
                <a:solidFill>
                  <a:srgbClr val="374151"/>
                </a:solidFill>
              </a:rPr>
              <a:t> Splits generated using fixed pseudorandom seed (seed=42) documented in crop_metadata.csv.</a:t>
            </a:r>
          </a:p>
          <a:p>
            <a:pPr>
              <a:spcAft>
                <a:spcPts val="800"/>
              </a:spcAft>
              <a:defRPr sz="1050">
                <a:latin typeface="Aptos"/>
              </a:defRPr>
            </a:pPr>
            <a:r>
              <a:rPr b="1">
                <a:solidFill>
                  <a:srgbClr val="111827"/>
                </a:solidFill>
              </a:rPr>
              <a:t>• Zero Dynamic Leaks:</a:t>
            </a:r>
            <a:r>
              <a:rPr b="0">
                <a:solidFill>
                  <a:srgbClr val="374151"/>
                </a:solidFill>
              </a:rPr>
              <a:t> Test set remains completely isolated during training and hyperparameter search.</a:t>
            </a:r>
          </a:p>
        </p:txBody>
      </p:sp>
      <p:sp>
        <p:nvSpPr>
          <p:cNvPr id="13" name="Rectangle 12"/>
          <p:cNvSpPr/>
          <p:nvPr/>
        </p:nvSpPr>
        <p:spPr>
          <a:xfrm>
            <a:off x="4389120" y="1371600"/>
            <a:ext cx="3383280" cy="4663440"/>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89120" y="1371600"/>
            <a:ext cx="3383280" cy="73152"/>
          </a:xfrm>
          <a:prstGeom prst="rect">
            <a:avLst/>
          </a:prstGeom>
          <a:solidFill>
            <a:srgbClr val="0860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0" y="1600200"/>
            <a:ext cx="3017520" cy="4206240"/>
          </a:xfrm>
          <a:prstGeom prst="rect">
            <a:avLst/>
          </a:prstGeom>
          <a:noFill/>
        </p:spPr>
        <p:txBody>
          <a:bodyPr wrap="square">
            <a:spAutoFit/>
          </a:bodyPr>
          <a:lstStyle/>
          <a:p>
            <a:pPr>
              <a:spcAft>
                <a:spcPts val="1000"/>
              </a:spcAft>
              <a:defRPr sz="1300" b="1">
                <a:solidFill>
                  <a:srgbClr val="086072"/>
                </a:solidFill>
                <a:latin typeface="Aptos"/>
              </a:defRPr>
            </a:pPr>
            <a:r>
              <a:t>Patient-Level Isolation</a:t>
            </a:r>
          </a:p>
          <a:p>
            <a:pPr>
              <a:spcAft>
                <a:spcPts val="800"/>
              </a:spcAft>
              <a:defRPr sz="1050">
                <a:latin typeface="Aptos"/>
              </a:defRPr>
            </a:pPr>
            <a:r>
              <a:rPr b="1">
                <a:solidFill>
                  <a:srgbClr val="111827"/>
                </a:solidFill>
              </a:rPr>
              <a:t>• Animal Decoupling:</a:t>
            </a:r>
            <a:r>
              <a:rPr b="0">
                <a:solidFill>
                  <a:srgbClr val="374151"/>
                </a:solidFill>
              </a:rPr>
              <a:t> Where multiple images were captured from the same subject, all crops were restricted to a single partition.</a:t>
            </a:r>
          </a:p>
          <a:p>
            <a:pPr>
              <a:spcAft>
                <a:spcPts val="800"/>
              </a:spcAft>
              <a:defRPr sz="1050">
                <a:latin typeface="Aptos"/>
              </a:defRPr>
            </a:pPr>
            <a:r>
              <a:rPr b="1">
                <a:solidFill>
                  <a:srgbClr val="111827"/>
                </a:solidFill>
              </a:rPr>
              <a:t>• Left/Right Eye Separation:</a:t>
            </a:r>
            <a:r>
              <a:rPr b="0">
                <a:solidFill>
                  <a:srgbClr val="374151"/>
                </a:solidFill>
              </a:rPr>
              <a:t> Contralateral eyes from the same dog were never split across train and test sets.</a:t>
            </a:r>
          </a:p>
          <a:p>
            <a:pPr>
              <a:spcAft>
                <a:spcPts val="800"/>
              </a:spcAft>
              <a:defRPr sz="1050">
                <a:latin typeface="Aptos"/>
              </a:defRPr>
            </a:pPr>
            <a:r>
              <a:rPr b="1">
                <a:solidFill>
                  <a:srgbClr val="111827"/>
                </a:solidFill>
              </a:rPr>
              <a:t>• Background Disjointness:</a:t>
            </a:r>
            <a:r>
              <a:rPr b="0">
                <a:solidFill>
                  <a:srgbClr val="374151"/>
                </a:solidFill>
              </a:rPr>
              <a:t> Prevents the network from memorizing background cage mesh, towels, or handler gloves.</a:t>
            </a:r>
          </a:p>
          <a:p>
            <a:pPr>
              <a:spcAft>
                <a:spcPts val="800"/>
              </a:spcAft>
              <a:defRPr sz="1050">
                <a:latin typeface="Aptos"/>
              </a:defRPr>
            </a:pPr>
            <a:r>
              <a:rPr b="1">
                <a:solidFill>
                  <a:srgbClr val="111827"/>
                </a:solidFill>
              </a:rPr>
              <a:t>• True Generalization Test:</a:t>
            </a:r>
            <a:r>
              <a:rPr b="0">
                <a:solidFill>
                  <a:srgbClr val="374151"/>
                </a:solidFill>
              </a:rPr>
              <a:t> Evaluates classification on genuinely unseen canine facial features.</a:t>
            </a:r>
          </a:p>
        </p:txBody>
      </p:sp>
      <p:sp>
        <p:nvSpPr>
          <p:cNvPr id="16" name="Rectangle 15"/>
          <p:cNvSpPr/>
          <p:nvPr/>
        </p:nvSpPr>
        <p:spPr>
          <a:xfrm>
            <a:off x="8046720" y="1371600"/>
            <a:ext cx="3383280" cy="4663440"/>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6720" y="1371600"/>
            <a:ext cx="3383280" cy="73152"/>
          </a:xfrm>
          <a:prstGeom prst="rect">
            <a:avLst/>
          </a:prstGeom>
          <a:solidFill>
            <a:srgbClr val="8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0" y="1600200"/>
            <a:ext cx="3017520" cy="4206240"/>
          </a:xfrm>
          <a:prstGeom prst="rect">
            <a:avLst/>
          </a:prstGeom>
          <a:noFill/>
        </p:spPr>
        <p:txBody>
          <a:bodyPr wrap="square">
            <a:spAutoFit/>
          </a:bodyPr>
          <a:lstStyle/>
          <a:p>
            <a:pPr>
              <a:spcAft>
                <a:spcPts val="1000"/>
              </a:spcAft>
              <a:defRPr sz="1300" b="1">
                <a:solidFill>
                  <a:srgbClr val="800020"/>
                </a:solidFill>
                <a:latin typeface="Aptos"/>
              </a:defRPr>
            </a:pPr>
            <a:r>
              <a:t>Class Imbalance Mitigation</a:t>
            </a:r>
          </a:p>
          <a:p>
            <a:pPr>
              <a:spcAft>
                <a:spcPts val="800"/>
              </a:spcAft>
              <a:defRPr sz="1050">
                <a:latin typeface="Aptos"/>
              </a:defRPr>
            </a:pPr>
            <a:r>
              <a:rPr b="1">
                <a:solidFill>
                  <a:srgbClr val="111827"/>
                </a:solidFill>
              </a:rPr>
              <a:t>• Dynamic Class Weights:</a:t>
            </a:r>
            <a:r>
              <a:rPr b="0">
                <a:solidFill>
                  <a:srgbClr val="374151"/>
                </a:solidFill>
              </a:rPr>
              <a:t> Computed via inverse frequency formula w_c = N / (C * N_c).</a:t>
            </a:r>
          </a:p>
          <a:p>
            <a:pPr>
              <a:spcAft>
                <a:spcPts val="800"/>
              </a:spcAft>
              <a:defRPr sz="1050">
                <a:latin typeface="Aptos"/>
              </a:defRPr>
            </a:pPr>
            <a:r>
              <a:rPr b="1">
                <a:solidFill>
                  <a:srgbClr val="111827"/>
                </a:solidFill>
              </a:rPr>
              <a:t>• Weight Values:</a:t>
            </a:r>
            <a:r>
              <a:rPr b="0">
                <a:solidFill>
                  <a:srgbClr val="374151"/>
                </a:solidFill>
              </a:rPr>
              <a:t> Conjunctivitis (0.98), Entropion (1.08), Eyelid Lump (1.03), Healthy (0.91).</a:t>
            </a:r>
          </a:p>
          <a:p>
            <a:pPr>
              <a:spcAft>
                <a:spcPts val="800"/>
              </a:spcAft>
              <a:defRPr sz="1050">
                <a:latin typeface="Aptos"/>
              </a:defRPr>
            </a:pPr>
            <a:r>
              <a:rPr b="1">
                <a:solidFill>
                  <a:srgbClr val="111827"/>
                </a:solidFill>
              </a:rPr>
              <a:t>• Loss Integration:</a:t>
            </a:r>
            <a:r>
              <a:rPr b="0">
                <a:solidFill>
                  <a:srgbClr val="374151"/>
                </a:solidFill>
              </a:rPr>
              <a:t> Passed directly into PyTorch CrossEntropyLoss(weight=weights_tensor).</a:t>
            </a:r>
          </a:p>
          <a:p>
            <a:pPr>
              <a:spcAft>
                <a:spcPts val="800"/>
              </a:spcAft>
              <a:defRPr sz="1050">
                <a:latin typeface="Aptos"/>
              </a:defRPr>
            </a:pPr>
            <a:r>
              <a:rPr b="1">
                <a:solidFill>
                  <a:srgbClr val="111827"/>
                </a:solidFill>
              </a:rPr>
              <a:t>• Recall Optimization:</a:t>
            </a:r>
            <a:r>
              <a:rPr b="0">
                <a:solidFill>
                  <a:srgbClr val="374151"/>
                </a:solidFill>
              </a:rPr>
              <a:t> Forces gradient penalties on rarer pathological conditions like Entropion.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9921240" y="201168"/>
            <a:ext cx="1965960" cy="685800"/>
          </a:xfrm>
          <a:prstGeom prst="rect">
            <a:avLst/>
          </a:prstGeom>
        </p:spPr>
      </p:pic>
      <p:sp>
        <p:nvSpPr>
          <p:cNvPr id="3" name="TextBox 2"/>
          <p:cNvSpPr txBox="1"/>
          <p:nvPr/>
        </p:nvSpPr>
        <p:spPr>
          <a:xfrm>
            <a:off x="731520" y="320040"/>
            <a:ext cx="8961120" cy="777240"/>
          </a:xfrm>
          <a:prstGeom prst="rect">
            <a:avLst/>
          </a:prstGeom>
          <a:noFill/>
        </p:spPr>
        <p:txBody>
          <a:bodyPr wrap="square" lIns="0" tIns="0" rIns="0" bIns="0">
            <a:spAutoFit/>
          </a:bodyPr>
          <a:lstStyle/>
          <a:p>
            <a:pPr>
              <a:spcAft>
                <a:spcPts val="200"/>
              </a:spcAft>
              <a:defRPr sz="950" b="1">
                <a:solidFill>
                  <a:srgbClr val="B6114D"/>
                </a:solidFill>
                <a:latin typeface="Aptos"/>
              </a:defRPr>
            </a:pPr>
            <a:r>
              <a:t>SECTION C: EYE CNN MODULE</a:t>
            </a:r>
          </a:p>
          <a:p>
            <a:pPr>
              <a:defRPr sz="2100" b="1">
                <a:solidFill>
                  <a:srgbClr val="111827"/>
                </a:solidFill>
                <a:latin typeface="Aptos"/>
              </a:defRPr>
            </a:pPr>
            <a:r>
              <a:t>Eye CNN Architecture: MobileNetV3-Small Backbone</a:t>
            </a:r>
          </a:p>
        </p:txBody>
      </p:sp>
      <p:sp>
        <p:nvSpPr>
          <p:cNvPr id="4" name="Rectangle 3"/>
          <p:cNvSpPr/>
          <p:nvPr/>
        </p:nvSpPr>
        <p:spPr>
          <a:xfrm>
            <a:off x="731520" y="1170432"/>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161288"/>
            <a:ext cx="1097280" cy="32004"/>
          </a:xfrm>
          <a:prstGeom prst="rect">
            <a:avLst/>
          </a:prstGeom>
          <a:solidFill>
            <a:srgbClr val="B6114D"/>
          </a:solidFill>
          <a:ln>
            <a:solidFill>
              <a:srgbClr val="B611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09360"/>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55080"/>
            <a:ext cx="4572000" cy="320040"/>
          </a:xfrm>
          <a:prstGeom prst="rect">
            <a:avLst/>
          </a:prstGeom>
          <a:noFill/>
        </p:spPr>
        <p:txBody>
          <a:bodyPr wrap="none" lIns="0" tIns="0" rIns="0" bIns="0">
            <a:spAutoFit/>
          </a:bodyPr>
          <a:lstStyle/>
          <a:p>
            <a:pPr>
              <a:defRPr sz="900">
                <a:solidFill>
                  <a:srgbClr val="6B7280"/>
                </a:solidFill>
                <a:latin typeface="Aptos"/>
              </a:defRPr>
            </a:pPr>
            <a:r>
              <a:t>MediPaw — every paw deserves a chance</a:t>
            </a:r>
          </a:p>
        </p:txBody>
      </p:sp>
      <p:sp>
        <p:nvSpPr>
          <p:cNvPr id="8" name="TextBox 7"/>
          <p:cNvSpPr txBox="1"/>
          <p:nvPr/>
        </p:nvSpPr>
        <p:spPr>
          <a:xfrm>
            <a:off x="4572000" y="6355080"/>
            <a:ext cx="4114800" cy="320040"/>
          </a:xfrm>
          <a:prstGeom prst="rect">
            <a:avLst/>
          </a:prstGeom>
          <a:noFill/>
        </p:spPr>
        <p:txBody>
          <a:bodyPr wrap="none" lIns="0" tIns="0" rIns="0" bIns="0">
            <a:spAutoFit/>
          </a:bodyPr>
          <a:lstStyle/>
          <a:p>
            <a:pPr algn="ctr">
              <a:defRPr sz="900">
                <a:solidFill>
                  <a:srgbClr val="6B7280"/>
                </a:solidFill>
                <a:latin typeface="Aptos"/>
              </a:defRPr>
            </a:pPr>
            <a:r>
              <a:t>A.C. Sanhitha Reddy (CB.SC.U4CSE23206) | 23CSE473 Review 2</a:t>
            </a:r>
          </a:p>
        </p:txBody>
      </p:sp>
      <p:sp>
        <p:nvSpPr>
          <p:cNvPr id="9" name="TextBox 8"/>
          <p:cNvSpPr txBox="1"/>
          <p:nvPr/>
        </p:nvSpPr>
        <p:spPr>
          <a:xfrm>
            <a:off x="9601200" y="6355080"/>
            <a:ext cx="1828800" cy="320040"/>
          </a:xfrm>
          <a:prstGeom prst="rect">
            <a:avLst/>
          </a:prstGeom>
          <a:noFill/>
        </p:spPr>
        <p:txBody>
          <a:bodyPr wrap="none" lIns="0" tIns="0" rIns="0" bIns="0">
            <a:spAutoFit/>
          </a:bodyPr>
          <a:lstStyle/>
          <a:p>
            <a:pPr algn="r">
              <a:defRPr sz="900" b="1">
                <a:solidFill>
                  <a:srgbClr val="B6114D"/>
                </a:solidFill>
                <a:latin typeface="Aptos"/>
              </a:defRPr>
            </a:pPr>
            <a:r>
              <a:t>Slide 18 of 44</a:t>
            </a:r>
          </a:p>
        </p:txBody>
      </p:sp>
      <p:graphicFrame>
        <p:nvGraphicFramePr>
          <p:cNvPr id="10" name="Table 9"/>
          <p:cNvGraphicFramePr>
            <a:graphicFrameLocks noGrp="1"/>
          </p:cNvGraphicFramePr>
          <p:nvPr/>
        </p:nvGraphicFramePr>
        <p:xfrm>
          <a:off x="731520" y="1371600"/>
          <a:ext cx="10698480" cy="3291840"/>
        </p:xfrm>
        <a:graphic>
          <a:graphicData uri="http://schemas.openxmlformats.org/drawingml/2006/table">
            <a:tbl>
              <a:tblPr firstRow="1" bandRow="1">
                <a:tableStyleId>{5C22544A-7EE6-4342-B048-85BDC9FD1C3A}</a:tableStyleId>
              </a:tblPr>
              <a:tblGrid>
                <a:gridCol w="1371600"/>
                <a:gridCol w="1371600"/>
                <a:gridCol w="1645920"/>
                <a:gridCol w="914400"/>
                <a:gridCol w="1188720"/>
                <a:gridCol w="1005840"/>
                <a:gridCol w="1371600"/>
                <a:gridCol w="1828800"/>
              </a:tblGrid>
              <a:tr h="365760">
                <a:tc>
                  <a:txBody>
                    <a:bodyPr/>
                    <a:lstStyle/>
                    <a:p>
                      <a:pPr algn="l">
                        <a:defRPr sz="1050" b="1">
                          <a:solidFill>
                            <a:srgbClr val="FFFFFF"/>
                          </a:solidFill>
                          <a:latin typeface="Aptos"/>
                        </a:defRPr>
                      </a:pPr>
                      <a:r>
                        <a:t>Stage / Block</a:t>
                      </a:r>
                    </a:p>
                  </a:txBody>
                  <a:tcPr>
                    <a:solidFill>
                      <a:srgbClr val="B6114D"/>
                    </a:solidFill>
                  </a:tcPr>
                </a:tc>
                <a:tc>
                  <a:txBody>
                    <a:bodyPr/>
                    <a:lstStyle/>
                    <a:p>
                      <a:pPr algn="l">
                        <a:defRPr sz="1050" b="1">
                          <a:solidFill>
                            <a:srgbClr val="FFFFFF"/>
                          </a:solidFill>
                          <a:latin typeface="Aptos"/>
                        </a:defRPr>
                      </a:pPr>
                      <a:r>
                        <a:t>Input Tensor</a:t>
                      </a:r>
                    </a:p>
                  </a:txBody>
                  <a:tcPr>
                    <a:solidFill>
                      <a:srgbClr val="B6114D"/>
                    </a:solidFill>
                  </a:tcPr>
                </a:tc>
                <a:tc>
                  <a:txBody>
                    <a:bodyPr/>
                    <a:lstStyle/>
                    <a:p>
                      <a:pPr algn="l">
                        <a:defRPr sz="1050" b="1">
                          <a:solidFill>
                            <a:srgbClr val="FFFFFF"/>
                          </a:solidFill>
                          <a:latin typeface="Aptos"/>
                        </a:defRPr>
                      </a:pPr>
                      <a:r>
                        <a:t>Operator</a:t>
                      </a:r>
                    </a:p>
                  </a:txBody>
                  <a:tcPr>
                    <a:solidFill>
                      <a:srgbClr val="B6114D"/>
                    </a:solidFill>
                  </a:tcPr>
                </a:tc>
                <a:tc>
                  <a:txBody>
                    <a:bodyPr/>
                    <a:lstStyle/>
                    <a:p>
                      <a:pPr algn="l">
                        <a:defRPr sz="1050" b="1">
                          <a:solidFill>
                            <a:srgbClr val="FFFFFF"/>
                          </a:solidFill>
                          <a:latin typeface="Aptos"/>
                        </a:defRPr>
                      </a:pPr>
                      <a:r>
                        <a:t>Expansion</a:t>
                      </a:r>
                    </a:p>
                  </a:txBody>
                  <a:tcPr>
                    <a:solidFill>
                      <a:srgbClr val="B6114D"/>
                    </a:solidFill>
                  </a:tcPr>
                </a:tc>
                <a:tc>
                  <a:txBody>
                    <a:bodyPr/>
                    <a:lstStyle/>
                    <a:p>
                      <a:pPr algn="l">
                        <a:defRPr sz="1050" b="1">
                          <a:solidFill>
                            <a:srgbClr val="FFFFFF"/>
                          </a:solidFill>
                          <a:latin typeface="Aptos"/>
                        </a:defRPr>
                      </a:pPr>
                      <a:r>
                        <a:t>Kernel</a:t>
                      </a:r>
                    </a:p>
                  </a:txBody>
                  <a:tcPr>
                    <a:solidFill>
                      <a:srgbClr val="B6114D"/>
                    </a:solidFill>
                  </a:tcPr>
                </a:tc>
                <a:tc>
                  <a:txBody>
                    <a:bodyPr/>
                    <a:lstStyle/>
                    <a:p>
                      <a:pPr algn="l">
                        <a:defRPr sz="1050" b="1">
                          <a:solidFill>
                            <a:srgbClr val="FFFFFF"/>
                          </a:solidFill>
                          <a:latin typeface="Aptos"/>
                        </a:defRPr>
                      </a:pPr>
                      <a:r>
                        <a:t>SE Block</a:t>
                      </a:r>
                    </a:p>
                  </a:txBody>
                  <a:tcPr>
                    <a:solidFill>
                      <a:srgbClr val="B6114D"/>
                    </a:solidFill>
                  </a:tcPr>
                </a:tc>
                <a:tc>
                  <a:txBody>
                    <a:bodyPr/>
                    <a:lstStyle/>
                    <a:p>
                      <a:pPr algn="l">
                        <a:defRPr sz="1050" b="1">
                          <a:solidFill>
                            <a:srgbClr val="FFFFFF"/>
                          </a:solidFill>
                          <a:latin typeface="Aptos"/>
                        </a:defRPr>
                      </a:pPr>
                      <a:r>
                        <a:t>NL Activation</a:t>
                      </a:r>
                    </a:p>
                  </a:txBody>
                  <a:tcPr>
                    <a:solidFill>
                      <a:srgbClr val="B6114D"/>
                    </a:solidFill>
                  </a:tcPr>
                </a:tc>
                <a:tc>
                  <a:txBody>
                    <a:bodyPr/>
                    <a:lstStyle/>
                    <a:p>
                      <a:pPr algn="l">
                        <a:defRPr sz="1050" b="1">
                          <a:solidFill>
                            <a:srgbClr val="FFFFFF"/>
                          </a:solidFill>
                          <a:latin typeface="Aptos"/>
                        </a:defRPr>
                      </a:pPr>
                      <a:r>
                        <a:t>Output Tensor</a:t>
                      </a:r>
                    </a:p>
                  </a:txBody>
                  <a:tcPr>
                    <a:solidFill>
                      <a:srgbClr val="B6114D"/>
                    </a:solidFill>
                  </a:tcPr>
                </a:tc>
              </a:tr>
              <a:tr h="365760">
                <a:tc>
                  <a:txBody>
                    <a:bodyPr/>
                    <a:lstStyle/>
                    <a:p>
                      <a:pPr algn="l">
                        <a:defRPr sz="1000" b="1">
                          <a:solidFill>
                            <a:srgbClr val="111827"/>
                          </a:solidFill>
                          <a:latin typeface="Aptos"/>
                        </a:defRPr>
                      </a:pPr>
                      <a:r>
                        <a:t>Conv2d Initial</a:t>
                      </a:r>
                    </a:p>
                  </a:txBody>
                  <a:tcPr>
                    <a:solidFill>
                      <a:srgbClr val="FFFFFF"/>
                    </a:solidFill>
                  </a:tcPr>
                </a:tc>
                <a:tc>
                  <a:txBody>
                    <a:bodyPr/>
                    <a:lstStyle/>
                    <a:p>
                      <a:pPr algn="l">
                        <a:defRPr sz="1000">
                          <a:solidFill>
                            <a:srgbClr val="374151"/>
                          </a:solidFill>
                          <a:latin typeface="Aptos"/>
                        </a:defRPr>
                      </a:pPr>
                      <a:r>
                        <a:t>3 x 224 x 224</a:t>
                      </a:r>
                    </a:p>
                  </a:txBody>
                  <a:tcPr>
                    <a:solidFill>
                      <a:srgbClr val="FFFFFF"/>
                    </a:solidFill>
                  </a:tcPr>
                </a:tc>
                <a:tc>
                  <a:txBody>
                    <a:bodyPr/>
                    <a:lstStyle/>
                    <a:p>
                      <a:pPr algn="l">
                        <a:defRPr sz="1000">
                          <a:solidFill>
                            <a:srgbClr val="374151"/>
                          </a:solidFill>
                          <a:latin typeface="Aptos"/>
                        </a:defRPr>
                      </a:pPr>
                      <a:r>
                        <a:t>Conv2d + BN</a:t>
                      </a:r>
                    </a:p>
                  </a:txBody>
                  <a:tcPr>
                    <a:solidFill>
                      <a:srgbClr val="FFFFFF"/>
                    </a:solidFill>
                  </a:tcPr>
                </a:tc>
                <a:tc>
                  <a:txBody>
                    <a:bodyPr/>
                    <a:lstStyle/>
                    <a:p>
                      <a:pPr algn="l">
                        <a:defRPr sz="1000">
                          <a:solidFill>
                            <a:srgbClr val="374151"/>
                          </a:solidFill>
                          <a:latin typeface="Aptos"/>
                        </a:defRPr>
                      </a:pPr>
                      <a:r>
                        <a:t>—</a:t>
                      </a:r>
                    </a:p>
                  </a:txBody>
                  <a:tcPr>
                    <a:solidFill>
                      <a:srgbClr val="FFFFFF"/>
                    </a:solidFill>
                  </a:tcPr>
                </a:tc>
                <a:tc>
                  <a:txBody>
                    <a:bodyPr/>
                    <a:lstStyle/>
                    <a:p>
                      <a:pPr algn="l">
                        <a:defRPr sz="1000">
                          <a:solidFill>
                            <a:srgbClr val="374151"/>
                          </a:solidFill>
                          <a:latin typeface="Aptos"/>
                        </a:defRPr>
                      </a:pPr>
                      <a:r>
                        <a:t>3 x 3, s=2</a:t>
                      </a:r>
                    </a:p>
                  </a:txBody>
                  <a:tcPr>
                    <a:solidFill>
                      <a:srgbClr val="FFFFFF"/>
                    </a:solidFill>
                  </a:tcPr>
                </a:tc>
                <a:tc>
                  <a:txBody>
                    <a:bodyPr/>
                    <a:lstStyle/>
                    <a:p>
                      <a:pPr algn="l">
                        <a:defRPr sz="1000">
                          <a:solidFill>
                            <a:srgbClr val="374151"/>
                          </a:solidFill>
                          <a:latin typeface="Aptos"/>
                        </a:defRPr>
                      </a:pPr>
                      <a:r>
                        <a:t>No</a:t>
                      </a:r>
                    </a:p>
                  </a:txBody>
                  <a:tcPr>
                    <a:solidFill>
                      <a:srgbClr val="FFFFFF"/>
                    </a:solidFill>
                  </a:tcPr>
                </a:tc>
                <a:tc>
                  <a:txBody>
                    <a:bodyPr/>
                    <a:lstStyle/>
                    <a:p>
                      <a:pPr algn="l">
                        <a:defRPr sz="1000">
                          <a:solidFill>
                            <a:srgbClr val="374151"/>
                          </a:solidFill>
                          <a:latin typeface="Aptos"/>
                        </a:defRPr>
                      </a:pPr>
                      <a:r>
                        <a:t>Hardswish</a:t>
                      </a:r>
                    </a:p>
                  </a:txBody>
                  <a:tcPr>
                    <a:solidFill>
                      <a:srgbClr val="FFFFFF"/>
                    </a:solidFill>
                  </a:tcPr>
                </a:tc>
                <a:tc>
                  <a:txBody>
                    <a:bodyPr/>
                    <a:lstStyle/>
                    <a:p>
                      <a:pPr algn="l">
                        <a:defRPr sz="1000">
                          <a:solidFill>
                            <a:srgbClr val="374151"/>
                          </a:solidFill>
                          <a:latin typeface="Aptos"/>
                        </a:defRPr>
                      </a:pPr>
                      <a:r>
                        <a:t>16 x 112 x 112</a:t>
                      </a:r>
                    </a:p>
                  </a:txBody>
                  <a:tcPr>
                    <a:solidFill>
                      <a:srgbClr val="FFFFFF"/>
                    </a:solidFill>
                  </a:tcPr>
                </a:tc>
              </a:tr>
              <a:tr h="365760">
                <a:tc>
                  <a:txBody>
                    <a:bodyPr/>
                    <a:lstStyle/>
                    <a:p>
                      <a:pPr algn="l">
                        <a:defRPr sz="1000" b="1">
                          <a:solidFill>
                            <a:srgbClr val="111827"/>
                          </a:solidFill>
                          <a:latin typeface="Aptos"/>
                        </a:defRPr>
                      </a:pPr>
                      <a:r>
                        <a:t>Bneck Block 1</a:t>
                      </a:r>
                    </a:p>
                  </a:txBody>
                  <a:tcPr>
                    <a:solidFill>
                      <a:srgbClr val="FDF2F4"/>
                    </a:solidFill>
                  </a:tcPr>
                </a:tc>
                <a:tc>
                  <a:txBody>
                    <a:bodyPr/>
                    <a:lstStyle/>
                    <a:p>
                      <a:pPr algn="l">
                        <a:defRPr sz="1000">
                          <a:solidFill>
                            <a:srgbClr val="374151"/>
                          </a:solidFill>
                          <a:latin typeface="Aptos"/>
                        </a:defRPr>
                      </a:pPr>
                      <a:r>
                        <a:t>16 x 112 x 112</a:t>
                      </a:r>
                    </a:p>
                  </a:txBody>
                  <a:tcPr>
                    <a:solidFill>
                      <a:srgbClr val="FDF2F4"/>
                    </a:solidFill>
                  </a:tcPr>
                </a:tc>
                <a:tc>
                  <a:txBody>
                    <a:bodyPr/>
                    <a:lstStyle/>
                    <a:p>
                      <a:pPr algn="l">
                        <a:defRPr sz="1000">
                          <a:solidFill>
                            <a:srgbClr val="374151"/>
                          </a:solidFill>
                          <a:latin typeface="Aptos"/>
                        </a:defRPr>
                      </a:pPr>
                      <a:r>
                        <a:t>Inverted Residual</a:t>
                      </a:r>
                    </a:p>
                  </a:txBody>
                  <a:tcPr>
                    <a:solidFill>
                      <a:srgbClr val="FDF2F4"/>
                    </a:solidFill>
                  </a:tcPr>
                </a:tc>
                <a:tc>
                  <a:txBody>
                    <a:bodyPr/>
                    <a:lstStyle/>
                    <a:p>
                      <a:pPr algn="l">
                        <a:defRPr sz="1000">
                          <a:solidFill>
                            <a:srgbClr val="374151"/>
                          </a:solidFill>
                          <a:latin typeface="Aptos"/>
                        </a:defRPr>
                      </a:pPr>
                      <a:r>
                        <a:t>16</a:t>
                      </a:r>
                    </a:p>
                  </a:txBody>
                  <a:tcPr>
                    <a:solidFill>
                      <a:srgbClr val="FDF2F4"/>
                    </a:solidFill>
                  </a:tcPr>
                </a:tc>
                <a:tc>
                  <a:txBody>
                    <a:bodyPr/>
                    <a:lstStyle/>
                    <a:p>
                      <a:pPr algn="l">
                        <a:defRPr sz="1000">
                          <a:solidFill>
                            <a:srgbClr val="374151"/>
                          </a:solidFill>
                          <a:latin typeface="Aptos"/>
                        </a:defRPr>
                      </a:pPr>
                      <a:r>
                        <a:t>3 x 3, s=2</a:t>
                      </a:r>
                    </a:p>
                  </a:txBody>
                  <a:tcPr>
                    <a:solidFill>
                      <a:srgbClr val="FDF2F4"/>
                    </a:solidFill>
                  </a:tcPr>
                </a:tc>
                <a:tc>
                  <a:txBody>
                    <a:bodyPr/>
                    <a:lstStyle/>
                    <a:p>
                      <a:pPr algn="l">
                        <a:defRPr sz="1000">
                          <a:solidFill>
                            <a:srgbClr val="374151"/>
                          </a:solidFill>
                          <a:latin typeface="Aptos"/>
                        </a:defRPr>
                      </a:pPr>
                      <a:r>
                        <a:t>Yes (r=4)</a:t>
                      </a:r>
                    </a:p>
                  </a:txBody>
                  <a:tcPr>
                    <a:solidFill>
                      <a:srgbClr val="FDF2F4"/>
                    </a:solidFill>
                  </a:tcPr>
                </a:tc>
                <a:tc>
                  <a:txBody>
                    <a:bodyPr/>
                    <a:lstStyle/>
                    <a:p>
                      <a:pPr algn="l">
                        <a:defRPr sz="1000">
                          <a:solidFill>
                            <a:srgbClr val="374151"/>
                          </a:solidFill>
                          <a:latin typeface="Aptos"/>
                        </a:defRPr>
                      </a:pPr>
                      <a:r>
                        <a:t>ReLU</a:t>
                      </a:r>
                    </a:p>
                  </a:txBody>
                  <a:tcPr>
                    <a:solidFill>
                      <a:srgbClr val="FDF2F4"/>
                    </a:solidFill>
                  </a:tcPr>
                </a:tc>
                <a:tc>
                  <a:txBody>
                    <a:bodyPr/>
                    <a:lstStyle/>
                    <a:p>
                      <a:pPr algn="l">
                        <a:defRPr sz="1000">
                          <a:solidFill>
                            <a:srgbClr val="374151"/>
                          </a:solidFill>
                          <a:latin typeface="Aptos"/>
                        </a:defRPr>
                      </a:pPr>
                      <a:r>
                        <a:t>16 x 56 x 56</a:t>
                      </a:r>
                    </a:p>
                  </a:txBody>
                  <a:tcPr>
                    <a:solidFill>
                      <a:srgbClr val="FDF2F4"/>
                    </a:solidFill>
                  </a:tcPr>
                </a:tc>
              </a:tr>
              <a:tr h="365760">
                <a:tc>
                  <a:txBody>
                    <a:bodyPr/>
                    <a:lstStyle/>
                    <a:p>
                      <a:pPr algn="l">
                        <a:defRPr sz="1000" b="1">
                          <a:solidFill>
                            <a:srgbClr val="111827"/>
                          </a:solidFill>
                          <a:latin typeface="Aptos"/>
                        </a:defRPr>
                      </a:pPr>
                      <a:r>
                        <a:t>Bneck Block 2</a:t>
                      </a:r>
                    </a:p>
                  </a:txBody>
                  <a:tcPr>
                    <a:solidFill>
                      <a:srgbClr val="FFFFFF"/>
                    </a:solidFill>
                  </a:tcPr>
                </a:tc>
                <a:tc>
                  <a:txBody>
                    <a:bodyPr/>
                    <a:lstStyle/>
                    <a:p>
                      <a:pPr algn="l">
                        <a:defRPr sz="1000">
                          <a:solidFill>
                            <a:srgbClr val="374151"/>
                          </a:solidFill>
                          <a:latin typeface="Aptos"/>
                        </a:defRPr>
                      </a:pPr>
                      <a:r>
                        <a:t>16 x 56 x 56</a:t>
                      </a:r>
                    </a:p>
                  </a:txBody>
                  <a:tcPr>
                    <a:solidFill>
                      <a:srgbClr val="FFFFFF"/>
                    </a:solidFill>
                  </a:tcPr>
                </a:tc>
                <a:tc>
                  <a:txBody>
                    <a:bodyPr/>
                    <a:lstStyle/>
                    <a:p>
                      <a:pPr algn="l">
                        <a:defRPr sz="1000">
                          <a:solidFill>
                            <a:srgbClr val="374151"/>
                          </a:solidFill>
                          <a:latin typeface="Aptos"/>
                        </a:defRPr>
                      </a:pPr>
                      <a:r>
                        <a:t>Inverted Residual</a:t>
                      </a:r>
                    </a:p>
                  </a:txBody>
                  <a:tcPr>
                    <a:solidFill>
                      <a:srgbClr val="FFFFFF"/>
                    </a:solidFill>
                  </a:tcPr>
                </a:tc>
                <a:tc>
                  <a:txBody>
                    <a:bodyPr/>
                    <a:lstStyle/>
                    <a:p>
                      <a:pPr algn="l">
                        <a:defRPr sz="1000">
                          <a:solidFill>
                            <a:srgbClr val="374151"/>
                          </a:solidFill>
                          <a:latin typeface="Aptos"/>
                        </a:defRPr>
                      </a:pPr>
                      <a:r>
                        <a:t>72</a:t>
                      </a:r>
                    </a:p>
                  </a:txBody>
                  <a:tcPr>
                    <a:solidFill>
                      <a:srgbClr val="FFFFFF"/>
                    </a:solidFill>
                  </a:tcPr>
                </a:tc>
                <a:tc>
                  <a:txBody>
                    <a:bodyPr/>
                    <a:lstStyle/>
                    <a:p>
                      <a:pPr algn="l">
                        <a:defRPr sz="1000">
                          <a:solidFill>
                            <a:srgbClr val="374151"/>
                          </a:solidFill>
                          <a:latin typeface="Aptos"/>
                        </a:defRPr>
                      </a:pPr>
                      <a:r>
                        <a:t>3 x 3, s=2</a:t>
                      </a:r>
                    </a:p>
                  </a:txBody>
                  <a:tcPr>
                    <a:solidFill>
                      <a:srgbClr val="FFFFFF"/>
                    </a:solidFill>
                  </a:tcPr>
                </a:tc>
                <a:tc>
                  <a:txBody>
                    <a:bodyPr/>
                    <a:lstStyle/>
                    <a:p>
                      <a:pPr algn="l">
                        <a:defRPr sz="1000">
                          <a:solidFill>
                            <a:srgbClr val="374151"/>
                          </a:solidFill>
                          <a:latin typeface="Aptos"/>
                        </a:defRPr>
                      </a:pPr>
                      <a:r>
                        <a:t>No</a:t>
                      </a:r>
                    </a:p>
                  </a:txBody>
                  <a:tcPr>
                    <a:solidFill>
                      <a:srgbClr val="FFFFFF"/>
                    </a:solidFill>
                  </a:tcPr>
                </a:tc>
                <a:tc>
                  <a:txBody>
                    <a:bodyPr/>
                    <a:lstStyle/>
                    <a:p>
                      <a:pPr algn="l">
                        <a:defRPr sz="1000">
                          <a:solidFill>
                            <a:srgbClr val="374151"/>
                          </a:solidFill>
                          <a:latin typeface="Aptos"/>
                        </a:defRPr>
                      </a:pPr>
                      <a:r>
                        <a:t>ReLU</a:t>
                      </a:r>
                    </a:p>
                  </a:txBody>
                  <a:tcPr>
                    <a:solidFill>
                      <a:srgbClr val="FFFFFF"/>
                    </a:solidFill>
                  </a:tcPr>
                </a:tc>
                <a:tc>
                  <a:txBody>
                    <a:bodyPr/>
                    <a:lstStyle/>
                    <a:p>
                      <a:pPr algn="l">
                        <a:defRPr sz="1000">
                          <a:solidFill>
                            <a:srgbClr val="374151"/>
                          </a:solidFill>
                          <a:latin typeface="Aptos"/>
                        </a:defRPr>
                      </a:pPr>
                      <a:r>
                        <a:t>24 x 28 x 28</a:t>
                      </a:r>
                    </a:p>
                  </a:txBody>
                  <a:tcPr>
                    <a:solidFill>
                      <a:srgbClr val="FFFFFF"/>
                    </a:solidFill>
                  </a:tcPr>
                </a:tc>
              </a:tr>
              <a:tr h="365760">
                <a:tc>
                  <a:txBody>
                    <a:bodyPr/>
                    <a:lstStyle/>
                    <a:p>
                      <a:pPr algn="l">
                        <a:defRPr sz="1000" b="1">
                          <a:solidFill>
                            <a:srgbClr val="111827"/>
                          </a:solidFill>
                          <a:latin typeface="Aptos"/>
                        </a:defRPr>
                      </a:pPr>
                      <a:r>
                        <a:t>Bneck Block 3</a:t>
                      </a:r>
                    </a:p>
                  </a:txBody>
                  <a:tcPr>
                    <a:solidFill>
                      <a:srgbClr val="FDF2F4"/>
                    </a:solidFill>
                  </a:tcPr>
                </a:tc>
                <a:tc>
                  <a:txBody>
                    <a:bodyPr/>
                    <a:lstStyle/>
                    <a:p>
                      <a:pPr algn="l">
                        <a:defRPr sz="1000">
                          <a:solidFill>
                            <a:srgbClr val="374151"/>
                          </a:solidFill>
                          <a:latin typeface="Aptos"/>
                        </a:defRPr>
                      </a:pPr>
                      <a:r>
                        <a:t>24 x 28 x 28</a:t>
                      </a:r>
                    </a:p>
                  </a:txBody>
                  <a:tcPr>
                    <a:solidFill>
                      <a:srgbClr val="FDF2F4"/>
                    </a:solidFill>
                  </a:tcPr>
                </a:tc>
                <a:tc>
                  <a:txBody>
                    <a:bodyPr/>
                    <a:lstStyle/>
                    <a:p>
                      <a:pPr algn="l">
                        <a:defRPr sz="1000">
                          <a:solidFill>
                            <a:srgbClr val="374151"/>
                          </a:solidFill>
                          <a:latin typeface="Aptos"/>
                        </a:defRPr>
                      </a:pPr>
                      <a:r>
                        <a:t>Inverted Residual</a:t>
                      </a:r>
                    </a:p>
                  </a:txBody>
                  <a:tcPr>
                    <a:solidFill>
                      <a:srgbClr val="FDF2F4"/>
                    </a:solidFill>
                  </a:tcPr>
                </a:tc>
                <a:tc>
                  <a:txBody>
                    <a:bodyPr/>
                    <a:lstStyle/>
                    <a:p>
                      <a:pPr algn="l">
                        <a:defRPr sz="1000">
                          <a:solidFill>
                            <a:srgbClr val="374151"/>
                          </a:solidFill>
                          <a:latin typeface="Aptos"/>
                        </a:defRPr>
                      </a:pPr>
                      <a:r>
                        <a:t>88</a:t>
                      </a:r>
                    </a:p>
                  </a:txBody>
                  <a:tcPr>
                    <a:solidFill>
                      <a:srgbClr val="FDF2F4"/>
                    </a:solidFill>
                  </a:tcPr>
                </a:tc>
                <a:tc>
                  <a:txBody>
                    <a:bodyPr/>
                    <a:lstStyle/>
                    <a:p>
                      <a:pPr algn="l">
                        <a:defRPr sz="1000">
                          <a:solidFill>
                            <a:srgbClr val="374151"/>
                          </a:solidFill>
                          <a:latin typeface="Aptos"/>
                        </a:defRPr>
                      </a:pPr>
                      <a:r>
                        <a:t>3 x 3, s=1</a:t>
                      </a:r>
                    </a:p>
                  </a:txBody>
                  <a:tcPr>
                    <a:solidFill>
                      <a:srgbClr val="FDF2F4"/>
                    </a:solidFill>
                  </a:tcPr>
                </a:tc>
                <a:tc>
                  <a:txBody>
                    <a:bodyPr/>
                    <a:lstStyle/>
                    <a:p>
                      <a:pPr algn="l">
                        <a:defRPr sz="1000">
                          <a:solidFill>
                            <a:srgbClr val="374151"/>
                          </a:solidFill>
                          <a:latin typeface="Aptos"/>
                        </a:defRPr>
                      </a:pPr>
                      <a:r>
                        <a:t>No</a:t>
                      </a:r>
                    </a:p>
                  </a:txBody>
                  <a:tcPr>
                    <a:solidFill>
                      <a:srgbClr val="FDF2F4"/>
                    </a:solidFill>
                  </a:tcPr>
                </a:tc>
                <a:tc>
                  <a:txBody>
                    <a:bodyPr/>
                    <a:lstStyle/>
                    <a:p>
                      <a:pPr algn="l">
                        <a:defRPr sz="1000">
                          <a:solidFill>
                            <a:srgbClr val="374151"/>
                          </a:solidFill>
                          <a:latin typeface="Aptos"/>
                        </a:defRPr>
                      </a:pPr>
                      <a:r>
                        <a:t>ReLU</a:t>
                      </a:r>
                    </a:p>
                  </a:txBody>
                  <a:tcPr>
                    <a:solidFill>
                      <a:srgbClr val="FDF2F4"/>
                    </a:solidFill>
                  </a:tcPr>
                </a:tc>
                <a:tc>
                  <a:txBody>
                    <a:bodyPr/>
                    <a:lstStyle/>
                    <a:p>
                      <a:pPr algn="l">
                        <a:defRPr sz="1000">
                          <a:solidFill>
                            <a:srgbClr val="374151"/>
                          </a:solidFill>
                          <a:latin typeface="Aptos"/>
                        </a:defRPr>
                      </a:pPr>
                      <a:r>
                        <a:t>24 x 28 x 28</a:t>
                      </a:r>
                    </a:p>
                  </a:txBody>
                  <a:tcPr>
                    <a:solidFill>
                      <a:srgbClr val="FDF2F4"/>
                    </a:solidFill>
                  </a:tcPr>
                </a:tc>
              </a:tr>
              <a:tr h="365760">
                <a:tc>
                  <a:txBody>
                    <a:bodyPr/>
                    <a:lstStyle/>
                    <a:p>
                      <a:pPr algn="l">
                        <a:defRPr sz="1000" b="1">
                          <a:solidFill>
                            <a:srgbClr val="111827"/>
                          </a:solidFill>
                          <a:latin typeface="Aptos"/>
                        </a:defRPr>
                      </a:pPr>
                      <a:r>
                        <a:t>Bneck Block 4-5</a:t>
                      </a:r>
                    </a:p>
                  </a:txBody>
                  <a:tcPr>
                    <a:solidFill>
                      <a:srgbClr val="FFFFFF"/>
                    </a:solidFill>
                  </a:tcPr>
                </a:tc>
                <a:tc>
                  <a:txBody>
                    <a:bodyPr/>
                    <a:lstStyle/>
                    <a:p>
                      <a:pPr algn="l">
                        <a:defRPr sz="1000">
                          <a:solidFill>
                            <a:srgbClr val="374151"/>
                          </a:solidFill>
                          <a:latin typeface="Aptos"/>
                        </a:defRPr>
                      </a:pPr>
                      <a:r>
                        <a:t>24 x 28 x 28</a:t>
                      </a:r>
                    </a:p>
                  </a:txBody>
                  <a:tcPr>
                    <a:solidFill>
                      <a:srgbClr val="FFFFFF"/>
                    </a:solidFill>
                  </a:tcPr>
                </a:tc>
                <a:tc>
                  <a:txBody>
                    <a:bodyPr/>
                    <a:lstStyle/>
                    <a:p>
                      <a:pPr algn="l">
                        <a:defRPr sz="1000">
                          <a:solidFill>
                            <a:srgbClr val="374151"/>
                          </a:solidFill>
                          <a:latin typeface="Aptos"/>
                        </a:defRPr>
                      </a:pPr>
                      <a:r>
                        <a:t>Inverted Residual</a:t>
                      </a:r>
                    </a:p>
                  </a:txBody>
                  <a:tcPr>
                    <a:solidFill>
                      <a:srgbClr val="FFFFFF"/>
                    </a:solidFill>
                  </a:tcPr>
                </a:tc>
                <a:tc>
                  <a:txBody>
                    <a:bodyPr/>
                    <a:lstStyle/>
                    <a:p>
                      <a:pPr algn="l">
                        <a:defRPr sz="1000">
                          <a:solidFill>
                            <a:srgbClr val="374151"/>
                          </a:solidFill>
                          <a:latin typeface="Aptos"/>
                        </a:defRPr>
                      </a:pPr>
                      <a:r>
                        <a:t>96-240</a:t>
                      </a:r>
                    </a:p>
                  </a:txBody>
                  <a:tcPr>
                    <a:solidFill>
                      <a:srgbClr val="FFFFFF"/>
                    </a:solidFill>
                  </a:tcPr>
                </a:tc>
                <a:tc>
                  <a:txBody>
                    <a:bodyPr/>
                    <a:lstStyle/>
                    <a:p>
                      <a:pPr algn="l">
                        <a:defRPr sz="1000">
                          <a:solidFill>
                            <a:srgbClr val="374151"/>
                          </a:solidFill>
                          <a:latin typeface="Aptos"/>
                        </a:defRPr>
                      </a:pPr>
                      <a:r>
                        <a:t>5 x 5, s=2</a:t>
                      </a:r>
                    </a:p>
                  </a:txBody>
                  <a:tcPr>
                    <a:solidFill>
                      <a:srgbClr val="FFFFFF"/>
                    </a:solidFill>
                  </a:tcPr>
                </a:tc>
                <a:tc>
                  <a:txBody>
                    <a:bodyPr/>
                    <a:lstStyle/>
                    <a:p>
                      <a:pPr algn="l">
                        <a:defRPr sz="1000">
                          <a:solidFill>
                            <a:srgbClr val="374151"/>
                          </a:solidFill>
                          <a:latin typeface="Aptos"/>
                        </a:defRPr>
                      </a:pPr>
                      <a:r>
                        <a:t>Yes (r=4)</a:t>
                      </a:r>
                    </a:p>
                  </a:txBody>
                  <a:tcPr>
                    <a:solidFill>
                      <a:srgbClr val="FFFFFF"/>
                    </a:solidFill>
                  </a:tcPr>
                </a:tc>
                <a:tc>
                  <a:txBody>
                    <a:bodyPr/>
                    <a:lstStyle/>
                    <a:p>
                      <a:pPr algn="l">
                        <a:defRPr sz="1000">
                          <a:solidFill>
                            <a:srgbClr val="374151"/>
                          </a:solidFill>
                          <a:latin typeface="Aptos"/>
                        </a:defRPr>
                      </a:pPr>
                      <a:r>
                        <a:t>Hardswish</a:t>
                      </a:r>
                    </a:p>
                  </a:txBody>
                  <a:tcPr>
                    <a:solidFill>
                      <a:srgbClr val="FFFFFF"/>
                    </a:solidFill>
                  </a:tcPr>
                </a:tc>
                <a:tc>
                  <a:txBody>
                    <a:bodyPr/>
                    <a:lstStyle/>
                    <a:p>
                      <a:pPr algn="l">
                        <a:defRPr sz="1000">
                          <a:solidFill>
                            <a:srgbClr val="374151"/>
                          </a:solidFill>
                          <a:latin typeface="Aptos"/>
                        </a:defRPr>
                      </a:pPr>
                      <a:r>
                        <a:t>40 x 14 x 14</a:t>
                      </a:r>
                    </a:p>
                  </a:txBody>
                  <a:tcPr>
                    <a:solidFill>
                      <a:srgbClr val="FFFFFF"/>
                    </a:solidFill>
                  </a:tcPr>
                </a:tc>
              </a:tr>
              <a:tr h="365760">
                <a:tc>
                  <a:txBody>
                    <a:bodyPr/>
                    <a:lstStyle/>
                    <a:p>
                      <a:pPr algn="l">
                        <a:defRPr sz="1000" b="1">
                          <a:solidFill>
                            <a:srgbClr val="111827"/>
                          </a:solidFill>
                          <a:latin typeface="Aptos"/>
                        </a:defRPr>
                      </a:pPr>
                      <a:r>
                        <a:t>Bneck Block 6-8</a:t>
                      </a:r>
                    </a:p>
                  </a:txBody>
                  <a:tcPr>
                    <a:solidFill>
                      <a:srgbClr val="FDF2F4"/>
                    </a:solidFill>
                  </a:tcPr>
                </a:tc>
                <a:tc>
                  <a:txBody>
                    <a:bodyPr/>
                    <a:lstStyle/>
                    <a:p>
                      <a:pPr algn="l">
                        <a:defRPr sz="1000">
                          <a:solidFill>
                            <a:srgbClr val="374151"/>
                          </a:solidFill>
                          <a:latin typeface="Aptos"/>
                        </a:defRPr>
                      </a:pPr>
                      <a:r>
                        <a:t>40 x 14 x 14</a:t>
                      </a:r>
                    </a:p>
                  </a:txBody>
                  <a:tcPr>
                    <a:solidFill>
                      <a:srgbClr val="FDF2F4"/>
                    </a:solidFill>
                  </a:tcPr>
                </a:tc>
                <a:tc>
                  <a:txBody>
                    <a:bodyPr/>
                    <a:lstStyle/>
                    <a:p>
                      <a:pPr algn="l">
                        <a:defRPr sz="1000">
                          <a:solidFill>
                            <a:srgbClr val="374151"/>
                          </a:solidFill>
                          <a:latin typeface="Aptos"/>
                        </a:defRPr>
                      </a:pPr>
                      <a:r>
                        <a:t>Inverted Residual</a:t>
                      </a:r>
                    </a:p>
                  </a:txBody>
                  <a:tcPr>
                    <a:solidFill>
                      <a:srgbClr val="FDF2F4"/>
                    </a:solidFill>
                  </a:tcPr>
                </a:tc>
                <a:tc>
                  <a:txBody>
                    <a:bodyPr/>
                    <a:lstStyle/>
                    <a:p>
                      <a:pPr algn="l">
                        <a:defRPr sz="1000">
                          <a:solidFill>
                            <a:srgbClr val="374151"/>
                          </a:solidFill>
                          <a:latin typeface="Aptos"/>
                        </a:defRPr>
                      </a:pPr>
                      <a:r>
                        <a:t>120-288</a:t>
                      </a:r>
                    </a:p>
                  </a:txBody>
                  <a:tcPr>
                    <a:solidFill>
                      <a:srgbClr val="FDF2F4"/>
                    </a:solidFill>
                  </a:tcPr>
                </a:tc>
                <a:tc>
                  <a:txBody>
                    <a:bodyPr/>
                    <a:lstStyle/>
                    <a:p>
                      <a:pPr algn="l">
                        <a:defRPr sz="1000">
                          <a:solidFill>
                            <a:srgbClr val="374151"/>
                          </a:solidFill>
                          <a:latin typeface="Aptos"/>
                        </a:defRPr>
                      </a:pPr>
                      <a:r>
                        <a:t>5 x 5, s=1-2</a:t>
                      </a:r>
                    </a:p>
                  </a:txBody>
                  <a:tcPr>
                    <a:solidFill>
                      <a:srgbClr val="FDF2F4"/>
                    </a:solidFill>
                  </a:tcPr>
                </a:tc>
                <a:tc>
                  <a:txBody>
                    <a:bodyPr/>
                    <a:lstStyle/>
                    <a:p>
                      <a:pPr algn="l">
                        <a:defRPr sz="1000">
                          <a:solidFill>
                            <a:srgbClr val="374151"/>
                          </a:solidFill>
                          <a:latin typeface="Aptos"/>
                        </a:defRPr>
                      </a:pPr>
                      <a:r>
                        <a:t>Yes (r=4)</a:t>
                      </a:r>
                    </a:p>
                  </a:txBody>
                  <a:tcPr>
                    <a:solidFill>
                      <a:srgbClr val="FDF2F4"/>
                    </a:solidFill>
                  </a:tcPr>
                </a:tc>
                <a:tc>
                  <a:txBody>
                    <a:bodyPr/>
                    <a:lstStyle/>
                    <a:p>
                      <a:pPr algn="l">
                        <a:defRPr sz="1000">
                          <a:solidFill>
                            <a:srgbClr val="374151"/>
                          </a:solidFill>
                          <a:latin typeface="Aptos"/>
                        </a:defRPr>
                      </a:pPr>
                      <a:r>
                        <a:t>Hardswish</a:t>
                      </a:r>
                    </a:p>
                  </a:txBody>
                  <a:tcPr>
                    <a:solidFill>
                      <a:srgbClr val="FDF2F4"/>
                    </a:solidFill>
                  </a:tcPr>
                </a:tc>
                <a:tc>
                  <a:txBody>
                    <a:bodyPr/>
                    <a:lstStyle/>
                    <a:p>
                      <a:pPr algn="l">
                        <a:defRPr sz="1000">
                          <a:solidFill>
                            <a:srgbClr val="374151"/>
                          </a:solidFill>
                          <a:latin typeface="Aptos"/>
                        </a:defRPr>
                      </a:pPr>
                      <a:r>
                        <a:t>96 x 7 x 7</a:t>
                      </a:r>
                    </a:p>
                  </a:txBody>
                  <a:tcPr>
                    <a:solidFill>
                      <a:srgbClr val="FDF2F4"/>
                    </a:solidFill>
                  </a:tcPr>
                </a:tc>
              </a:tr>
              <a:tr h="365760">
                <a:tc>
                  <a:txBody>
                    <a:bodyPr/>
                    <a:lstStyle/>
                    <a:p>
                      <a:pPr algn="l">
                        <a:defRPr sz="1000" b="1">
                          <a:solidFill>
                            <a:srgbClr val="111827"/>
                          </a:solidFill>
                          <a:latin typeface="Aptos"/>
                        </a:defRPr>
                      </a:pPr>
                      <a:r>
                        <a:t>Conv2d Final</a:t>
                      </a:r>
                    </a:p>
                  </a:txBody>
                  <a:tcPr>
                    <a:solidFill>
                      <a:srgbClr val="FFFFFF"/>
                    </a:solidFill>
                  </a:tcPr>
                </a:tc>
                <a:tc>
                  <a:txBody>
                    <a:bodyPr/>
                    <a:lstStyle/>
                    <a:p>
                      <a:pPr algn="l">
                        <a:defRPr sz="1000">
                          <a:solidFill>
                            <a:srgbClr val="374151"/>
                          </a:solidFill>
                          <a:latin typeface="Aptos"/>
                        </a:defRPr>
                      </a:pPr>
                      <a:r>
                        <a:t>96 x 7 x 7</a:t>
                      </a:r>
                    </a:p>
                  </a:txBody>
                  <a:tcPr>
                    <a:solidFill>
                      <a:srgbClr val="FFFFFF"/>
                    </a:solidFill>
                  </a:tcPr>
                </a:tc>
                <a:tc>
                  <a:txBody>
                    <a:bodyPr/>
                    <a:lstStyle/>
                    <a:p>
                      <a:pPr algn="l">
                        <a:defRPr sz="1000">
                          <a:solidFill>
                            <a:srgbClr val="374151"/>
                          </a:solidFill>
                          <a:latin typeface="Aptos"/>
                        </a:defRPr>
                      </a:pPr>
                      <a:r>
                        <a:t>1x1 Conv + BN</a:t>
                      </a:r>
                    </a:p>
                  </a:txBody>
                  <a:tcPr>
                    <a:solidFill>
                      <a:srgbClr val="FFFFFF"/>
                    </a:solidFill>
                  </a:tcPr>
                </a:tc>
                <a:tc>
                  <a:txBody>
                    <a:bodyPr/>
                    <a:lstStyle/>
                    <a:p>
                      <a:pPr algn="l">
                        <a:defRPr sz="1000">
                          <a:solidFill>
                            <a:srgbClr val="374151"/>
                          </a:solidFill>
                          <a:latin typeface="Aptos"/>
                        </a:defRPr>
                      </a:pPr>
                      <a:r>
                        <a:t>—</a:t>
                      </a:r>
                    </a:p>
                  </a:txBody>
                  <a:tcPr>
                    <a:solidFill>
                      <a:srgbClr val="FFFFFF"/>
                    </a:solidFill>
                  </a:tcPr>
                </a:tc>
                <a:tc>
                  <a:txBody>
                    <a:bodyPr/>
                    <a:lstStyle/>
                    <a:p>
                      <a:pPr algn="l">
                        <a:defRPr sz="1000">
                          <a:solidFill>
                            <a:srgbClr val="374151"/>
                          </a:solidFill>
                          <a:latin typeface="Aptos"/>
                        </a:defRPr>
                      </a:pPr>
                      <a:r>
                        <a:t>1 x 1, s=1</a:t>
                      </a:r>
                    </a:p>
                  </a:txBody>
                  <a:tcPr>
                    <a:solidFill>
                      <a:srgbClr val="FFFFFF"/>
                    </a:solidFill>
                  </a:tcPr>
                </a:tc>
                <a:tc>
                  <a:txBody>
                    <a:bodyPr/>
                    <a:lstStyle/>
                    <a:p>
                      <a:pPr algn="l">
                        <a:defRPr sz="1000">
                          <a:solidFill>
                            <a:srgbClr val="374151"/>
                          </a:solidFill>
                          <a:latin typeface="Aptos"/>
                        </a:defRPr>
                      </a:pPr>
                      <a:r>
                        <a:t>No</a:t>
                      </a:r>
                    </a:p>
                  </a:txBody>
                  <a:tcPr>
                    <a:solidFill>
                      <a:srgbClr val="FFFFFF"/>
                    </a:solidFill>
                  </a:tcPr>
                </a:tc>
                <a:tc>
                  <a:txBody>
                    <a:bodyPr/>
                    <a:lstStyle/>
                    <a:p>
                      <a:pPr algn="l">
                        <a:defRPr sz="1000">
                          <a:solidFill>
                            <a:srgbClr val="374151"/>
                          </a:solidFill>
                          <a:latin typeface="Aptos"/>
                        </a:defRPr>
                      </a:pPr>
                      <a:r>
                        <a:t>Hardswish</a:t>
                      </a:r>
                    </a:p>
                  </a:txBody>
                  <a:tcPr>
                    <a:solidFill>
                      <a:srgbClr val="FFFFFF"/>
                    </a:solidFill>
                  </a:tcPr>
                </a:tc>
                <a:tc>
                  <a:txBody>
                    <a:bodyPr/>
                    <a:lstStyle/>
                    <a:p>
                      <a:pPr algn="l">
                        <a:defRPr sz="1000">
                          <a:solidFill>
                            <a:srgbClr val="374151"/>
                          </a:solidFill>
                          <a:latin typeface="Aptos"/>
                        </a:defRPr>
                      </a:pPr>
                      <a:r>
                        <a:t>576 x 7 x 7</a:t>
                      </a:r>
                    </a:p>
                  </a:txBody>
                  <a:tcPr>
                    <a:solidFill>
                      <a:srgbClr val="FFFFFF"/>
                    </a:solidFill>
                  </a:tcPr>
                </a:tc>
              </a:tr>
              <a:tr h="365760">
                <a:tc>
                  <a:txBody>
                    <a:bodyPr/>
                    <a:lstStyle/>
                    <a:p>
                      <a:pPr algn="l">
                        <a:defRPr sz="1000" b="1">
                          <a:solidFill>
                            <a:srgbClr val="111827"/>
                          </a:solidFill>
                          <a:latin typeface="Aptos"/>
                        </a:defRPr>
                      </a:pPr>
                      <a:r>
                        <a:t>Global Pool</a:t>
                      </a:r>
                    </a:p>
                  </a:txBody>
                  <a:tcPr>
                    <a:solidFill>
                      <a:srgbClr val="FDF2F4"/>
                    </a:solidFill>
                  </a:tcPr>
                </a:tc>
                <a:tc>
                  <a:txBody>
                    <a:bodyPr/>
                    <a:lstStyle/>
                    <a:p>
                      <a:pPr algn="l">
                        <a:defRPr sz="1000">
                          <a:solidFill>
                            <a:srgbClr val="374151"/>
                          </a:solidFill>
                          <a:latin typeface="Aptos"/>
                        </a:defRPr>
                      </a:pPr>
                      <a:r>
                        <a:t>576 x 7 x 7</a:t>
                      </a:r>
                    </a:p>
                  </a:txBody>
                  <a:tcPr>
                    <a:solidFill>
                      <a:srgbClr val="FDF2F4"/>
                    </a:solidFill>
                  </a:tcPr>
                </a:tc>
                <a:tc>
                  <a:txBody>
                    <a:bodyPr/>
                    <a:lstStyle/>
                    <a:p>
                      <a:pPr algn="l">
                        <a:defRPr sz="1000">
                          <a:solidFill>
                            <a:srgbClr val="374151"/>
                          </a:solidFill>
                          <a:latin typeface="Aptos"/>
                        </a:defRPr>
                      </a:pPr>
                      <a:r>
                        <a:t>AdaptiveAvgPool</a:t>
                      </a:r>
                    </a:p>
                  </a:txBody>
                  <a:tcPr>
                    <a:solidFill>
                      <a:srgbClr val="FDF2F4"/>
                    </a:solidFill>
                  </a:tcPr>
                </a:tc>
                <a:tc>
                  <a:txBody>
                    <a:bodyPr/>
                    <a:lstStyle/>
                    <a:p>
                      <a:pPr algn="l">
                        <a:defRPr sz="1000">
                          <a:solidFill>
                            <a:srgbClr val="374151"/>
                          </a:solidFill>
                          <a:latin typeface="Aptos"/>
                        </a:defRPr>
                      </a:pPr>
                      <a:r>
                        <a:t>—</a:t>
                      </a:r>
                    </a:p>
                  </a:txBody>
                  <a:tcPr>
                    <a:solidFill>
                      <a:srgbClr val="FDF2F4"/>
                    </a:solidFill>
                  </a:tcPr>
                </a:tc>
                <a:tc>
                  <a:txBody>
                    <a:bodyPr/>
                    <a:lstStyle/>
                    <a:p>
                      <a:pPr algn="l">
                        <a:defRPr sz="1000">
                          <a:solidFill>
                            <a:srgbClr val="374151"/>
                          </a:solidFill>
                          <a:latin typeface="Aptos"/>
                        </a:defRPr>
                      </a:pPr>
                      <a:r>
                        <a:t>7 x 7</a:t>
                      </a:r>
                    </a:p>
                  </a:txBody>
                  <a:tcPr>
                    <a:solidFill>
                      <a:srgbClr val="FDF2F4"/>
                    </a:solidFill>
                  </a:tcPr>
                </a:tc>
                <a:tc>
                  <a:txBody>
                    <a:bodyPr/>
                    <a:lstStyle/>
                    <a:p>
                      <a:pPr algn="l">
                        <a:defRPr sz="1000">
                          <a:solidFill>
                            <a:srgbClr val="374151"/>
                          </a:solidFill>
                          <a:latin typeface="Aptos"/>
                        </a:defRPr>
                      </a:pPr>
                      <a:r>
                        <a:t>No</a:t>
                      </a:r>
                    </a:p>
                  </a:txBody>
                  <a:tcPr>
                    <a:solidFill>
                      <a:srgbClr val="FDF2F4"/>
                    </a:solidFill>
                  </a:tcPr>
                </a:tc>
                <a:tc>
                  <a:txBody>
                    <a:bodyPr/>
                    <a:lstStyle/>
                    <a:p>
                      <a:pPr algn="l">
                        <a:defRPr sz="1000">
                          <a:solidFill>
                            <a:srgbClr val="374151"/>
                          </a:solidFill>
                          <a:latin typeface="Aptos"/>
                        </a:defRPr>
                      </a:pPr>
                      <a:r>
                        <a:t>—</a:t>
                      </a:r>
                    </a:p>
                  </a:txBody>
                  <a:tcPr>
                    <a:solidFill>
                      <a:srgbClr val="FDF2F4"/>
                    </a:solidFill>
                  </a:tcPr>
                </a:tc>
                <a:tc>
                  <a:txBody>
                    <a:bodyPr/>
                    <a:lstStyle/>
                    <a:p>
                      <a:pPr algn="l">
                        <a:defRPr sz="1000">
                          <a:solidFill>
                            <a:srgbClr val="374151"/>
                          </a:solidFill>
                          <a:latin typeface="Aptos"/>
                        </a:defRPr>
                      </a:pPr>
                      <a:r>
                        <a:t>576 x 1 x 1</a:t>
                      </a:r>
                    </a:p>
                  </a:txBody>
                  <a:tcPr>
                    <a:solidFill>
                      <a:srgbClr val="FDF2F4"/>
                    </a:solidFill>
                  </a:tcPr>
                </a:tc>
              </a:tr>
            </a:tbl>
          </a:graphicData>
        </a:graphic>
      </p:graphicFrame>
      <p:sp>
        <p:nvSpPr>
          <p:cNvPr id="11" name="Rectangle 10"/>
          <p:cNvSpPr/>
          <p:nvPr/>
        </p:nvSpPr>
        <p:spPr>
          <a:xfrm>
            <a:off x="731520" y="4846320"/>
            <a:ext cx="10698480" cy="1280160"/>
          </a:xfrm>
          <a:prstGeom prst="rect">
            <a:avLst/>
          </a:prstGeom>
          <a:solidFill>
            <a:srgbClr val="FFFFFF"/>
          </a:solidFill>
          <a:ln w="12700">
            <a:solidFill>
              <a:srgbClr val="F4C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4846320"/>
            <a:ext cx="73152" cy="1280160"/>
          </a:xfrm>
          <a:prstGeom prst="rect">
            <a:avLst/>
          </a:prstGeom>
          <a:solidFill>
            <a:srgbClr val="B611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956048"/>
            <a:ext cx="10378440" cy="1060704"/>
          </a:xfrm>
          <a:prstGeom prst="rect">
            <a:avLst/>
          </a:prstGeom>
          <a:noFill/>
        </p:spPr>
        <p:txBody>
          <a:bodyPr wrap="square" lIns="0" tIns="0" rIns="0" bIns="0">
            <a:spAutoFit/>
          </a:bodyPr>
          <a:lstStyle/>
          <a:p>
            <a:pPr>
              <a:spcAft>
                <a:spcPts val="300"/>
              </a:spcAft>
              <a:defRPr sz="1150" b="1">
                <a:solidFill>
                  <a:srgbClr val="B6114D"/>
                </a:solidFill>
                <a:latin typeface="Aptos"/>
              </a:defRPr>
            </a:pPr>
            <a:r>
              <a:t>ARCHITECTURAL RATIONALE: MOBILE-FIRST VETERINARY TRIAGE</a:t>
            </a:r>
          </a:p>
          <a:p>
            <a:pPr>
              <a:defRPr sz="1050">
                <a:solidFill>
                  <a:srgbClr val="374151"/>
                </a:solidFill>
                <a:latin typeface="Aptos"/>
              </a:defRPr>
            </a:pPr>
            <a:r>
              <a:t>• Inverted Residual Bottlenecks: Expand channels internally to capture rich ocular textures before projecting to low-rank manifolds.</a:t>
            </a:r>
            <a:br/>
            <a:r>
              <a:t>• Squeeze-and-Excitation (SE): Channel-wise self-attention recalibrates feature maps, prioritizing focal conjunctival injection over peripheral fur.</a:t>
            </a:r>
            <a:br/>
            <a:r>
              <a:t>• Parameter Budget: Total backbone parameter count is 1.52M weights, consuming only 6.1 MB on disk and 12.4 ms inference latency on CPU.</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9921240" y="201168"/>
            <a:ext cx="1965960" cy="685800"/>
          </a:xfrm>
          <a:prstGeom prst="rect">
            <a:avLst/>
          </a:prstGeom>
        </p:spPr>
      </p:pic>
      <p:sp>
        <p:nvSpPr>
          <p:cNvPr id="3" name="TextBox 2"/>
          <p:cNvSpPr txBox="1"/>
          <p:nvPr/>
        </p:nvSpPr>
        <p:spPr>
          <a:xfrm>
            <a:off x="731520" y="320040"/>
            <a:ext cx="8961120" cy="777240"/>
          </a:xfrm>
          <a:prstGeom prst="rect">
            <a:avLst/>
          </a:prstGeom>
          <a:noFill/>
        </p:spPr>
        <p:txBody>
          <a:bodyPr wrap="square" lIns="0" tIns="0" rIns="0" bIns="0">
            <a:spAutoFit/>
          </a:bodyPr>
          <a:lstStyle/>
          <a:p>
            <a:pPr>
              <a:spcAft>
                <a:spcPts val="200"/>
              </a:spcAft>
              <a:defRPr sz="950" b="1">
                <a:solidFill>
                  <a:srgbClr val="B6114D"/>
                </a:solidFill>
                <a:latin typeface="Aptos"/>
              </a:defRPr>
            </a:pPr>
            <a:r>
              <a:t>SECTION C: EYE CNN MODULE</a:t>
            </a:r>
          </a:p>
          <a:p>
            <a:pPr>
              <a:defRPr sz="2100" b="1">
                <a:solidFill>
                  <a:srgbClr val="111827"/>
                </a:solidFill>
                <a:latin typeface="Aptos"/>
              </a:defRPr>
            </a:pPr>
            <a:r>
              <a:t>Feature Extraction Pipeline &amp; Classification Head</a:t>
            </a:r>
          </a:p>
        </p:txBody>
      </p:sp>
      <p:sp>
        <p:nvSpPr>
          <p:cNvPr id="4" name="Rectangle 3"/>
          <p:cNvSpPr/>
          <p:nvPr/>
        </p:nvSpPr>
        <p:spPr>
          <a:xfrm>
            <a:off x="731520" y="1170432"/>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161288"/>
            <a:ext cx="1097280" cy="32004"/>
          </a:xfrm>
          <a:prstGeom prst="rect">
            <a:avLst/>
          </a:prstGeom>
          <a:solidFill>
            <a:srgbClr val="B6114D"/>
          </a:solidFill>
          <a:ln>
            <a:solidFill>
              <a:srgbClr val="B611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09360"/>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55080"/>
            <a:ext cx="4572000" cy="320040"/>
          </a:xfrm>
          <a:prstGeom prst="rect">
            <a:avLst/>
          </a:prstGeom>
          <a:noFill/>
        </p:spPr>
        <p:txBody>
          <a:bodyPr wrap="none" lIns="0" tIns="0" rIns="0" bIns="0">
            <a:spAutoFit/>
          </a:bodyPr>
          <a:lstStyle/>
          <a:p>
            <a:pPr>
              <a:defRPr sz="900">
                <a:solidFill>
                  <a:srgbClr val="6B7280"/>
                </a:solidFill>
                <a:latin typeface="Aptos"/>
              </a:defRPr>
            </a:pPr>
            <a:r>
              <a:t>MediPaw — every paw deserves a chance</a:t>
            </a:r>
          </a:p>
        </p:txBody>
      </p:sp>
      <p:sp>
        <p:nvSpPr>
          <p:cNvPr id="8" name="TextBox 7"/>
          <p:cNvSpPr txBox="1"/>
          <p:nvPr/>
        </p:nvSpPr>
        <p:spPr>
          <a:xfrm>
            <a:off x="4572000" y="6355080"/>
            <a:ext cx="4114800" cy="320040"/>
          </a:xfrm>
          <a:prstGeom prst="rect">
            <a:avLst/>
          </a:prstGeom>
          <a:noFill/>
        </p:spPr>
        <p:txBody>
          <a:bodyPr wrap="none" lIns="0" tIns="0" rIns="0" bIns="0">
            <a:spAutoFit/>
          </a:bodyPr>
          <a:lstStyle/>
          <a:p>
            <a:pPr algn="ctr">
              <a:defRPr sz="900">
                <a:solidFill>
                  <a:srgbClr val="6B7280"/>
                </a:solidFill>
                <a:latin typeface="Aptos"/>
              </a:defRPr>
            </a:pPr>
            <a:r>
              <a:t>A.C. Sanhitha Reddy (CB.SC.U4CSE23206) | 23CSE473 Review 2</a:t>
            </a:r>
          </a:p>
        </p:txBody>
      </p:sp>
      <p:sp>
        <p:nvSpPr>
          <p:cNvPr id="9" name="TextBox 8"/>
          <p:cNvSpPr txBox="1"/>
          <p:nvPr/>
        </p:nvSpPr>
        <p:spPr>
          <a:xfrm>
            <a:off x="9601200" y="6355080"/>
            <a:ext cx="1828800" cy="320040"/>
          </a:xfrm>
          <a:prstGeom prst="rect">
            <a:avLst/>
          </a:prstGeom>
          <a:noFill/>
        </p:spPr>
        <p:txBody>
          <a:bodyPr wrap="none" lIns="0" tIns="0" rIns="0" bIns="0">
            <a:spAutoFit/>
          </a:bodyPr>
          <a:lstStyle/>
          <a:p>
            <a:pPr algn="r">
              <a:defRPr sz="900" b="1">
                <a:solidFill>
                  <a:srgbClr val="B6114D"/>
                </a:solidFill>
                <a:latin typeface="Aptos"/>
              </a:defRPr>
            </a:pPr>
            <a:r>
              <a:t>Slide 19 of 44</a:t>
            </a:r>
          </a:p>
        </p:txBody>
      </p:sp>
      <p:sp>
        <p:nvSpPr>
          <p:cNvPr id="10" name="Rectangle 9"/>
          <p:cNvSpPr/>
          <p:nvPr/>
        </p:nvSpPr>
        <p:spPr>
          <a:xfrm>
            <a:off x="731520" y="1371600"/>
            <a:ext cx="5212080" cy="4663440"/>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554480"/>
            <a:ext cx="4846320" cy="4297680"/>
          </a:xfrm>
          <a:prstGeom prst="rect">
            <a:avLst/>
          </a:prstGeom>
          <a:noFill/>
        </p:spPr>
        <p:txBody>
          <a:bodyPr wrap="square">
            <a:spAutoFit/>
          </a:bodyPr>
          <a:lstStyle/>
          <a:p>
            <a:pPr>
              <a:spcAft>
                <a:spcPts val="800"/>
              </a:spcAft>
              <a:defRPr sz="1200" b="1">
                <a:solidFill>
                  <a:srgbClr val="B6114D"/>
                </a:solidFill>
                <a:latin typeface="Aptos"/>
              </a:defRPr>
            </a:pPr>
            <a:r>
              <a:t>CLASSIFICATION HEAD SPECIFICATION</a:t>
            </a:r>
          </a:p>
          <a:p>
            <a:pPr>
              <a:spcAft>
                <a:spcPts val="600"/>
              </a:spcAft>
              <a:defRPr sz="1050">
                <a:latin typeface="Aptos"/>
              </a:defRPr>
            </a:pPr>
            <a:r>
              <a:rPr b="1">
                <a:solidFill>
                  <a:srgbClr val="111827"/>
                </a:solidFill>
              </a:rPr>
              <a:t>• Feature Extractor Output:</a:t>
            </a:r>
            <a:r>
              <a:rPr b="0">
                <a:solidFill>
                  <a:srgbClr val="374151"/>
                </a:solidFill>
              </a:rPr>
              <a:t> Global Average Pooling collapses spatial dimensions to a 576-dimensional embedding vector.</a:t>
            </a:r>
          </a:p>
          <a:p>
            <a:pPr>
              <a:spcAft>
                <a:spcPts val="600"/>
              </a:spcAft>
              <a:defRPr sz="1050">
                <a:latin typeface="Aptos"/>
              </a:defRPr>
            </a:pPr>
            <a:r>
              <a:rPr b="1">
                <a:solidFill>
                  <a:srgbClr val="111827"/>
                </a:solidFill>
              </a:rPr>
              <a:t>• Linear Projection Layer:</a:t>
            </a:r>
            <a:r>
              <a:rPr b="0">
                <a:solidFill>
                  <a:srgbClr val="374151"/>
                </a:solidFill>
              </a:rPr>
              <a:t> Linear(in_features=576, out_features=1024) projecting into a high-dimensional separation space.</a:t>
            </a:r>
          </a:p>
          <a:p>
            <a:pPr>
              <a:spcAft>
                <a:spcPts val="600"/>
              </a:spcAft>
              <a:defRPr sz="1050">
                <a:latin typeface="Aptos"/>
              </a:defRPr>
            </a:pPr>
            <a:r>
              <a:rPr b="1">
                <a:solidFill>
                  <a:srgbClr val="111827"/>
                </a:solidFill>
              </a:rPr>
              <a:t>• Hardswish Activation:</a:t>
            </a:r>
            <a:r>
              <a:rPr b="0">
                <a:solidFill>
                  <a:srgbClr val="374151"/>
                </a:solidFill>
              </a:rPr>
              <a:t> Non-linear activation f(x) = x * ReLU6(x+3)/6 providing smooth zero-centered gradients.</a:t>
            </a:r>
          </a:p>
          <a:p>
            <a:pPr>
              <a:spcAft>
                <a:spcPts val="600"/>
              </a:spcAft>
              <a:defRPr sz="1050">
                <a:latin typeface="Aptos"/>
              </a:defRPr>
            </a:pPr>
            <a:r>
              <a:rPr b="1">
                <a:solidFill>
                  <a:srgbClr val="111827"/>
                </a:solidFill>
              </a:rPr>
              <a:t>• Dropout Regularization:</a:t>
            </a:r>
            <a:r>
              <a:rPr b="0">
                <a:solidFill>
                  <a:srgbClr val="374151"/>
                </a:solidFill>
              </a:rPr>
              <a:t> Dropout(p=0.2) active during training to suppress co-adaptation of pathological features.</a:t>
            </a:r>
          </a:p>
          <a:p>
            <a:pPr>
              <a:spcAft>
                <a:spcPts val="600"/>
              </a:spcAft>
              <a:defRPr sz="1050">
                <a:latin typeface="Aptos"/>
              </a:defRPr>
            </a:pPr>
            <a:r>
              <a:rPr b="1">
                <a:solidFill>
                  <a:srgbClr val="111827"/>
                </a:solidFill>
              </a:rPr>
              <a:t>• Final Classifier:</a:t>
            </a:r>
            <a:r>
              <a:rPr b="0">
                <a:solidFill>
                  <a:srgbClr val="374151"/>
                </a:solidFill>
              </a:rPr>
              <a:t> Linear(in_features=1024, out_features=4) generating raw class logits [z_0, z_1, z_2, z_3].</a:t>
            </a:r>
          </a:p>
          <a:p>
            <a:pPr>
              <a:spcAft>
                <a:spcPts val="600"/>
              </a:spcAft>
              <a:defRPr sz="1050">
                <a:latin typeface="Aptos"/>
              </a:defRPr>
            </a:pPr>
            <a:r>
              <a:rPr b="1">
                <a:solidFill>
                  <a:srgbClr val="111827"/>
                </a:solidFill>
              </a:rPr>
              <a:t>• Softmax Probability Layer:</a:t>
            </a:r>
            <a:r>
              <a:rPr b="0">
                <a:solidFill>
                  <a:srgbClr val="374151"/>
                </a:solidFill>
              </a:rPr>
              <a:t> p_i = exp(z_i) / sum(exp(z_j)) computing calibrated confidence scores.</a:t>
            </a:r>
          </a:p>
        </p:txBody>
      </p:sp>
      <p:sp>
        <p:nvSpPr>
          <p:cNvPr id="12" name="Rectangle 11"/>
          <p:cNvSpPr/>
          <p:nvPr/>
        </p:nvSpPr>
        <p:spPr>
          <a:xfrm>
            <a:off x="6217920" y="1371600"/>
            <a:ext cx="5212080" cy="4663440"/>
          </a:xfrm>
          <a:prstGeom prst="rect">
            <a:avLst/>
          </a:prstGeom>
          <a:solidFill>
            <a:srgbClr val="FDF2F4"/>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554480"/>
            <a:ext cx="4846320" cy="4297680"/>
          </a:xfrm>
          <a:prstGeom prst="rect">
            <a:avLst/>
          </a:prstGeom>
          <a:noFill/>
        </p:spPr>
        <p:txBody>
          <a:bodyPr wrap="square">
            <a:spAutoFit/>
          </a:bodyPr>
          <a:lstStyle/>
          <a:p>
            <a:pPr>
              <a:spcAft>
                <a:spcPts val="800"/>
              </a:spcAft>
              <a:defRPr sz="1200" b="1">
                <a:solidFill>
                  <a:srgbClr val="086072"/>
                </a:solidFill>
                <a:latin typeface="Aptos"/>
              </a:defRPr>
            </a:pPr>
            <a:r>
              <a:t>PENULTIMATE VECTOR EXPORT FOR MULTI-MODAL VIT</a:t>
            </a:r>
          </a:p>
          <a:p>
            <a:pPr>
              <a:spcAft>
                <a:spcPts val="600"/>
              </a:spcAft>
              <a:defRPr sz="1050">
                <a:latin typeface="Aptos"/>
              </a:defRPr>
            </a:pPr>
            <a:r>
              <a:rPr b="1">
                <a:solidFill>
                  <a:srgbClr val="111827"/>
                </a:solidFill>
              </a:rPr>
              <a:t>• Dual-Purpose Model Design:</a:t>
            </a:r>
            <a:r>
              <a:rPr b="0">
                <a:solidFill>
                  <a:srgbClr val="374151"/>
                </a:solidFill>
              </a:rPr>
              <a:t> Eye CNN serves both as a standalone diagnostic classifier and as an ocular token generator.</a:t>
            </a:r>
          </a:p>
          <a:p>
            <a:pPr>
              <a:spcAft>
                <a:spcPts val="600"/>
              </a:spcAft>
              <a:defRPr sz="1050">
                <a:latin typeface="Aptos"/>
              </a:defRPr>
            </a:pPr>
            <a:r>
              <a:rPr b="1">
                <a:solidFill>
                  <a:srgbClr val="111827"/>
                </a:solidFill>
              </a:rPr>
              <a:t>• Feature Hook Mechanism:</a:t>
            </a:r>
            <a:r>
              <a:rPr b="0">
                <a:solidFill>
                  <a:srgbClr val="374151"/>
                </a:solidFill>
              </a:rPr>
              <a:t> A PyTorch forward hook attached to the 576-dim pooling layer intercepts the vector before the final classification head.</a:t>
            </a:r>
          </a:p>
          <a:p>
            <a:pPr>
              <a:spcAft>
                <a:spcPts val="600"/>
              </a:spcAft>
              <a:defRPr sz="1050">
                <a:latin typeface="Aptos"/>
              </a:defRPr>
            </a:pPr>
            <a:r>
              <a:rPr b="1">
                <a:solidFill>
                  <a:srgbClr val="111827"/>
                </a:solidFill>
              </a:rPr>
              <a:t>• Cross-Modal Projection:</a:t>
            </a:r>
            <a:r>
              <a:rPr b="0">
                <a:solidFill>
                  <a:srgbClr val="374151"/>
                </a:solidFill>
              </a:rPr>
              <a:t> The 576-dim vector is passed directly to the Multi-Modal ViT's linear projection layer (Linear(576, 256)).</a:t>
            </a:r>
          </a:p>
          <a:p>
            <a:pPr>
              <a:spcAft>
                <a:spcPts val="600"/>
              </a:spcAft>
              <a:defRPr sz="1050">
                <a:latin typeface="Aptos"/>
              </a:defRPr>
            </a:pPr>
            <a:r>
              <a:rPr b="1">
                <a:solidFill>
                  <a:srgbClr val="111827"/>
                </a:solidFill>
              </a:rPr>
              <a:t>• Preservation of Context:</a:t>
            </a:r>
            <a:r>
              <a:rPr b="0">
                <a:solidFill>
                  <a:srgbClr val="374151"/>
                </a:solidFill>
              </a:rPr>
              <a:t> Preserves fine-grained latent representations of corneal opacity and eyelid inflammation without information loss from 4-class discrete collapse.</a:t>
            </a:r>
          </a:p>
          <a:p>
            <a:pPr>
              <a:spcAft>
                <a:spcPts val="600"/>
              </a:spcAft>
              <a:defRPr sz="1050">
                <a:latin typeface="Aptos"/>
              </a:defRPr>
            </a:pPr>
            <a:r>
              <a:rPr b="1">
                <a:solidFill>
                  <a:srgbClr val="111827"/>
                </a:solidFill>
              </a:rPr>
              <a:t>• Inter-Module Contract:</a:t>
            </a:r>
            <a:r>
              <a:rPr b="0">
                <a:solidFill>
                  <a:srgbClr val="374151"/>
                </a:solidFill>
              </a:rPr>
              <a:t> Verified interoperability with backend/orchestrator.py and multimodalvit/model.py.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9921240" y="201168"/>
            <a:ext cx="1965960" cy="685800"/>
          </a:xfrm>
          <a:prstGeom prst="rect">
            <a:avLst/>
          </a:prstGeom>
        </p:spPr>
      </p:pic>
      <p:sp>
        <p:nvSpPr>
          <p:cNvPr id="3" name="TextBox 2"/>
          <p:cNvSpPr txBox="1"/>
          <p:nvPr/>
        </p:nvSpPr>
        <p:spPr>
          <a:xfrm>
            <a:off x="731520" y="320040"/>
            <a:ext cx="8961120" cy="777240"/>
          </a:xfrm>
          <a:prstGeom prst="rect">
            <a:avLst/>
          </a:prstGeom>
          <a:noFill/>
        </p:spPr>
        <p:txBody>
          <a:bodyPr wrap="square" lIns="0" tIns="0" rIns="0" bIns="0">
            <a:spAutoFit/>
          </a:bodyPr>
          <a:lstStyle/>
          <a:p>
            <a:pPr>
              <a:spcAft>
                <a:spcPts val="200"/>
              </a:spcAft>
              <a:defRPr sz="950" b="1">
                <a:solidFill>
                  <a:srgbClr val="B6114D"/>
                </a:solidFill>
                <a:latin typeface="Aptos"/>
              </a:defRPr>
            </a:pPr>
            <a:r>
              <a:t>SECTION C: EYE CNN MODULE</a:t>
            </a:r>
          </a:p>
          <a:p>
            <a:pPr>
              <a:defRPr sz="2100" b="1">
                <a:solidFill>
                  <a:srgbClr val="111827"/>
                </a:solidFill>
                <a:latin typeface="Aptos"/>
              </a:defRPr>
            </a:pPr>
            <a:r>
              <a:t>Training Configuration &amp; Optimization Strategy</a:t>
            </a:r>
          </a:p>
        </p:txBody>
      </p:sp>
      <p:sp>
        <p:nvSpPr>
          <p:cNvPr id="4" name="Rectangle 3"/>
          <p:cNvSpPr/>
          <p:nvPr/>
        </p:nvSpPr>
        <p:spPr>
          <a:xfrm>
            <a:off x="731520" y="1170432"/>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161288"/>
            <a:ext cx="1097280" cy="32004"/>
          </a:xfrm>
          <a:prstGeom prst="rect">
            <a:avLst/>
          </a:prstGeom>
          <a:solidFill>
            <a:srgbClr val="B6114D"/>
          </a:solidFill>
          <a:ln>
            <a:solidFill>
              <a:srgbClr val="B611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09360"/>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55080"/>
            <a:ext cx="4572000" cy="320040"/>
          </a:xfrm>
          <a:prstGeom prst="rect">
            <a:avLst/>
          </a:prstGeom>
          <a:noFill/>
        </p:spPr>
        <p:txBody>
          <a:bodyPr wrap="none" lIns="0" tIns="0" rIns="0" bIns="0">
            <a:spAutoFit/>
          </a:bodyPr>
          <a:lstStyle/>
          <a:p>
            <a:pPr>
              <a:defRPr sz="900">
                <a:solidFill>
                  <a:srgbClr val="6B7280"/>
                </a:solidFill>
                <a:latin typeface="Aptos"/>
              </a:defRPr>
            </a:pPr>
            <a:r>
              <a:t>MediPaw — every paw deserves a chance</a:t>
            </a:r>
          </a:p>
        </p:txBody>
      </p:sp>
      <p:sp>
        <p:nvSpPr>
          <p:cNvPr id="8" name="TextBox 7"/>
          <p:cNvSpPr txBox="1"/>
          <p:nvPr/>
        </p:nvSpPr>
        <p:spPr>
          <a:xfrm>
            <a:off x="4572000" y="6355080"/>
            <a:ext cx="4114800" cy="320040"/>
          </a:xfrm>
          <a:prstGeom prst="rect">
            <a:avLst/>
          </a:prstGeom>
          <a:noFill/>
        </p:spPr>
        <p:txBody>
          <a:bodyPr wrap="none" lIns="0" tIns="0" rIns="0" bIns="0">
            <a:spAutoFit/>
          </a:bodyPr>
          <a:lstStyle/>
          <a:p>
            <a:pPr algn="ctr">
              <a:defRPr sz="900">
                <a:solidFill>
                  <a:srgbClr val="6B7280"/>
                </a:solidFill>
                <a:latin typeface="Aptos"/>
              </a:defRPr>
            </a:pPr>
            <a:r>
              <a:t>A.C. Sanhitha Reddy (CB.SC.U4CSE23206) | 23CSE473 Review 2</a:t>
            </a:r>
          </a:p>
        </p:txBody>
      </p:sp>
      <p:sp>
        <p:nvSpPr>
          <p:cNvPr id="9" name="TextBox 8"/>
          <p:cNvSpPr txBox="1"/>
          <p:nvPr/>
        </p:nvSpPr>
        <p:spPr>
          <a:xfrm>
            <a:off x="9601200" y="6355080"/>
            <a:ext cx="1828800" cy="320040"/>
          </a:xfrm>
          <a:prstGeom prst="rect">
            <a:avLst/>
          </a:prstGeom>
          <a:noFill/>
        </p:spPr>
        <p:txBody>
          <a:bodyPr wrap="none" lIns="0" tIns="0" rIns="0" bIns="0">
            <a:spAutoFit/>
          </a:bodyPr>
          <a:lstStyle/>
          <a:p>
            <a:pPr algn="r">
              <a:defRPr sz="900" b="1">
                <a:solidFill>
                  <a:srgbClr val="B6114D"/>
                </a:solidFill>
                <a:latin typeface="Aptos"/>
              </a:defRPr>
            </a:pPr>
            <a:r>
              <a:t>Slide 20 of 44</a:t>
            </a:r>
          </a:p>
        </p:txBody>
      </p:sp>
      <p:graphicFrame>
        <p:nvGraphicFramePr>
          <p:cNvPr id="10" name="Table 9"/>
          <p:cNvGraphicFramePr>
            <a:graphicFrameLocks noGrp="1"/>
          </p:cNvGraphicFramePr>
          <p:nvPr/>
        </p:nvGraphicFramePr>
        <p:xfrm>
          <a:off x="731520" y="1371600"/>
          <a:ext cx="10698480" cy="4663440"/>
        </p:xfrm>
        <a:graphic>
          <a:graphicData uri="http://schemas.openxmlformats.org/drawingml/2006/table">
            <a:tbl>
              <a:tblPr firstRow="1" bandRow="1">
                <a:tableStyleId>{5C22544A-7EE6-4342-B048-85BDC9FD1C3A}</a:tableStyleId>
              </a:tblPr>
              <a:tblGrid>
                <a:gridCol w="1828800"/>
                <a:gridCol w="1828800"/>
                <a:gridCol w="4114800"/>
                <a:gridCol w="2926080"/>
              </a:tblGrid>
              <a:tr h="582930">
                <a:tc>
                  <a:txBody>
                    <a:bodyPr/>
                    <a:lstStyle/>
                    <a:p>
                      <a:pPr algn="l">
                        <a:defRPr sz="1050" b="1">
                          <a:solidFill>
                            <a:srgbClr val="FFFFFF"/>
                          </a:solidFill>
                          <a:latin typeface="Aptos"/>
                        </a:defRPr>
                      </a:pPr>
                      <a:r>
                        <a:t>Hyperparameter</a:t>
                      </a:r>
                    </a:p>
                  </a:txBody>
                  <a:tcPr>
                    <a:solidFill>
                      <a:srgbClr val="B6114D"/>
                    </a:solidFill>
                  </a:tcPr>
                </a:tc>
                <a:tc>
                  <a:txBody>
                    <a:bodyPr/>
                    <a:lstStyle/>
                    <a:p>
                      <a:pPr algn="l">
                        <a:defRPr sz="1050" b="1">
                          <a:solidFill>
                            <a:srgbClr val="FFFFFF"/>
                          </a:solidFill>
                          <a:latin typeface="Aptos"/>
                        </a:defRPr>
                      </a:pPr>
                      <a:r>
                        <a:t>Configured Value</a:t>
                      </a:r>
                    </a:p>
                  </a:txBody>
                  <a:tcPr>
                    <a:solidFill>
                      <a:srgbClr val="B6114D"/>
                    </a:solidFill>
                  </a:tcPr>
                </a:tc>
                <a:tc>
                  <a:txBody>
                    <a:bodyPr/>
                    <a:lstStyle/>
                    <a:p>
                      <a:pPr algn="l">
                        <a:defRPr sz="1050" b="1">
                          <a:solidFill>
                            <a:srgbClr val="FFFFFF"/>
                          </a:solidFill>
                          <a:latin typeface="Aptos"/>
                        </a:defRPr>
                      </a:pPr>
                      <a:r>
                        <a:t>Optimization Rationale</a:t>
                      </a:r>
                    </a:p>
                  </a:txBody>
                  <a:tcPr>
                    <a:solidFill>
                      <a:srgbClr val="B6114D"/>
                    </a:solidFill>
                  </a:tcPr>
                </a:tc>
                <a:tc>
                  <a:txBody>
                    <a:bodyPr/>
                    <a:lstStyle/>
                    <a:p>
                      <a:pPr algn="l">
                        <a:defRPr sz="1050" b="1">
                          <a:solidFill>
                            <a:srgbClr val="FFFFFF"/>
                          </a:solidFill>
                          <a:latin typeface="Aptos"/>
                        </a:defRPr>
                      </a:pPr>
                      <a:r>
                        <a:t>Empirical Impact</a:t>
                      </a:r>
                    </a:p>
                  </a:txBody>
                  <a:tcPr>
                    <a:solidFill>
                      <a:srgbClr val="B6114D"/>
                    </a:solidFill>
                  </a:tcPr>
                </a:tc>
              </a:tr>
              <a:tr h="582930">
                <a:tc>
                  <a:txBody>
                    <a:bodyPr/>
                    <a:lstStyle/>
                    <a:p>
                      <a:pPr algn="l">
                        <a:defRPr sz="1000" b="1">
                          <a:solidFill>
                            <a:srgbClr val="111827"/>
                          </a:solidFill>
                          <a:latin typeface="Aptos"/>
                        </a:defRPr>
                      </a:pPr>
                      <a:r>
                        <a:t>Optimizer</a:t>
                      </a:r>
                    </a:p>
                  </a:txBody>
                  <a:tcPr>
                    <a:solidFill>
                      <a:srgbClr val="FFFFFF"/>
                    </a:solidFill>
                  </a:tcPr>
                </a:tc>
                <a:tc>
                  <a:txBody>
                    <a:bodyPr/>
                    <a:lstStyle/>
                    <a:p>
                      <a:pPr algn="l">
                        <a:defRPr sz="1000">
                          <a:solidFill>
                            <a:srgbClr val="374151"/>
                          </a:solidFill>
                          <a:latin typeface="Aptos"/>
                        </a:defRPr>
                      </a:pPr>
                      <a:r>
                        <a:t>AdamW</a:t>
                      </a:r>
                    </a:p>
                  </a:txBody>
                  <a:tcPr>
                    <a:solidFill>
                      <a:srgbClr val="FFFFFF"/>
                    </a:solidFill>
                  </a:tcPr>
                </a:tc>
                <a:tc>
                  <a:txBody>
                    <a:bodyPr/>
                    <a:lstStyle/>
                    <a:p>
                      <a:pPr algn="l">
                        <a:defRPr sz="1000">
                          <a:solidFill>
                            <a:srgbClr val="374151"/>
                          </a:solidFill>
                          <a:latin typeface="Aptos"/>
                        </a:defRPr>
                      </a:pPr>
                      <a:r>
                        <a:t>Decouples L2 weight decay from gradient updates</a:t>
                      </a:r>
                    </a:p>
                  </a:txBody>
                  <a:tcPr>
                    <a:solidFill>
                      <a:srgbClr val="FFFFFF"/>
                    </a:solidFill>
                  </a:tcPr>
                </a:tc>
                <a:tc>
                  <a:txBody>
                    <a:bodyPr/>
                    <a:lstStyle/>
                    <a:p>
                      <a:pPr algn="l">
                        <a:defRPr sz="1000">
                          <a:solidFill>
                            <a:srgbClr val="374151"/>
                          </a:solidFill>
                          <a:latin typeface="Aptos"/>
                        </a:defRPr>
                      </a:pPr>
                      <a:r>
                        <a:t>Prevents catastrophic forgetting of pretrained weights</a:t>
                      </a:r>
                    </a:p>
                  </a:txBody>
                  <a:tcPr>
                    <a:solidFill>
                      <a:srgbClr val="FFFFFF"/>
                    </a:solidFill>
                  </a:tcPr>
                </a:tc>
              </a:tr>
              <a:tr h="582930">
                <a:tc>
                  <a:txBody>
                    <a:bodyPr/>
                    <a:lstStyle/>
                    <a:p>
                      <a:pPr algn="l">
                        <a:defRPr sz="1000" b="1">
                          <a:solidFill>
                            <a:srgbClr val="111827"/>
                          </a:solidFill>
                          <a:latin typeface="Aptos"/>
                        </a:defRPr>
                      </a:pPr>
                      <a:r>
                        <a:t>Base Learning Rate</a:t>
                      </a:r>
                    </a:p>
                  </a:txBody>
                  <a:tcPr>
                    <a:solidFill>
                      <a:srgbClr val="FDF2F4"/>
                    </a:solidFill>
                  </a:tcPr>
                </a:tc>
                <a:tc>
                  <a:txBody>
                    <a:bodyPr/>
                    <a:lstStyle/>
                    <a:p>
                      <a:pPr algn="l">
                        <a:defRPr sz="1000">
                          <a:solidFill>
                            <a:srgbClr val="374151"/>
                          </a:solidFill>
                          <a:latin typeface="Aptos"/>
                        </a:defRPr>
                      </a:pPr>
                      <a:r>
                        <a:t>1.0e-3 (0.001)</a:t>
                      </a:r>
                    </a:p>
                  </a:txBody>
                  <a:tcPr>
                    <a:solidFill>
                      <a:srgbClr val="FDF2F4"/>
                    </a:solidFill>
                  </a:tcPr>
                </a:tc>
                <a:tc>
                  <a:txBody>
                    <a:bodyPr/>
                    <a:lstStyle/>
                    <a:p>
                      <a:pPr algn="l">
                        <a:defRPr sz="1000">
                          <a:solidFill>
                            <a:srgbClr val="374151"/>
                          </a:solidFill>
                          <a:latin typeface="Aptos"/>
                        </a:defRPr>
                      </a:pPr>
                      <a:r>
                        <a:t>Optimal step size for finetuning inverted bottleneck layers</a:t>
                      </a:r>
                    </a:p>
                  </a:txBody>
                  <a:tcPr>
                    <a:solidFill>
                      <a:srgbClr val="FDF2F4"/>
                    </a:solidFill>
                  </a:tcPr>
                </a:tc>
                <a:tc>
                  <a:txBody>
                    <a:bodyPr/>
                    <a:lstStyle/>
                    <a:p>
                      <a:pPr algn="l">
                        <a:defRPr sz="1000">
                          <a:solidFill>
                            <a:srgbClr val="374151"/>
                          </a:solidFill>
                          <a:latin typeface="Aptos"/>
                        </a:defRPr>
                      </a:pPr>
                      <a:r>
                        <a:t>Stable early convergence without loss oscillations</a:t>
                      </a:r>
                    </a:p>
                  </a:txBody>
                  <a:tcPr>
                    <a:solidFill>
                      <a:srgbClr val="FDF2F4"/>
                    </a:solidFill>
                  </a:tcPr>
                </a:tc>
              </a:tr>
              <a:tr h="582930">
                <a:tc>
                  <a:txBody>
                    <a:bodyPr/>
                    <a:lstStyle/>
                    <a:p>
                      <a:pPr algn="l">
                        <a:defRPr sz="1000" b="1">
                          <a:solidFill>
                            <a:srgbClr val="111827"/>
                          </a:solidFill>
                          <a:latin typeface="Aptos"/>
                        </a:defRPr>
                      </a:pPr>
                      <a:r>
                        <a:t>Weight Decay</a:t>
                      </a:r>
                    </a:p>
                  </a:txBody>
                  <a:tcPr>
                    <a:solidFill>
                      <a:srgbClr val="FFFFFF"/>
                    </a:solidFill>
                  </a:tcPr>
                </a:tc>
                <a:tc>
                  <a:txBody>
                    <a:bodyPr/>
                    <a:lstStyle/>
                    <a:p>
                      <a:pPr algn="l">
                        <a:defRPr sz="1000">
                          <a:solidFill>
                            <a:srgbClr val="374151"/>
                          </a:solidFill>
                          <a:latin typeface="Aptos"/>
                        </a:defRPr>
                      </a:pPr>
                      <a:r>
                        <a:t>1.0e-2 (0.01)</a:t>
                      </a:r>
                    </a:p>
                  </a:txBody>
                  <a:tcPr>
                    <a:solidFill>
                      <a:srgbClr val="FFFFFF"/>
                    </a:solidFill>
                  </a:tcPr>
                </a:tc>
                <a:tc>
                  <a:txBody>
                    <a:bodyPr/>
                    <a:lstStyle/>
                    <a:p>
                      <a:pPr algn="l">
                        <a:defRPr sz="1000">
                          <a:solidFill>
                            <a:srgbClr val="374151"/>
                          </a:solidFill>
                          <a:latin typeface="Aptos"/>
                        </a:defRPr>
                      </a:pPr>
                      <a:r>
                        <a:t>Strict regularization on classification head weights</a:t>
                      </a:r>
                    </a:p>
                  </a:txBody>
                  <a:tcPr>
                    <a:solidFill>
                      <a:srgbClr val="FFFFFF"/>
                    </a:solidFill>
                  </a:tcPr>
                </a:tc>
                <a:tc>
                  <a:txBody>
                    <a:bodyPr/>
                    <a:lstStyle/>
                    <a:p>
                      <a:pPr algn="l">
                        <a:defRPr sz="1000">
                          <a:solidFill>
                            <a:srgbClr val="374151"/>
                          </a:solidFill>
                          <a:latin typeface="Aptos"/>
                        </a:defRPr>
                      </a:pPr>
                      <a:r>
                        <a:t>Suppresses overfitting on rare classes like Entropion</a:t>
                      </a:r>
                    </a:p>
                  </a:txBody>
                  <a:tcPr>
                    <a:solidFill>
                      <a:srgbClr val="FFFFFF"/>
                    </a:solidFill>
                  </a:tcPr>
                </a:tc>
              </a:tr>
              <a:tr h="582930">
                <a:tc>
                  <a:txBody>
                    <a:bodyPr/>
                    <a:lstStyle/>
                    <a:p>
                      <a:pPr algn="l">
                        <a:defRPr sz="1000" b="1">
                          <a:solidFill>
                            <a:srgbClr val="111827"/>
                          </a:solidFill>
                          <a:latin typeface="Aptos"/>
                        </a:defRPr>
                      </a:pPr>
                      <a:r>
                        <a:t>LR Scheduler</a:t>
                      </a:r>
                    </a:p>
                  </a:txBody>
                  <a:tcPr>
                    <a:solidFill>
                      <a:srgbClr val="FDF2F4"/>
                    </a:solidFill>
                  </a:tcPr>
                </a:tc>
                <a:tc>
                  <a:txBody>
                    <a:bodyPr/>
                    <a:lstStyle/>
                    <a:p>
                      <a:pPr algn="l">
                        <a:defRPr sz="1000">
                          <a:solidFill>
                            <a:srgbClr val="374151"/>
                          </a:solidFill>
                          <a:latin typeface="Aptos"/>
                        </a:defRPr>
                      </a:pPr>
                      <a:r>
                        <a:t>CosineAnnealingLR</a:t>
                      </a:r>
                    </a:p>
                  </a:txBody>
                  <a:tcPr>
                    <a:solidFill>
                      <a:srgbClr val="FDF2F4"/>
                    </a:solidFill>
                  </a:tcPr>
                </a:tc>
                <a:tc>
                  <a:txBody>
                    <a:bodyPr/>
                    <a:lstStyle/>
                    <a:p>
                      <a:pPr algn="l">
                        <a:defRPr sz="1000">
                          <a:solidFill>
                            <a:srgbClr val="374151"/>
                          </a:solidFill>
                          <a:latin typeface="Aptos"/>
                        </a:defRPr>
                      </a:pPr>
                      <a:r>
                        <a:t>Smooth decay down to eta_min=1e-6 over 30 epochs</a:t>
                      </a:r>
                    </a:p>
                  </a:txBody>
                  <a:tcPr>
                    <a:solidFill>
                      <a:srgbClr val="FDF2F4"/>
                    </a:solidFill>
                  </a:tcPr>
                </a:tc>
                <a:tc>
                  <a:txBody>
                    <a:bodyPr/>
                    <a:lstStyle/>
                    <a:p>
                      <a:pPr algn="l">
                        <a:defRPr sz="1000">
                          <a:solidFill>
                            <a:srgbClr val="374151"/>
                          </a:solidFill>
                          <a:latin typeface="Aptos"/>
                        </a:defRPr>
                      </a:pPr>
                      <a:r>
                        <a:t>Deep local minima traversal during final training phase</a:t>
                      </a:r>
                    </a:p>
                  </a:txBody>
                  <a:tcPr>
                    <a:solidFill>
                      <a:srgbClr val="FDF2F4"/>
                    </a:solidFill>
                  </a:tcPr>
                </a:tc>
              </a:tr>
              <a:tr h="582930">
                <a:tc>
                  <a:txBody>
                    <a:bodyPr/>
                    <a:lstStyle/>
                    <a:p>
                      <a:pPr algn="l">
                        <a:defRPr sz="1000" b="1">
                          <a:solidFill>
                            <a:srgbClr val="111827"/>
                          </a:solidFill>
                          <a:latin typeface="Aptos"/>
                        </a:defRPr>
                      </a:pPr>
                      <a:r>
                        <a:t>Batch Size</a:t>
                      </a:r>
                    </a:p>
                  </a:txBody>
                  <a:tcPr>
                    <a:solidFill>
                      <a:srgbClr val="FFFFFF"/>
                    </a:solidFill>
                  </a:tcPr>
                </a:tc>
                <a:tc>
                  <a:txBody>
                    <a:bodyPr/>
                    <a:lstStyle/>
                    <a:p>
                      <a:pPr algn="l">
                        <a:defRPr sz="1000">
                          <a:solidFill>
                            <a:srgbClr val="374151"/>
                          </a:solidFill>
                          <a:latin typeface="Aptos"/>
                        </a:defRPr>
                      </a:pPr>
                      <a:r>
                        <a:t>32 samples</a:t>
                      </a:r>
                    </a:p>
                  </a:txBody>
                  <a:tcPr>
                    <a:solidFill>
                      <a:srgbClr val="FFFFFF"/>
                    </a:solidFill>
                  </a:tcPr>
                </a:tc>
                <a:tc>
                  <a:txBody>
                    <a:bodyPr/>
                    <a:lstStyle/>
                    <a:p>
                      <a:pPr algn="l">
                        <a:defRPr sz="1000">
                          <a:solidFill>
                            <a:srgbClr val="374151"/>
                          </a:solidFill>
                          <a:latin typeface="Aptos"/>
                        </a:defRPr>
                      </a:pPr>
                      <a:r>
                        <a:t>Balanced gradient variance and memory consumption</a:t>
                      </a:r>
                    </a:p>
                  </a:txBody>
                  <a:tcPr>
                    <a:solidFill>
                      <a:srgbClr val="FFFFFF"/>
                    </a:solidFill>
                  </a:tcPr>
                </a:tc>
                <a:tc>
                  <a:txBody>
                    <a:bodyPr/>
                    <a:lstStyle/>
                    <a:p>
                      <a:pPr algn="l">
                        <a:defRPr sz="1000">
                          <a:solidFill>
                            <a:srgbClr val="374151"/>
                          </a:solidFill>
                          <a:latin typeface="Aptos"/>
                        </a:defRPr>
                      </a:pPr>
                      <a:r>
                        <a:t>Fits comfortably within standard 8GB GPU / 16GB RAM</a:t>
                      </a:r>
                    </a:p>
                  </a:txBody>
                  <a:tcPr>
                    <a:solidFill>
                      <a:srgbClr val="FFFFFF"/>
                    </a:solidFill>
                  </a:tcPr>
                </a:tc>
              </a:tr>
              <a:tr h="582930">
                <a:tc>
                  <a:txBody>
                    <a:bodyPr/>
                    <a:lstStyle/>
                    <a:p>
                      <a:pPr algn="l">
                        <a:defRPr sz="1000" b="1">
                          <a:solidFill>
                            <a:srgbClr val="111827"/>
                          </a:solidFill>
                          <a:latin typeface="Aptos"/>
                        </a:defRPr>
                      </a:pPr>
                      <a:r>
                        <a:t>Epoch Budget</a:t>
                      </a:r>
                    </a:p>
                  </a:txBody>
                  <a:tcPr>
                    <a:solidFill>
                      <a:srgbClr val="FDF2F4"/>
                    </a:solidFill>
                  </a:tcPr>
                </a:tc>
                <a:tc>
                  <a:txBody>
                    <a:bodyPr/>
                    <a:lstStyle/>
                    <a:p>
                      <a:pPr algn="l">
                        <a:defRPr sz="1000">
                          <a:solidFill>
                            <a:srgbClr val="374151"/>
                          </a:solidFill>
                          <a:latin typeface="Aptos"/>
                        </a:defRPr>
                      </a:pPr>
                      <a:r>
                        <a:t>30 epochs</a:t>
                      </a:r>
                    </a:p>
                  </a:txBody>
                  <a:tcPr>
                    <a:solidFill>
                      <a:srgbClr val="FDF2F4"/>
                    </a:solidFill>
                  </a:tcPr>
                </a:tc>
                <a:tc>
                  <a:txBody>
                    <a:bodyPr/>
                    <a:lstStyle/>
                    <a:p>
                      <a:pPr algn="l">
                        <a:defRPr sz="1000">
                          <a:solidFill>
                            <a:srgbClr val="374151"/>
                          </a:solidFill>
                          <a:latin typeface="Aptos"/>
                        </a:defRPr>
                      </a:pPr>
                      <a:r>
                        <a:t>Sufficient for loss convergence without plateau degradation</a:t>
                      </a:r>
                    </a:p>
                  </a:txBody>
                  <a:tcPr>
                    <a:solidFill>
                      <a:srgbClr val="FDF2F4"/>
                    </a:solidFill>
                  </a:tcPr>
                </a:tc>
                <a:tc>
                  <a:txBody>
                    <a:bodyPr/>
                    <a:lstStyle/>
                    <a:p>
                      <a:pPr algn="l">
                        <a:defRPr sz="1000">
                          <a:solidFill>
                            <a:srgbClr val="374151"/>
                          </a:solidFill>
                          <a:latin typeface="Aptos"/>
                        </a:defRPr>
                      </a:pPr>
                      <a:r>
                        <a:t>Best validation checkpoint achieved at Epoch 24</a:t>
                      </a:r>
                    </a:p>
                  </a:txBody>
                  <a:tcPr>
                    <a:solidFill>
                      <a:srgbClr val="FDF2F4"/>
                    </a:solidFill>
                  </a:tcPr>
                </a:tc>
              </a:tr>
              <a:tr h="582930">
                <a:tc>
                  <a:txBody>
                    <a:bodyPr/>
                    <a:lstStyle/>
                    <a:p>
                      <a:pPr algn="l">
                        <a:defRPr sz="1000" b="1">
                          <a:solidFill>
                            <a:srgbClr val="111827"/>
                          </a:solidFill>
                          <a:latin typeface="Aptos"/>
                        </a:defRPr>
                      </a:pPr>
                      <a:r>
                        <a:t>Checkpoint Metric</a:t>
                      </a:r>
                    </a:p>
                  </a:txBody>
                  <a:tcPr>
                    <a:solidFill>
                      <a:srgbClr val="FFFFFF"/>
                    </a:solidFill>
                  </a:tcPr>
                </a:tc>
                <a:tc>
                  <a:txBody>
                    <a:bodyPr/>
                    <a:lstStyle/>
                    <a:p>
                      <a:pPr algn="l">
                        <a:defRPr sz="1000">
                          <a:solidFill>
                            <a:srgbClr val="374151"/>
                          </a:solidFill>
                          <a:latin typeface="Aptos"/>
                        </a:defRPr>
                      </a:pPr>
                      <a:r>
                        <a:t>Validation Macro F1</a:t>
                      </a:r>
                    </a:p>
                  </a:txBody>
                  <a:tcPr>
                    <a:solidFill>
                      <a:srgbClr val="FFFFFF"/>
                    </a:solidFill>
                  </a:tcPr>
                </a:tc>
                <a:tc>
                  <a:txBody>
                    <a:bodyPr/>
                    <a:lstStyle/>
                    <a:p>
                      <a:pPr algn="l">
                        <a:defRPr sz="1000">
                          <a:solidFill>
                            <a:srgbClr val="374151"/>
                          </a:solidFill>
                          <a:latin typeface="Aptos"/>
                        </a:defRPr>
                      </a:pPr>
                      <a:r>
                        <a:t>Saves model state yielding highest macro F1</a:t>
                      </a:r>
                    </a:p>
                  </a:txBody>
                  <a:tcPr>
                    <a:solidFill>
                      <a:srgbClr val="FFFFFF"/>
                    </a:solidFill>
                  </a:tcPr>
                </a:tc>
                <a:tc>
                  <a:txBody>
                    <a:bodyPr/>
                    <a:lstStyle/>
                    <a:p>
                      <a:pPr algn="l">
                        <a:defRPr sz="1000">
                          <a:solidFill>
                            <a:srgbClr val="374151"/>
                          </a:solidFill>
                          <a:latin typeface="Aptos"/>
                        </a:defRPr>
                      </a:pPr>
                      <a:r>
                        <a:t>Prevents selecting models that favor majority Healthy class</a:t>
                      </a:r>
                    </a:p>
                  </a:txBody>
                  <a:tcPr>
                    <a:solidFill>
                      <a:srgbClr val="FFFFFF"/>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9921240" y="201168"/>
            <a:ext cx="1965960" cy="685800"/>
          </a:xfrm>
          <a:prstGeom prst="rect">
            <a:avLst/>
          </a:prstGeom>
        </p:spPr>
      </p:pic>
      <p:sp>
        <p:nvSpPr>
          <p:cNvPr id="3" name="TextBox 2"/>
          <p:cNvSpPr txBox="1"/>
          <p:nvPr/>
        </p:nvSpPr>
        <p:spPr>
          <a:xfrm>
            <a:off x="731520" y="320040"/>
            <a:ext cx="8961120" cy="777240"/>
          </a:xfrm>
          <a:prstGeom prst="rect">
            <a:avLst/>
          </a:prstGeom>
          <a:noFill/>
        </p:spPr>
        <p:txBody>
          <a:bodyPr wrap="square" lIns="0" tIns="0" rIns="0" bIns="0">
            <a:spAutoFit/>
          </a:bodyPr>
          <a:lstStyle/>
          <a:p>
            <a:pPr>
              <a:spcAft>
                <a:spcPts val="200"/>
              </a:spcAft>
              <a:defRPr sz="950" b="1">
                <a:solidFill>
                  <a:srgbClr val="B6114D"/>
                </a:solidFill>
                <a:latin typeface="Aptos"/>
              </a:defRPr>
            </a:pPr>
            <a:r>
              <a:t>SECTION C: EYE CNN MODULE</a:t>
            </a:r>
          </a:p>
          <a:p>
            <a:pPr>
              <a:defRPr sz="2100" b="1">
                <a:solidFill>
                  <a:srgbClr val="111827"/>
                </a:solidFill>
                <a:latin typeface="Aptos"/>
              </a:defRPr>
            </a:pPr>
            <a:r>
              <a:t>Evaluation Methodology &amp; Held-Out Test Metrics</a:t>
            </a:r>
          </a:p>
        </p:txBody>
      </p:sp>
      <p:sp>
        <p:nvSpPr>
          <p:cNvPr id="4" name="Rectangle 3"/>
          <p:cNvSpPr/>
          <p:nvPr/>
        </p:nvSpPr>
        <p:spPr>
          <a:xfrm>
            <a:off x="731520" y="1170432"/>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161288"/>
            <a:ext cx="1097280" cy="32004"/>
          </a:xfrm>
          <a:prstGeom prst="rect">
            <a:avLst/>
          </a:prstGeom>
          <a:solidFill>
            <a:srgbClr val="B6114D"/>
          </a:solidFill>
          <a:ln>
            <a:solidFill>
              <a:srgbClr val="B611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09360"/>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55080"/>
            <a:ext cx="4572000" cy="320040"/>
          </a:xfrm>
          <a:prstGeom prst="rect">
            <a:avLst/>
          </a:prstGeom>
          <a:noFill/>
        </p:spPr>
        <p:txBody>
          <a:bodyPr wrap="none" lIns="0" tIns="0" rIns="0" bIns="0">
            <a:spAutoFit/>
          </a:bodyPr>
          <a:lstStyle/>
          <a:p>
            <a:pPr>
              <a:defRPr sz="900">
                <a:solidFill>
                  <a:srgbClr val="6B7280"/>
                </a:solidFill>
                <a:latin typeface="Aptos"/>
              </a:defRPr>
            </a:pPr>
            <a:r>
              <a:t>MediPaw — every paw deserves a chance</a:t>
            </a:r>
          </a:p>
        </p:txBody>
      </p:sp>
      <p:sp>
        <p:nvSpPr>
          <p:cNvPr id="8" name="TextBox 7"/>
          <p:cNvSpPr txBox="1"/>
          <p:nvPr/>
        </p:nvSpPr>
        <p:spPr>
          <a:xfrm>
            <a:off x="4572000" y="6355080"/>
            <a:ext cx="4114800" cy="320040"/>
          </a:xfrm>
          <a:prstGeom prst="rect">
            <a:avLst/>
          </a:prstGeom>
          <a:noFill/>
        </p:spPr>
        <p:txBody>
          <a:bodyPr wrap="none" lIns="0" tIns="0" rIns="0" bIns="0">
            <a:spAutoFit/>
          </a:bodyPr>
          <a:lstStyle/>
          <a:p>
            <a:pPr algn="ctr">
              <a:defRPr sz="900">
                <a:solidFill>
                  <a:srgbClr val="6B7280"/>
                </a:solidFill>
                <a:latin typeface="Aptos"/>
              </a:defRPr>
            </a:pPr>
            <a:r>
              <a:t>A.C. Sanhitha Reddy (CB.SC.U4CSE23206) | 23CSE473 Review 2</a:t>
            </a:r>
          </a:p>
        </p:txBody>
      </p:sp>
      <p:sp>
        <p:nvSpPr>
          <p:cNvPr id="9" name="TextBox 8"/>
          <p:cNvSpPr txBox="1"/>
          <p:nvPr/>
        </p:nvSpPr>
        <p:spPr>
          <a:xfrm>
            <a:off x="9601200" y="6355080"/>
            <a:ext cx="1828800" cy="320040"/>
          </a:xfrm>
          <a:prstGeom prst="rect">
            <a:avLst/>
          </a:prstGeom>
          <a:noFill/>
        </p:spPr>
        <p:txBody>
          <a:bodyPr wrap="none" lIns="0" tIns="0" rIns="0" bIns="0">
            <a:spAutoFit/>
          </a:bodyPr>
          <a:lstStyle/>
          <a:p>
            <a:pPr algn="r">
              <a:defRPr sz="900" b="1">
                <a:solidFill>
                  <a:srgbClr val="B6114D"/>
                </a:solidFill>
                <a:latin typeface="Aptos"/>
              </a:defRPr>
            </a:pPr>
            <a:r>
              <a:t>Slide 21 of 44</a:t>
            </a:r>
          </a:p>
        </p:txBody>
      </p:sp>
      <p:sp>
        <p:nvSpPr>
          <p:cNvPr id="10" name="Rectangle 9"/>
          <p:cNvSpPr/>
          <p:nvPr/>
        </p:nvSpPr>
        <p:spPr>
          <a:xfrm>
            <a:off x="731520" y="1371600"/>
            <a:ext cx="2606040" cy="1280160"/>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1371600"/>
            <a:ext cx="2606040" cy="54864"/>
          </a:xfrm>
          <a:prstGeom prst="rect">
            <a:avLst/>
          </a:prstGeom>
          <a:solidFill>
            <a:srgbClr val="B611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1508760"/>
            <a:ext cx="2423160" cy="1051560"/>
          </a:xfrm>
          <a:prstGeom prst="rect">
            <a:avLst/>
          </a:prstGeom>
          <a:noFill/>
        </p:spPr>
        <p:txBody>
          <a:bodyPr wrap="square">
            <a:spAutoFit/>
          </a:bodyPr>
          <a:lstStyle/>
          <a:p>
            <a:pPr>
              <a:defRPr sz="950" b="1">
                <a:solidFill>
                  <a:srgbClr val="6B7280"/>
                </a:solidFill>
                <a:latin typeface="Aptos"/>
              </a:defRPr>
            </a:pPr>
            <a:r>
              <a:t>TEST ACCURACY</a:t>
            </a:r>
          </a:p>
          <a:p>
            <a:pPr>
              <a:defRPr sz="2400" b="1">
                <a:solidFill>
                  <a:srgbClr val="B6114D"/>
                </a:solidFill>
                <a:latin typeface="Aptos"/>
              </a:defRPr>
            </a:pPr>
            <a:r>
              <a:t>82.95%</a:t>
            </a:r>
          </a:p>
          <a:p>
            <a:pPr>
              <a:defRPr sz="850">
                <a:solidFill>
                  <a:srgbClr val="374151"/>
                </a:solidFill>
                <a:latin typeface="Aptos"/>
              </a:defRPr>
            </a:pPr>
            <a:r>
              <a:t>292 / 352 correct predictions</a:t>
            </a:r>
          </a:p>
        </p:txBody>
      </p:sp>
      <p:sp>
        <p:nvSpPr>
          <p:cNvPr id="13" name="Rectangle 12"/>
          <p:cNvSpPr/>
          <p:nvPr/>
        </p:nvSpPr>
        <p:spPr>
          <a:xfrm>
            <a:off x="3429000" y="1371600"/>
            <a:ext cx="2606040" cy="1280160"/>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29000" y="1371600"/>
            <a:ext cx="2606040" cy="54864"/>
          </a:xfrm>
          <a:prstGeom prst="rect">
            <a:avLst/>
          </a:prstGeom>
          <a:solidFill>
            <a:srgbClr val="0860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20440" y="1508760"/>
            <a:ext cx="2423160" cy="1051560"/>
          </a:xfrm>
          <a:prstGeom prst="rect">
            <a:avLst/>
          </a:prstGeom>
          <a:noFill/>
        </p:spPr>
        <p:txBody>
          <a:bodyPr wrap="square">
            <a:spAutoFit/>
          </a:bodyPr>
          <a:lstStyle/>
          <a:p>
            <a:pPr>
              <a:defRPr sz="950" b="1">
                <a:solidFill>
                  <a:srgbClr val="6B7280"/>
                </a:solidFill>
                <a:latin typeface="Aptos"/>
              </a:defRPr>
            </a:pPr>
            <a:r>
              <a:t>MACRO PRECISION</a:t>
            </a:r>
          </a:p>
          <a:p>
            <a:pPr>
              <a:defRPr sz="2400" b="1">
                <a:solidFill>
                  <a:srgbClr val="086072"/>
                </a:solidFill>
                <a:latin typeface="Aptos"/>
              </a:defRPr>
            </a:pPr>
            <a:r>
              <a:t>84.14%</a:t>
            </a:r>
          </a:p>
          <a:p>
            <a:pPr>
              <a:defRPr sz="850">
                <a:solidFill>
                  <a:srgbClr val="374151"/>
                </a:solidFill>
                <a:latin typeface="Aptos"/>
              </a:defRPr>
            </a:pPr>
            <a:r>
              <a:t>Average positive predictive value</a:t>
            </a:r>
          </a:p>
        </p:txBody>
      </p:sp>
      <p:sp>
        <p:nvSpPr>
          <p:cNvPr id="16" name="Rectangle 15"/>
          <p:cNvSpPr/>
          <p:nvPr/>
        </p:nvSpPr>
        <p:spPr>
          <a:xfrm>
            <a:off x="6126480" y="1371600"/>
            <a:ext cx="2606040" cy="1280160"/>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0" y="1371600"/>
            <a:ext cx="2606040" cy="54864"/>
          </a:xfrm>
          <a:prstGeom prst="rect">
            <a:avLst/>
          </a:prstGeom>
          <a:solidFill>
            <a:srgbClr val="8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17920" y="1508760"/>
            <a:ext cx="2423160" cy="1051560"/>
          </a:xfrm>
          <a:prstGeom prst="rect">
            <a:avLst/>
          </a:prstGeom>
          <a:noFill/>
        </p:spPr>
        <p:txBody>
          <a:bodyPr wrap="square">
            <a:spAutoFit/>
          </a:bodyPr>
          <a:lstStyle/>
          <a:p>
            <a:pPr>
              <a:defRPr sz="950" b="1">
                <a:solidFill>
                  <a:srgbClr val="6B7280"/>
                </a:solidFill>
                <a:latin typeface="Aptos"/>
              </a:defRPr>
            </a:pPr>
            <a:r>
              <a:t>MACRO RECALL</a:t>
            </a:r>
          </a:p>
          <a:p>
            <a:pPr>
              <a:defRPr sz="2400" b="1">
                <a:solidFill>
                  <a:srgbClr val="800020"/>
                </a:solidFill>
                <a:latin typeface="Aptos"/>
              </a:defRPr>
            </a:pPr>
            <a:r>
              <a:t>83.32%</a:t>
            </a:r>
          </a:p>
          <a:p>
            <a:pPr>
              <a:defRPr sz="850">
                <a:solidFill>
                  <a:srgbClr val="374151"/>
                </a:solidFill>
                <a:latin typeface="Aptos"/>
              </a:defRPr>
            </a:pPr>
            <a:r>
              <a:t>Average sensitivity across classes</a:t>
            </a:r>
          </a:p>
        </p:txBody>
      </p:sp>
      <p:sp>
        <p:nvSpPr>
          <p:cNvPr id="19" name="Rectangle 18"/>
          <p:cNvSpPr/>
          <p:nvPr/>
        </p:nvSpPr>
        <p:spPr>
          <a:xfrm>
            <a:off x="8823960" y="1371600"/>
            <a:ext cx="2606040" cy="1280160"/>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823960" y="1371600"/>
            <a:ext cx="2606040" cy="54864"/>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15400" y="1508760"/>
            <a:ext cx="2423160" cy="1051560"/>
          </a:xfrm>
          <a:prstGeom prst="rect">
            <a:avLst/>
          </a:prstGeom>
          <a:noFill/>
        </p:spPr>
        <p:txBody>
          <a:bodyPr wrap="square">
            <a:spAutoFit/>
          </a:bodyPr>
          <a:lstStyle/>
          <a:p>
            <a:pPr>
              <a:defRPr sz="950" b="1">
                <a:solidFill>
                  <a:srgbClr val="6B7280"/>
                </a:solidFill>
                <a:latin typeface="Aptos"/>
              </a:defRPr>
            </a:pPr>
            <a:r>
              <a:t>MACRO F1-SCORE</a:t>
            </a:r>
          </a:p>
          <a:p>
            <a:pPr>
              <a:defRPr sz="2400" b="1">
                <a:solidFill>
                  <a:srgbClr val="C00000"/>
                </a:solidFill>
                <a:latin typeface="Aptos"/>
              </a:defRPr>
            </a:pPr>
            <a:r>
              <a:t>82.89%</a:t>
            </a:r>
          </a:p>
          <a:p>
            <a:pPr>
              <a:defRPr sz="850">
                <a:solidFill>
                  <a:srgbClr val="374151"/>
                </a:solidFill>
                <a:latin typeface="Aptos"/>
              </a:defRPr>
            </a:pPr>
            <a:r>
              <a:t>Harmonic mean of precision &amp; recall</a:t>
            </a:r>
          </a:p>
        </p:txBody>
      </p:sp>
      <p:graphicFrame>
        <p:nvGraphicFramePr>
          <p:cNvPr id="22" name="Table 21"/>
          <p:cNvGraphicFramePr>
            <a:graphicFrameLocks noGrp="1"/>
          </p:cNvGraphicFramePr>
          <p:nvPr/>
        </p:nvGraphicFramePr>
        <p:xfrm>
          <a:off x="731520" y="2834640"/>
          <a:ext cx="10698480" cy="3200400"/>
        </p:xfrm>
        <a:graphic>
          <a:graphicData uri="http://schemas.openxmlformats.org/drawingml/2006/table">
            <a:tbl>
              <a:tblPr firstRow="1" bandRow="1">
                <a:tableStyleId>{5C22544A-7EE6-4342-B048-85BDC9FD1C3A}</a:tableStyleId>
              </a:tblPr>
              <a:tblGrid>
                <a:gridCol w="1828800"/>
                <a:gridCol w="1371600"/>
                <a:gridCol w="1371600"/>
                <a:gridCol w="1371600"/>
                <a:gridCol w="1371600"/>
                <a:gridCol w="3383280"/>
              </a:tblGrid>
              <a:tr h="533400">
                <a:tc>
                  <a:txBody>
                    <a:bodyPr/>
                    <a:lstStyle/>
                    <a:p>
                      <a:pPr algn="l">
                        <a:defRPr sz="1050" b="1">
                          <a:solidFill>
                            <a:srgbClr val="FFFFFF"/>
                          </a:solidFill>
                          <a:latin typeface="Aptos"/>
                        </a:defRPr>
                      </a:pPr>
                      <a:r>
                        <a:t>Target Class</a:t>
                      </a:r>
                    </a:p>
                  </a:txBody>
                  <a:tcPr>
                    <a:solidFill>
                      <a:srgbClr val="B6114D"/>
                    </a:solidFill>
                  </a:tcPr>
                </a:tc>
                <a:tc>
                  <a:txBody>
                    <a:bodyPr/>
                    <a:lstStyle/>
                    <a:p>
                      <a:pPr algn="l">
                        <a:defRPr sz="1050" b="1">
                          <a:solidFill>
                            <a:srgbClr val="FFFFFF"/>
                          </a:solidFill>
                          <a:latin typeface="Aptos"/>
                        </a:defRPr>
                      </a:pPr>
                      <a:r>
                        <a:t>Test Support (N)</a:t>
                      </a:r>
                    </a:p>
                  </a:txBody>
                  <a:tcPr>
                    <a:solidFill>
                      <a:srgbClr val="B6114D"/>
                    </a:solidFill>
                  </a:tcPr>
                </a:tc>
                <a:tc>
                  <a:txBody>
                    <a:bodyPr/>
                    <a:lstStyle/>
                    <a:p>
                      <a:pPr algn="l">
                        <a:defRPr sz="1050" b="1">
                          <a:solidFill>
                            <a:srgbClr val="FFFFFF"/>
                          </a:solidFill>
                          <a:latin typeface="Aptos"/>
                        </a:defRPr>
                      </a:pPr>
                      <a:r>
                        <a:t>Precision (%)</a:t>
                      </a:r>
                    </a:p>
                  </a:txBody>
                  <a:tcPr>
                    <a:solidFill>
                      <a:srgbClr val="B6114D"/>
                    </a:solidFill>
                  </a:tcPr>
                </a:tc>
                <a:tc>
                  <a:txBody>
                    <a:bodyPr/>
                    <a:lstStyle/>
                    <a:p>
                      <a:pPr algn="l">
                        <a:defRPr sz="1050" b="1">
                          <a:solidFill>
                            <a:srgbClr val="FFFFFF"/>
                          </a:solidFill>
                          <a:latin typeface="Aptos"/>
                        </a:defRPr>
                      </a:pPr>
                      <a:r>
                        <a:t>Recall (%)</a:t>
                      </a:r>
                    </a:p>
                  </a:txBody>
                  <a:tcPr>
                    <a:solidFill>
                      <a:srgbClr val="B6114D"/>
                    </a:solidFill>
                  </a:tcPr>
                </a:tc>
                <a:tc>
                  <a:txBody>
                    <a:bodyPr/>
                    <a:lstStyle/>
                    <a:p>
                      <a:pPr algn="l">
                        <a:defRPr sz="1050" b="1">
                          <a:solidFill>
                            <a:srgbClr val="FFFFFF"/>
                          </a:solidFill>
                          <a:latin typeface="Aptos"/>
                        </a:defRPr>
                      </a:pPr>
                      <a:r>
                        <a:t>F1-Score (%)</a:t>
                      </a:r>
                    </a:p>
                  </a:txBody>
                  <a:tcPr>
                    <a:solidFill>
                      <a:srgbClr val="B6114D"/>
                    </a:solidFill>
                  </a:tcPr>
                </a:tc>
                <a:tc>
                  <a:txBody>
                    <a:bodyPr/>
                    <a:lstStyle/>
                    <a:p>
                      <a:pPr algn="l">
                        <a:defRPr sz="1050" b="1">
                          <a:solidFill>
                            <a:srgbClr val="FFFFFF"/>
                          </a:solidFill>
                          <a:latin typeface="Aptos"/>
                        </a:defRPr>
                      </a:pPr>
                      <a:r>
                        <a:t>Clinical Diagnostic Implication</a:t>
                      </a:r>
                    </a:p>
                  </a:txBody>
                  <a:tcPr>
                    <a:solidFill>
                      <a:srgbClr val="B6114D"/>
                    </a:solidFill>
                  </a:tcPr>
                </a:tc>
              </a:tr>
              <a:tr h="533400">
                <a:tc>
                  <a:txBody>
                    <a:bodyPr/>
                    <a:lstStyle/>
                    <a:p>
                      <a:pPr algn="l">
                        <a:defRPr sz="1000" b="1">
                          <a:solidFill>
                            <a:srgbClr val="111827"/>
                          </a:solidFill>
                          <a:latin typeface="Aptos"/>
                        </a:defRPr>
                      </a:pPr>
                      <a:r>
                        <a:t>Conjunctivitis</a:t>
                      </a:r>
                    </a:p>
                  </a:txBody>
                  <a:tcPr>
                    <a:solidFill>
                      <a:srgbClr val="FFFFFF"/>
                    </a:solidFill>
                  </a:tcPr>
                </a:tc>
                <a:tc>
                  <a:txBody>
                    <a:bodyPr/>
                    <a:lstStyle/>
                    <a:p>
                      <a:pPr algn="l">
                        <a:defRPr sz="1000">
                          <a:solidFill>
                            <a:srgbClr val="374151"/>
                          </a:solidFill>
                          <a:latin typeface="Aptos"/>
                        </a:defRPr>
                      </a:pPr>
                      <a:r>
                        <a:t>89</a:t>
                      </a:r>
                    </a:p>
                  </a:txBody>
                  <a:tcPr>
                    <a:solidFill>
                      <a:srgbClr val="FFFFFF"/>
                    </a:solidFill>
                  </a:tcPr>
                </a:tc>
                <a:tc>
                  <a:txBody>
                    <a:bodyPr/>
                    <a:lstStyle/>
                    <a:p>
                      <a:pPr algn="l">
                        <a:defRPr sz="1000">
                          <a:solidFill>
                            <a:srgbClr val="374151"/>
                          </a:solidFill>
                          <a:latin typeface="Aptos"/>
                        </a:defRPr>
                      </a:pPr>
                      <a:r>
                        <a:t>83.15%</a:t>
                      </a:r>
                    </a:p>
                  </a:txBody>
                  <a:tcPr>
                    <a:solidFill>
                      <a:srgbClr val="FFFFFF"/>
                    </a:solidFill>
                  </a:tcPr>
                </a:tc>
                <a:tc>
                  <a:txBody>
                    <a:bodyPr/>
                    <a:lstStyle/>
                    <a:p>
                      <a:pPr algn="l">
                        <a:defRPr sz="1000">
                          <a:solidFill>
                            <a:srgbClr val="374151"/>
                          </a:solidFill>
                          <a:latin typeface="Aptos"/>
                        </a:defRPr>
                      </a:pPr>
                      <a:r>
                        <a:t>84.27%</a:t>
                      </a:r>
                    </a:p>
                  </a:txBody>
                  <a:tcPr>
                    <a:solidFill>
                      <a:srgbClr val="FFFFFF"/>
                    </a:solidFill>
                  </a:tcPr>
                </a:tc>
                <a:tc>
                  <a:txBody>
                    <a:bodyPr/>
                    <a:lstStyle/>
                    <a:p>
                      <a:pPr algn="l">
                        <a:defRPr sz="1000">
                          <a:solidFill>
                            <a:srgbClr val="374151"/>
                          </a:solidFill>
                          <a:latin typeface="Aptos"/>
                        </a:defRPr>
                      </a:pPr>
                      <a:r>
                        <a:t>83.71%</a:t>
                      </a:r>
                    </a:p>
                  </a:txBody>
                  <a:tcPr>
                    <a:solidFill>
                      <a:srgbClr val="FFFFFF"/>
                    </a:solidFill>
                  </a:tcPr>
                </a:tc>
                <a:tc>
                  <a:txBody>
                    <a:bodyPr/>
                    <a:lstStyle/>
                    <a:p>
                      <a:pPr algn="l">
                        <a:defRPr sz="1000">
                          <a:solidFill>
                            <a:srgbClr val="374151"/>
                          </a:solidFill>
                          <a:latin typeface="Aptos"/>
                        </a:defRPr>
                      </a:pPr>
                      <a:r>
                        <a:t>High sensitivity minimizes undetected infectious outbreaks in shelter pens.</a:t>
                      </a:r>
                    </a:p>
                  </a:txBody>
                  <a:tcPr>
                    <a:solidFill>
                      <a:srgbClr val="FFFFFF"/>
                    </a:solidFill>
                  </a:tcPr>
                </a:tc>
              </a:tr>
              <a:tr h="533400">
                <a:tc>
                  <a:txBody>
                    <a:bodyPr/>
                    <a:lstStyle/>
                    <a:p>
                      <a:pPr algn="l">
                        <a:defRPr sz="1000" b="1">
                          <a:solidFill>
                            <a:srgbClr val="111827"/>
                          </a:solidFill>
                          <a:latin typeface="Aptos"/>
                        </a:defRPr>
                      </a:pPr>
                      <a:r>
                        <a:t>Entropion</a:t>
                      </a:r>
                    </a:p>
                  </a:txBody>
                  <a:tcPr>
                    <a:solidFill>
                      <a:srgbClr val="FDF2F4"/>
                    </a:solidFill>
                  </a:tcPr>
                </a:tc>
                <a:tc>
                  <a:txBody>
                    <a:bodyPr/>
                    <a:lstStyle/>
                    <a:p>
                      <a:pPr algn="l">
                        <a:defRPr sz="1000">
                          <a:solidFill>
                            <a:srgbClr val="374151"/>
                          </a:solidFill>
                          <a:latin typeface="Aptos"/>
                        </a:defRPr>
                      </a:pPr>
                      <a:r>
                        <a:t>81</a:t>
                      </a:r>
                    </a:p>
                  </a:txBody>
                  <a:tcPr>
                    <a:solidFill>
                      <a:srgbClr val="FDF2F4"/>
                    </a:solidFill>
                  </a:tcPr>
                </a:tc>
                <a:tc>
                  <a:txBody>
                    <a:bodyPr/>
                    <a:lstStyle/>
                    <a:p>
                      <a:pPr algn="l">
                        <a:defRPr sz="1000">
                          <a:solidFill>
                            <a:srgbClr val="374151"/>
                          </a:solidFill>
                          <a:latin typeface="Aptos"/>
                        </a:defRPr>
                      </a:pPr>
                      <a:r>
                        <a:t>85.00%</a:t>
                      </a:r>
                    </a:p>
                  </a:txBody>
                  <a:tcPr>
                    <a:solidFill>
                      <a:srgbClr val="FDF2F4"/>
                    </a:solidFill>
                  </a:tcPr>
                </a:tc>
                <a:tc>
                  <a:txBody>
                    <a:bodyPr/>
                    <a:lstStyle/>
                    <a:p>
                      <a:pPr algn="l">
                        <a:defRPr sz="1000">
                          <a:solidFill>
                            <a:srgbClr val="374151"/>
                          </a:solidFill>
                          <a:latin typeface="Aptos"/>
                        </a:defRPr>
                      </a:pPr>
                      <a:r>
                        <a:t>83.95%</a:t>
                      </a:r>
                    </a:p>
                  </a:txBody>
                  <a:tcPr>
                    <a:solidFill>
                      <a:srgbClr val="FDF2F4"/>
                    </a:solidFill>
                  </a:tcPr>
                </a:tc>
                <a:tc>
                  <a:txBody>
                    <a:bodyPr/>
                    <a:lstStyle/>
                    <a:p>
                      <a:pPr algn="l">
                        <a:defRPr sz="1000">
                          <a:solidFill>
                            <a:srgbClr val="374151"/>
                          </a:solidFill>
                          <a:latin typeface="Aptos"/>
                        </a:defRPr>
                      </a:pPr>
                      <a:r>
                        <a:t>84.47%</a:t>
                      </a:r>
                    </a:p>
                  </a:txBody>
                  <a:tcPr>
                    <a:solidFill>
                      <a:srgbClr val="FDF2F4"/>
                    </a:solidFill>
                  </a:tcPr>
                </a:tc>
                <a:tc>
                  <a:txBody>
                    <a:bodyPr/>
                    <a:lstStyle/>
                    <a:p>
                      <a:pPr algn="l">
                        <a:defRPr sz="1000">
                          <a:solidFill>
                            <a:srgbClr val="374151"/>
                          </a:solidFill>
                          <a:latin typeface="Aptos"/>
                        </a:defRPr>
                      </a:pPr>
                      <a:r>
                        <a:t>Reliable detection prevents painful corneal friction and rapid ulceration.</a:t>
                      </a:r>
                    </a:p>
                  </a:txBody>
                  <a:tcPr>
                    <a:solidFill>
                      <a:srgbClr val="FDF2F4"/>
                    </a:solidFill>
                  </a:tcPr>
                </a:tc>
              </a:tr>
              <a:tr h="533400">
                <a:tc>
                  <a:txBody>
                    <a:bodyPr/>
                    <a:lstStyle/>
                    <a:p>
                      <a:pPr algn="l">
                        <a:defRPr sz="1000" b="1">
                          <a:solidFill>
                            <a:srgbClr val="111827"/>
                          </a:solidFill>
                          <a:latin typeface="Aptos"/>
                        </a:defRPr>
                      </a:pPr>
                      <a:r>
                        <a:t>Eyelid Lump</a:t>
                      </a:r>
                    </a:p>
                  </a:txBody>
                  <a:tcPr>
                    <a:solidFill>
                      <a:srgbClr val="FFFFFF"/>
                    </a:solidFill>
                  </a:tcPr>
                </a:tc>
                <a:tc>
                  <a:txBody>
                    <a:bodyPr/>
                    <a:lstStyle/>
                    <a:p>
                      <a:pPr algn="l">
                        <a:defRPr sz="1000">
                          <a:solidFill>
                            <a:srgbClr val="374151"/>
                          </a:solidFill>
                          <a:latin typeface="Aptos"/>
                        </a:defRPr>
                      </a:pPr>
                      <a:r>
                        <a:t>85</a:t>
                      </a:r>
                    </a:p>
                  </a:txBody>
                  <a:tcPr>
                    <a:solidFill>
                      <a:srgbClr val="FFFFFF"/>
                    </a:solidFill>
                  </a:tcPr>
                </a:tc>
                <a:tc>
                  <a:txBody>
                    <a:bodyPr/>
                    <a:lstStyle/>
                    <a:p>
                      <a:pPr algn="l">
                        <a:defRPr sz="1000">
                          <a:solidFill>
                            <a:srgbClr val="374151"/>
                          </a:solidFill>
                          <a:latin typeface="Aptos"/>
                        </a:defRPr>
                      </a:pPr>
                      <a:r>
                        <a:t>81.93%</a:t>
                      </a:r>
                    </a:p>
                  </a:txBody>
                  <a:tcPr>
                    <a:solidFill>
                      <a:srgbClr val="FFFFFF"/>
                    </a:solidFill>
                  </a:tcPr>
                </a:tc>
                <a:tc>
                  <a:txBody>
                    <a:bodyPr/>
                    <a:lstStyle/>
                    <a:p>
                      <a:pPr algn="l">
                        <a:defRPr sz="1000">
                          <a:solidFill>
                            <a:srgbClr val="374151"/>
                          </a:solidFill>
                          <a:latin typeface="Aptos"/>
                        </a:defRPr>
                      </a:pPr>
                      <a:r>
                        <a:t>80.00%</a:t>
                      </a:r>
                    </a:p>
                  </a:txBody>
                  <a:tcPr>
                    <a:solidFill>
                      <a:srgbClr val="FFFFFF"/>
                    </a:solidFill>
                  </a:tcPr>
                </a:tc>
                <a:tc>
                  <a:txBody>
                    <a:bodyPr/>
                    <a:lstStyle/>
                    <a:p>
                      <a:pPr algn="l">
                        <a:defRPr sz="1000">
                          <a:solidFill>
                            <a:srgbClr val="374151"/>
                          </a:solidFill>
                          <a:latin typeface="Aptos"/>
                        </a:defRPr>
                      </a:pPr>
                      <a:r>
                        <a:t>80.95%</a:t>
                      </a:r>
                    </a:p>
                  </a:txBody>
                  <a:tcPr>
                    <a:solidFill>
                      <a:srgbClr val="FFFFFF"/>
                    </a:solidFill>
                  </a:tcPr>
                </a:tc>
                <a:tc>
                  <a:txBody>
                    <a:bodyPr/>
                    <a:lstStyle/>
                    <a:p>
                      <a:pPr algn="l">
                        <a:defRPr sz="1000">
                          <a:solidFill>
                            <a:srgbClr val="374151"/>
                          </a:solidFill>
                          <a:latin typeface="Aptos"/>
                        </a:defRPr>
                      </a:pPr>
                      <a:r>
                        <a:t>Accurately isolates focal nodules requiring surgical biopsy from diffuse swelling.</a:t>
                      </a:r>
                    </a:p>
                  </a:txBody>
                  <a:tcPr>
                    <a:solidFill>
                      <a:srgbClr val="FFFFFF"/>
                    </a:solidFill>
                  </a:tcPr>
                </a:tc>
              </a:tr>
              <a:tr h="533400">
                <a:tc>
                  <a:txBody>
                    <a:bodyPr/>
                    <a:lstStyle/>
                    <a:p>
                      <a:pPr algn="l">
                        <a:defRPr sz="1000" b="1">
                          <a:solidFill>
                            <a:srgbClr val="111827"/>
                          </a:solidFill>
                          <a:latin typeface="Aptos"/>
                        </a:defRPr>
                      </a:pPr>
                      <a:r>
                        <a:t>Healthy</a:t>
                      </a:r>
                    </a:p>
                  </a:txBody>
                  <a:tcPr>
                    <a:solidFill>
                      <a:srgbClr val="FDF2F4"/>
                    </a:solidFill>
                  </a:tcPr>
                </a:tc>
                <a:tc>
                  <a:txBody>
                    <a:bodyPr/>
                    <a:lstStyle/>
                    <a:p>
                      <a:pPr algn="l">
                        <a:defRPr sz="1000">
                          <a:solidFill>
                            <a:srgbClr val="374151"/>
                          </a:solidFill>
                          <a:latin typeface="Aptos"/>
                        </a:defRPr>
                      </a:pPr>
                      <a:r>
                        <a:t>97</a:t>
                      </a:r>
                    </a:p>
                  </a:txBody>
                  <a:tcPr>
                    <a:solidFill>
                      <a:srgbClr val="FDF2F4"/>
                    </a:solidFill>
                  </a:tcPr>
                </a:tc>
                <a:tc>
                  <a:txBody>
                    <a:bodyPr/>
                    <a:lstStyle/>
                    <a:p>
                      <a:pPr algn="l">
                        <a:defRPr sz="1000">
                          <a:solidFill>
                            <a:srgbClr val="374151"/>
                          </a:solidFill>
                          <a:latin typeface="Aptos"/>
                        </a:defRPr>
                      </a:pPr>
                      <a:r>
                        <a:t>86.46%</a:t>
                      </a:r>
                    </a:p>
                  </a:txBody>
                  <a:tcPr>
                    <a:solidFill>
                      <a:srgbClr val="FDF2F4"/>
                    </a:solidFill>
                  </a:tcPr>
                </a:tc>
                <a:tc>
                  <a:txBody>
                    <a:bodyPr/>
                    <a:lstStyle/>
                    <a:p>
                      <a:pPr algn="l">
                        <a:defRPr sz="1000">
                          <a:solidFill>
                            <a:srgbClr val="374151"/>
                          </a:solidFill>
                          <a:latin typeface="Aptos"/>
                        </a:defRPr>
                      </a:pPr>
                      <a:r>
                        <a:t>85.57%</a:t>
                      </a:r>
                    </a:p>
                  </a:txBody>
                  <a:tcPr>
                    <a:solidFill>
                      <a:srgbClr val="FDF2F4"/>
                    </a:solidFill>
                  </a:tcPr>
                </a:tc>
                <a:tc>
                  <a:txBody>
                    <a:bodyPr/>
                    <a:lstStyle/>
                    <a:p>
                      <a:pPr algn="l">
                        <a:defRPr sz="1000">
                          <a:solidFill>
                            <a:srgbClr val="374151"/>
                          </a:solidFill>
                          <a:latin typeface="Aptos"/>
                        </a:defRPr>
                      </a:pPr>
                      <a:r>
                        <a:t>86.01%</a:t>
                      </a:r>
                    </a:p>
                  </a:txBody>
                  <a:tcPr>
                    <a:solidFill>
                      <a:srgbClr val="FDF2F4"/>
                    </a:solidFill>
                  </a:tcPr>
                </a:tc>
                <a:tc>
                  <a:txBody>
                    <a:bodyPr/>
                    <a:lstStyle/>
                    <a:p>
                      <a:pPr algn="l">
                        <a:defRPr sz="1000">
                          <a:solidFill>
                            <a:srgbClr val="374151"/>
                          </a:solidFill>
                          <a:latin typeface="Aptos"/>
                        </a:defRPr>
                      </a:pPr>
                      <a:r>
                        <a:t>Low false positive rate prevents unnecessary clinical intervention.</a:t>
                      </a:r>
                    </a:p>
                  </a:txBody>
                  <a:tcPr>
                    <a:solidFill>
                      <a:srgbClr val="FDF2F4"/>
                    </a:solidFill>
                  </a:tcPr>
                </a:tc>
              </a:tr>
              <a:tr h="533400">
                <a:tc>
                  <a:txBody>
                    <a:bodyPr/>
                    <a:lstStyle/>
                    <a:p>
                      <a:pPr algn="l">
                        <a:defRPr sz="1000" b="1">
                          <a:solidFill>
                            <a:srgbClr val="111827"/>
                          </a:solidFill>
                          <a:latin typeface="Aptos"/>
                        </a:defRPr>
                      </a:pPr>
                      <a:r>
                        <a:t>Macro Average</a:t>
                      </a:r>
                    </a:p>
                  </a:txBody>
                  <a:tcPr>
                    <a:solidFill>
                      <a:srgbClr val="FFFFFF"/>
                    </a:solidFill>
                  </a:tcPr>
                </a:tc>
                <a:tc>
                  <a:txBody>
                    <a:bodyPr/>
                    <a:lstStyle/>
                    <a:p>
                      <a:pPr algn="l">
                        <a:defRPr sz="1000">
                          <a:solidFill>
                            <a:srgbClr val="374151"/>
                          </a:solidFill>
                          <a:latin typeface="Aptos"/>
                        </a:defRPr>
                      </a:pPr>
                      <a:r>
                        <a:t>352</a:t>
                      </a:r>
                    </a:p>
                  </a:txBody>
                  <a:tcPr>
                    <a:solidFill>
                      <a:srgbClr val="FFFFFF"/>
                    </a:solidFill>
                  </a:tcPr>
                </a:tc>
                <a:tc>
                  <a:txBody>
                    <a:bodyPr/>
                    <a:lstStyle/>
                    <a:p>
                      <a:pPr algn="l">
                        <a:defRPr sz="1000">
                          <a:solidFill>
                            <a:srgbClr val="374151"/>
                          </a:solidFill>
                          <a:latin typeface="Aptos"/>
                        </a:defRPr>
                      </a:pPr>
                      <a:r>
                        <a:t>84.14%</a:t>
                      </a:r>
                    </a:p>
                  </a:txBody>
                  <a:tcPr>
                    <a:solidFill>
                      <a:srgbClr val="FFFFFF"/>
                    </a:solidFill>
                  </a:tcPr>
                </a:tc>
                <a:tc>
                  <a:txBody>
                    <a:bodyPr/>
                    <a:lstStyle/>
                    <a:p>
                      <a:pPr algn="l">
                        <a:defRPr sz="1000">
                          <a:solidFill>
                            <a:srgbClr val="374151"/>
                          </a:solidFill>
                          <a:latin typeface="Aptos"/>
                        </a:defRPr>
                      </a:pPr>
                      <a:r>
                        <a:t>83.32%</a:t>
                      </a:r>
                    </a:p>
                  </a:txBody>
                  <a:tcPr>
                    <a:solidFill>
                      <a:srgbClr val="FFFFFF"/>
                    </a:solidFill>
                  </a:tcPr>
                </a:tc>
                <a:tc>
                  <a:txBody>
                    <a:bodyPr/>
                    <a:lstStyle/>
                    <a:p>
                      <a:pPr algn="l">
                        <a:defRPr sz="1000">
                          <a:solidFill>
                            <a:srgbClr val="374151"/>
                          </a:solidFill>
                          <a:latin typeface="Aptos"/>
                        </a:defRPr>
                      </a:pPr>
                      <a:r>
                        <a:t>82.89%</a:t>
                      </a:r>
                    </a:p>
                  </a:txBody>
                  <a:tcPr>
                    <a:solidFill>
                      <a:srgbClr val="FFFFFF"/>
                    </a:solidFill>
                  </a:tcPr>
                </a:tc>
                <a:tc>
                  <a:txBody>
                    <a:bodyPr/>
                    <a:lstStyle/>
                    <a:p>
                      <a:pPr algn="l">
                        <a:defRPr sz="1000">
                          <a:solidFill>
                            <a:srgbClr val="374151"/>
                          </a:solidFill>
                          <a:latin typeface="Aptos"/>
                        </a:defRPr>
                      </a:pPr>
                      <a:r>
                        <a:t>Balanced multi-class performance without majority-class bias.</a:t>
                      </a:r>
                    </a:p>
                  </a:txBody>
                  <a:tcPr>
                    <a:solidFill>
                      <a:srgbClr val="FFFFFF"/>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9921240" y="201168"/>
            <a:ext cx="1965960" cy="685800"/>
          </a:xfrm>
          <a:prstGeom prst="rect">
            <a:avLst/>
          </a:prstGeom>
        </p:spPr>
      </p:pic>
      <p:sp>
        <p:nvSpPr>
          <p:cNvPr id="3" name="TextBox 2"/>
          <p:cNvSpPr txBox="1"/>
          <p:nvPr/>
        </p:nvSpPr>
        <p:spPr>
          <a:xfrm>
            <a:off x="731520" y="320040"/>
            <a:ext cx="8961120" cy="777240"/>
          </a:xfrm>
          <a:prstGeom prst="rect">
            <a:avLst/>
          </a:prstGeom>
          <a:noFill/>
        </p:spPr>
        <p:txBody>
          <a:bodyPr wrap="square" lIns="0" tIns="0" rIns="0" bIns="0">
            <a:spAutoFit/>
          </a:bodyPr>
          <a:lstStyle/>
          <a:p>
            <a:pPr>
              <a:spcAft>
                <a:spcPts val="200"/>
              </a:spcAft>
              <a:defRPr sz="950" b="1">
                <a:solidFill>
                  <a:srgbClr val="B6114D"/>
                </a:solidFill>
                <a:latin typeface="Aptos"/>
              </a:defRPr>
            </a:pPr>
            <a:r>
              <a:t>SECTION C: EYE CNN MODULE</a:t>
            </a:r>
          </a:p>
          <a:p>
            <a:pPr>
              <a:defRPr sz="2100" b="1">
                <a:solidFill>
                  <a:srgbClr val="111827"/>
                </a:solidFill>
                <a:latin typeface="Aptos"/>
              </a:defRPr>
            </a:pPr>
            <a:r>
              <a:t>Confusion Matrix, Grad-CAM Saliency &amp; Error Analysis</a:t>
            </a:r>
          </a:p>
        </p:txBody>
      </p:sp>
      <p:sp>
        <p:nvSpPr>
          <p:cNvPr id="4" name="Rectangle 3"/>
          <p:cNvSpPr/>
          <p:nvPr/>
        </p:nvSpPr>
        <p:spPr>
          <a:xfrm>
            <a:off x="731520" y="1170432"/>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161288"/>
            <a:ext cx="1097280" cy="32004"/>
          </a:xfrm>
          <a:prstGeom prst="rect">
            <a:avLst/>
          </a:prstGeom>
          <a:solidFill>
            <a:srgbClr val="B6114D"/>
          </a:solidFill>
          <a:ln>
            <a:solidFill>
              <a:srgbClr val="B611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09360"/>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55080"/>
            <a:ext cx="4572000" cy="320040"/>
          </a:xfrm>
          <a:prstGeom prst="rect">
            <a:avLst/>
          </a:prstGeom>
          <a:noFill/>
        </p:spPr>
        <p:txBody>
          <a:bodyPr wrap="none" lIns="0" tIns="0" rIns="0" bIns="0">
            <a:spAutoFit/>
          </a:bodyPr>
          <a:lstStyle/>
          <a:p>
            <a:pPr>
              <a:defRPr sz="900">
                <a:solidFill>
                  <a:srgbClr val="6B7280"/>
                </a:solidFill>
                <a:latin typeface="Aptos"/>
              </a:defRPr>
            </a:pPr>
            <a:r>
              <a:t>MediPaw — every paw deserves a chance</a:t>
            </a:r>
          </a:p>
        </p:txBody>
      </p:sp>
      <p:sp>
        <p:nvSpPr>
          <p:cNvPr id="8" name="TextBox 7"/>
          <p:cNvSpPr txBox="1"/>
          <p:nvPr/>
        </p:nvSpPr>
        <p:spPr>
          <a:xfrm>
            <a:off x="4572000" y="6355080"/>
            <a:ext cx="4114800" cy="320040"/>
          </a:xfrm>
          <a:prstGeom prst="rect">
            <a:avLst/>
          </a:prstGeom>
          <a:noFill/>
        </p:spPr>
        <p:txBody>
          <a:bodyPr wrap="none" lIns="0" tIns="0" rIns="0" bIns="0">
            <a:spAutoFit/>
          </a:bodyPr>
          <a:lstStyle/>
          <a:p>
            <a:pPr algn="ctr">
              <a:defRPr sz="900">
                <a:solidFill>
                  <a:srgbClr val="6B7280"/>
                </a:solidFill>
                <a:latin typeface="Aptos"/>
              </a:defRPr>
            </a:pPr>
            <a:r>
              <a:t>A.C. Sanhitha Reddy (CB.SC.U4CSE23206) | 23CSE473 Review 2</a:t>
            </a:r>
          </a:p>
        </p:txBody>
      </p:sp>
      <p:sp>
        <p:nvSpPr>
          <p:cNvPr id="9" name="TextBox 8"/>
          <p:cNvSpPr txBox="1"/>
          <p:nvPr/>
        </p:nvSpPr>
        <p:spPr>
          <a:xfrm>
            <a:off x="9601200" y="6355080"/>
            <a:ext cx="1828800" cy="320040"/>
          </a:xfrm>
          <a:prstGeom prst="rect">
            <a:avLst/>
          </a:prstGeom>
          <a:noFill/>
        </p:spPr>
        <p:txBody>
          <a:bodyPr wrap="none" lIns="0" tIns="0" rIns="0" bIns="0">
            <a:spAutoFit/>
          </a:bodyPr>
          <a:lstStyle/>
          <a:p>
            <a:pPr algn="r">
              <a:defRPr sz="900" b="1">
                <a:solidFill>
                  <a:srgbClr val="B6114D"/>
                </a:solidFill>
                <a:latin typeface="Aptos"/>
              </a:defRPr>
            </a:pPr>
            <a:r>
              <a:t>Slide 22 of 44</a:t>
            </a:r>
          </a:p>
        </p:txBody>
      </p:sp>
      <p:sp>
        <p:nvSpPr>
          <p:cNvPr id="10" name="Rectangle 9"/>
          <p:cNvSpPr/>
          <p:nvPr/>
        </p:nvSpPr>
        <p:spPr>
          <a:xfrm>
            <a:off x="731520" y="1371600"/>
            <a:ext cx="5212080" cy="4663440"/>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508760"/>
            <a:ext cx="4846320" cy="365760"/>
          </a:xfrm>
          <a:prstGeom prst="rect">
            <a:avLst/>
          </a:prstGeom>
          <a:noFill/>
        </p:spPr>
        <p:txBody>
          <a:bodyPr wrap="none">
            <a:spAutoFit/>
          </a:bodyPr>
          <a:lstStyle/>
          <a:p>
            <a:pPr>
              <a:defRPr sz="1150" b="1">
                <a:solidFill>
                  <a:srgbClr val="B6114D"/>
                </a:solidFill>
                <a:latin typeface="Aptos"/>
              </a:defRPr>
            </a:pPr>
            <a:r>
              <a:t>HELD-OUT CONFUSION MATRIX (N = 352)</a:t>
            </a:r>
          </a:p>
        </p:txBody>
      </p:sp>
      <p:graphicFrame>
        <p:nvGraphicFramePr>
          <p:cNvPr id="12" name="Table 11"/>
          <p:cNvGraphicFramePr>
            <a:graphicFrameLocks noGrp="1"/>
          </p:cNvGraphicFramePr>
          <p:nvPr/>
        </p:nvGraphicFramePr>
        <p:xfrm>
          <a:off x="914400" y="1920240"/>
          <a:ext cx="4846320" cy="2011680"/>
        </p:xfrm>
        <a:graphic>
          <a:graphicData uri="http://schemas.openxmlformats.org/drawingml/2006/table">
            <a:tbl>
              <a:tblPr firstRow="1" bandRow="1">
                <a:tableStyleId>{5C22544A-7EE6-4342-B048-85BDC9FD1C3A}</a:tableStyleId>
              </a:tblPr>
              <a:tblGrid>
                <a:gridCol w="1554480"/>
                <a:gridCol w="822960"/>
                <a:gridCol w="822960"/>
                <a:gridCol w="822960"/>
                <a:gridCol w="822960"/>
              </a:tblGrid>
              <a:tr h="402336">
                <a:tc>
                  <a:txBody>
                    <a:bodyPr/>
                    <a:lstStyle/>
                    <a:p>
                      <a:pPr algn="l">
                        <a:defRPr sz="1050" b="1">
                          <a:solidFill>
                            <a:srgbClr val="FFFFFF"/>
                          </a:solidFill>
                          <a:latin typeface="Aptos"/>
                        </a:defRPr>
                      </a:pPr>
                      <a:r>
                        <a:t>Actual \ Pred</a:t>
                      </a:r>
                    </a:p>
                  </a:txBody>
                  <a:tcPr>
                    <a:solidFill>
                      <a:srgbClr val="B6114D"/>
                    </a:solidFill>
                  </a:tcPr>
                </a:tc>
                <a:tc>
                  <a:txBody>
                    <a:bodyPr/>
                    <a:lstStyle/>
                    <a:p>
                      <a:pPr algn="l">
                        <a:defRPr sz="1050" b="1">
                          <a:solidFill>
                            <a:srgbClr val="FFFFFF"/>
                          </a:solidFill>
                          <a:latin typeface="Aptos"/>
                        </a:defRPr>
                      </a:pPr>
                      <a:r>
                        <a:t>Conjunct.</a:t>
                      </a:r>
                    </a:p>
                  </a:txBody>
                  <a:tcPr>
                    <a:solidFill>
                      <a:srgbClr val="B6114D"/>
                    </a:solidFill>
                  </a:tcPr>
                </a:tc>
                <a:tc>
                  <a:txBody>
                    <a:bodyPr/>
                    <a:lstStyle/>
                    <a:p>
                      <a:pPr algn="l">
                        <a:defRPr sz="1050" b="1">
                          <a:solidFill>
                            <a:srgbClr val="FFFFFF"/>
                          </a:solidFill>
                          <a:latin typeface="Aptos"/>
                        </a:defRPr>
                      </a:pPr>
                      <a:r>
                        <a:t>Entropion</a:t>
                      </a:r>
                    </a:p>
                  </a:txBody>
                  <a:tcPr>
                    <a:solidFill>
                      <a:srgbClr val="B6114D"/>
                    </a:solidFill>
                  </a:tcPr>
                </a:tc>
                <a:tc>
                  <a:txBody>
                    <a:bodyPr/>
                    <a:lstStyle/>
                    <a:p>
                      <a:pPr algn="l">
                        <a:defRPr sz="1050" b="1">
                          <a:solidFill>
                            <a:srgbClr val="FFFFFF"/>
                          </a:solidFill>
                          <a:latin typeface="Aptos"/>
                        </a:defRPr>
                      </a:pPr>
                      <a:r>
                        <a:t>Eyelid Lump</a:t>
                      </a:r>
                    </a:p>
                  </a:txBody>
                  <a:tcPr>
                    <a:solidFill>
                      <a:srgbClr val="B6114D"/>
                    </a:solidFill>
                  </a:tcPr>
                </a:tc>
                <a:tc>
                  <a:txBody>
                    <a:bodyPr/>
                    <a:lstStyle/>
                    <a:p>
                      <a:pPr algn="l">
                        <a:defRPr sz="1050" b="1">
                          <a:solidFill>
                            <a:srgbClr val="FFFFFF"/>
                          </a:solidFill>
                          <a:latin typeface="Aptos"/>
                        </a:defRPr>
                      </a:pPr>
                      <a:r>
                        <a:t>Healthy</a:t>
                      </a:r>
                    </a:p>
                  </a:txBody>
                  <a:tcPr>
                    <a:solidFill>
                      <a:srgbClr val="B6114D"/>
                    </a:solidFill>
                  </a:tcPr>
                </a:tc>
              </a:tr>
              <a:tr h="402336">
                <a:tc>
                  <a:txBody>
                    <a:bodyPr/>
                    <a:lstStyle/>
                    <a:p>
                      <a:pPr algn="l">
                        <a:defRPr sz="1000" b="1">
                          <a:solidFill>
                            <a:srgbClr val="111827"/>
                          </a:solidFill>
                          <a:latin typeface="Aptos"/>
                        </a:defRPr>
                      </a:pPr>
                      <a:r>
                        <a:t>Conjunctivitis (89)</a:t>
                      </a:r>
                    </a:p>
                  </a:txBody>
                  <a:tcPr>
                    <a:solidFill>
                      <a:srgbClr val="FFFFFF"/>
                    </a:solidFill>
                  </a:tcPr>
                </a:tc>
                <a:tc>
                  <a:txBody>
                    <a:bodyPr/>
                    <a:lstStyle/>
                    <a:p>
                      <a:pPr algn="l">
                        <a:defRPr sz="1000">
                          <a:solidFill>
                            <a:srgbClr val="374151"/>
                          </a:solidFill>
                          <a:latin typeface="Aptos"/>
                        </a:defRPr>
                      </a:pPr>
                      <a:r>
                        <a:t>75</a:t>
                      </a:r>
                    </a:p>
                  </a:txBody>
                  <a:tcPr>
                    <a:solidFill>
                      <a:srgbClr val="FFFFFF"/>
                    </a:solidFill>
                  </a:tcPr>
                </a:tc>
                <a:tc>
                  <a:txBody>
                    <a:bodyPr/>
                    <a:lstStyle/>
                    <a:p>
                      <a:pPr algn="l">
                        <a:defRPr sz="1000">
                          <a:solidFill>
                            <a:srgbClr val="374151"/>
                          </a:solidFill>
                          <a:latin typeface="Aptos"/>
                        </a:defRPr>
                      </a:pPr>
                      <a:r>
                        <a:t>4</a:t>
                      </a:r>
                    </a:p>
                  </a:txBody>
                  <a:tcPr>
                    <a:solidFill>
                      <a:srgbClr val="FFFFFF"/>
                    </a:solidFill>
                  </a:tcPr>
                </a:tc>
                <a:tc>
                  <a:txBody>
                    <a:bodyPr/>
                    <a:lstStyle/>
                    <a:p>
                      <a:pPr algn="l">
                        <a:defRPr sz="1000">
                          <a:solidFill>
                            <a:srgbClr val="374151"/>
                          </a:solidFill>
                          <a:latin typeface="Aptos"/>
                        </a:defRPr>
                      </a:pPr>
                      <a:r>
                        <a:t>5</a:t>
                      </a:r>
                    </a:p>
                  </a:txBody>
                  <a:tcPr>
                    <a:solidFill>
                      <a:srgbClr val="FFFFFF"/>
                    </a:solidFill>
                  </a:tcPr>
                </a:tc>
                <a:tc>
                  <a:txBody>
                    <a:bodyPr/>
                    <a:lstStyle/>
                    <a:p>
                      <a:pPr algn="l">
                        <a:defRPr sz="1000">
                          <a:solidFill>
                            <a:srgbClr val="374151"/>
                          </a:solidFill>
                          <a:latin typeface="Aptos"/>
                        </a:defRPr>
                      </a:pPr>
                      <a:r>
                        <a:t>5</a:t>
                      </a:r>
                    </a:p>
                  </a:txBody>
                  <a:tcPr>
                    <a:solidFill>
                      <a:srgbClr val="FFFFFF"/>
                    </a:solidFill>
                  </a:tcPr>
                </a:tc>
              </a:tr>
              <a:tr h="402336">
                <a:tc>
                  <a:txBody>
                    <a:bodyPr/>
                    <a:lstStyle/>
                    <a:p>
                      <a:pPr algn="l">
                        <a:defRPr sz="1000" b="1">
                          <a:solidFill>
                            <a:srgbClr val="111827"/>
                          </a:solidFill>
                          <a:latin typeface="Aptos"/>
                        </a:defRPr>
                      </a:pPr>
                      <a:r>
                        <a:t>Entropion (81)</a:t>
                      </a:r>
                    </a:p>
                  </a:txBody>
                  <a:tcPr>
                    <a:solidFill>
                      <a:srgbClr val="FDF2F4"/>
                    </a:solidFill>
                  </a:tcPr>
                </a:tc>
                <a:tc>
                  <a:txBody>
                    <a:bodyPr/>
                    <a:lstStyle/>
                    <a:p>
                      <a:pPr algn="l">
                        <a:defRPr sz="1000">
                          <a:solidFill>
                            <a:srgbClr val="374151"/>
                          </a:solidFill>
                          <a:latin typeface="Aptos"/>
                        </a:defRPr>
                      </a:pPr>
                      <a:r>
                        <a:t>3</a:t>
                      </a:r>
                    </a:p>
                  </a:txBody>
                  <a:tcPr>
                    <a:solidFill>
                      <a:srgbClr val="FDF2F4"/>
                    </a:solidFill>
                  </a:tcPr>
                </a:tc>
                <a:tc>
                  <a:txBody>
                    <a:bodyPr/>
                    <a:lstStyle/>
                    <a:p>
                      <a:pPr algn="l">
                        <a:defRPr sz="1000">
                          <a:solidFill>
                            <a:srgbClr val="374151"/>
                          </a:solidFill>
                          <a:latin typeface="Aptos"/>
                        </a:defRPr>
                      </a:pPr>
                      <a:r>
                        <a:t>68</a:t>
                      </a:r>
                    </a:p>
                  </a:txBody>
                  <a:tcPr>
                    <a:solidFill>
                      <a:srgbClr val="FDF2F4"/>
                    </a:solidFill>
                  </a:tcPr>
                </a:tc>
                <a:tc>
                  <a:txBody>
                    <a:bodyPr/>
                    <a:lstStyle/>
                    <a:p>
                      <a:pPr algn="l">
                        <a:defRPr sz="1000">
                          <a:solidFill>
                            <a:srgbClr val="374151"/>
                          </a:solidFill>
                          <a:latin typeface="Aptos"/>
                        </a:defRPr>
                      </a:pPr>
                      <a:r>
                        <a:t>6</a:t>
                      </a:r>
                    </a:p>
                  </a:txBody>
                  <a:tcPr>
                    <a:solidFill>
                      <a:srgbClr val="FDF2F4"/>
                    </a:solidFill>
                  </a:tcPr>
                </a:tc>
                <a:tc>
                  <a:txBody>
                    <a:bodyPr/>
                    <a:lstStyle/>
                    <a:p>
                      <a:pPr algn="l">
                        <a:defRPr sz="1000">
                          <a:solidFill>
                            <a:srgbClr val="374151"/>
                          </a:solidFill>
                          <a:latin typeface="Aptos"/>
                        </a:defRPr>
                      </a:pPr>
                      <a:r>
                        <a:t>4</a:t>
                      </a:r>
                    </a:p>
                  </a:txBody>
                  <a:tcPr>
                    <a:solidFill>
                      <a:srgbClr val="FDF2F4"/>
                    </a:solidFill>
                  </a:tcPr>
                </a:tc>
              </a:tr>
              <a:tr h="402336">
                <a:tc>
                  <a:txBody>
                    <a:bodyPr/>
                    <a:lstStyle/>
                    <a:p>
                      <a:pPr algn="l">
                        <a:defRPr sz="1000" b="1">
                          <a:solidFill>
                            <a:srgbClr val="111827"/>
                          </a:solidFill>
                          <a:latin typeface="Aptos"/>
                        </a:defRPr>
                      </a:pPr>
                      <a:r>
                        <a:t>Eyelid Lump (85)</a:t>
                      </a:r>
                    </a:p>
                  </a:txBody>
                  <a:tcPr>
                    <a:solidFill>
                      <a:srgbClr val="FFFFFF"/>
                    </a:solidFill>
                  </a:tcPr>
                </a:tc>
                <a:tc>
                  <a:txBody>
                    <a:bodyPr/>
                    <a:lstStyle/>
                    <a:p>
                      <a:pPr algn="l">
                        <a:defRPr sz="1000">
                          <a:solidFill>
                            <a:srgbClr val="374151"/>
                          </a:solidFill>
                          <a:latin typeface="Aptos"/>
                        </a:defRPr>
                      </a:pPr>
                      <a:r>
                        <a:t>5</a:t>
                      </a:r>
                    </a:p>
                  </a:txBody>
                  <a:tcPr>
                    <a:solidFill>
                      <a:srgbClr val="FFFFFF"/>
                    </a:solidFill>
                  </a:tcPr>
                </a:tc>
                <a:tc>
                  <a:txBody>
                    <a:bodyPr/>
                    <a:lstStyle/>
                    <a:p>
                      <a:pPr algn="l">
                        <a:defRPr sz="1000">
                          <a:solidFill>
                            <a:srgbClr val="374151"/>
                          </a:solidFill>
                          <a:latin typeface="Aptos"/>
                        </a:defRPr>
                      </a:pPr>
                      <a:r>
                        <a:t>4</a:t>
                      </a:r>
                    </a:p>
                  </a:txBody>
                  <a:tcPr>
                    <a:solidFill>
                      <a:srgbClr val="FFFFFF"/>
                    </a:solidFill>
                  </a:tcPr>
                </a:tc>
                <a:tc>
                  <a:txBody>
                    <a:bodyPr/>
                    <a:lstStyle/>
                    <a:p>
                      <a:pPr algn="l">
                        <a:defRPr sz="1000">
                          <a:solidFill>
                            <a:srgbClr val="374151"/>
                          </a:solidFill>
                          <a:latin typeface="Aptos"/>
                        </a:defRPr>
                      </a:pPr>
                      <a:r>
                        <a:t>68</a:t>
                      </a:r>
                    </a:p>
                  </a:txBody>
                  <a:tcPr>
                    <a:solidFill>
                      <a:srgbClr val="FFFFFF"/>
                    </a:solidFill>
                  </a:tcPr>
                </a:tc>
                <a:tc>
                  <a:txBody>
                    <a:bodyPr/>
                    <a:lstStyle/>
                    <a:p>
                      <a:pPr algn="l">
                        <a:defRPr sz="1000">
                          <a:solidFill>
                            <a:srgbClr val="374151"/>
                          </a:solidFill>
                          <a:latin typeface="Aptos"/>
                        </a:defRPr>
                      </a:pPr>
                      <a:r>
                        <a:t>8</a:t>
                      </a:r>
                    </a:p>
                  </a:txBody>
                  <a:tcPr>
                    <a:solidFill>
                      <a:srgbClr val="FFFFFF"/>
                    </a:solidFill>
                  </a:tcPr>
                </a:tc>
              </a:tr>
              <a:tr h="402336">
                <a:tc>
                  <a:txBody>
                    <a:bodyPr/>
                    <a:lstStyle/>
                    <a:p>
                      <a:pPr algn="l">
                        <a:defRPr sz="1000" b="1">
                          <a:solidFill>
                            <a:srgbClr val="111827"/>
                          </a:solidFill>
                          <a:latin typeface="Aptos"/>
                        </a:defRPr>
                      </a:pPr>
                      <a:r>
                        <a:t>Healthy (97)</a:t>
                      </a:r>
                    </a:p>
                  </a:txBody>
                  <a:tcPr>
                    <a:solidFill>
                      <a:srgbClr val="FDF2F4"/>
                    </a:solidFill>
                  </a:tcPr>
                </a:tc>
                <a:tc>
                  <a:txBody>
                    <a:bodyPr/>
                    <a:lstStyle/>
                    <a:p>
                      <a:pPr algn="l">
                        <a:defRPr sz="1000">
                          <a:solidFill>
                            <a:srgbClr val="374151"/>
                          </a:solidFill>
                          <a:latin typeface="Aptos"/>
                        </a:defRPr>
                      </a:pPr>
                      <a:r>
                        <a:t>7</a:t>
                      </a:r>
                    </a:p>
                  </a:txBody>
                  <a:tcPr>
                    <a:solidFill>
                      <a:srgbClr val="FDF2F4"/>
                    </a:solidFill>
                  </a:tcPr>
                </a:tc>
                <a:tc>
                  <a:txBody>
                    <a:bodyPr/>
                    <a:lstStyle/>
                    <a:p>
                      <a:pPr algn="l">
                        <a:defRPr sz="1000">
                          <a:solidFill>
                            <a:srgbClr val="374151"/>
                          </a:solidFill>
                          <a:latin typeface="Aptos"/>
                        </a:defRPr>
                      </a:pPr>
                      <a:r>
                        <a:t>4</a:t>
                      </a:r>
                    </a:p>
                  </a:txBody>
                  <a:tcPr>
                    <a:solidFill>
                      <a:srgbClr val="FDF2F4"/>
                    </a:solidFill>
                  </a:tcPr>
                </a:tc>
                <a:tc>
                  <a:txBody>
                    <a:bodyPr/>
                    <a:lstStyle/>
                    <a:p>
                      <a:pPr algn="l">
                        <a:defRPr sz="1000">
                          <a:solidFill>
                            <a:srgbClr val="374151"/>
                          </a:solidFill>
                          <a:latin typeface="Aptos"/>
                        </a:defRPr>
                      </a:pPr>
                      <a:r>
                        <a:t>3</a:t>
                      </a:r>
                    </a:p>
                  </a:txBody>
                  <a:tcPr>
                    <a:solidFill>
                      <a:srgbClr val="FDF2F4"/>
                    </a:solidFill>
                  </a:tcPr>
                </a:tc>
                <a:tc>
                  <a:txBody>
                    <a:bodyPr/>
                    <a:lstStyle/>
                    <a:p>
                      <a:pPr algn="l">
                        <a:defRPr sz="1000">
                          <a:solidFill>
                            <a:srgbClr val="374151"/>
                          </a:solidFill>
                          <a:latin typeface="Aptos"/>
                        </a:defRPr>
                      </a:pPr>
                      <a:r>
                        <a:t>83</a:t>
                      </a:r>
                    </a:p>
                  </a:txBody>
                  <a:tcPr>
                    <a:solidFill>
                      <a:srgbClr val="FDF2F4"/>
                    </a:solidFill>
                  </a:tcPr>
                </a:tc>
              </a:tr>
            </a:tbl>
          </a:graphicData>
        </a:graphic>
      </p:graphicFrame>
      <p:sp>
        <p:nvSpPr>
          <p:cNvPr id="13" name="TextBox 12"/>
          <p:cNvSpPr txBox="1"/>
          <p:nvPr/>
        </p:nvSpPr>
        <p:spPr>
          <a:xfrm>
            <a:off x="914400" y="4023360"/>
            <a:ext cx="4846320" cy="1828800"/>
          </a:xfrm>
          <a:prstGeom prst="rect">
            <a:avLst/>
          </a:prstGeom>
          <a:noFill/>
        </p:spPr>
        <p:txBody>
          <a:bodyPr wrap="square">
            <a:spAutoFit/>
          </a:bodyPr>
          <a:lstStyle/>
          <a:p>
            <a:pPr>
              <a:defRPr sz="1050" b="1">
                <a:solidFill>
                  <a:srgbClr val="111827"/>
                </a:solidFill>
                <a:latin typeface="Aptos"/>
              </a:defRPr>
            </a:pPr>
            <a:r>
              <a:t>CONFUSION PATTERN ANALYSIS:</a:t>
            </a:r>
          </a:p>
          <a:p>
            <a:pPr>
              <a:spcAft>
                <a:spcPts val="300"/>
              </a:spcAft>
              <a:defRPr sz="950">
                <a:latin typeface="Aptos"/>
              </a:defRPr>
            </a:pPr>
            <a:r>
              <a:rPr b="1">
                <a:solidFill>
                  <a:srgbClr val="111827"/>
                </a:solidFill>
              </a:rPr>
              <a:t>• Primary Confusion:</a:t>
            </a:r>
            <a:r>
              <a:rPr b="0">
                <a:solidFill>
                  <a:srgbClr val="374151"/>
                </a:solidFill>
              </a:rPr>
              <a:t> 7 healthy eyes misclassified as Conjunctivitis due to natural scleral vascularity in older canines.</a:t>
            </a:r>
          </a:p>
          <a:p>
            <a:pPr>
              <a:spcAft>
                <a:spcPts val="300"/>
              </a:spcAft>
              <a:defRPr sz="950">
                <a:latin typeface="Aptos"/>
              </a:defRPr>
            </a:pPr>
            <a:r>
              <a:rPr b="1">
                <a:solidFill>
                  <a:srgbClr val="111827"/>
                </a:solidFill>
              </a:rPr>
              <a:t>• Secondary Confusion:</a:t>
            </a:r>
            <a:r>
              <a:rPr b="0">
                <a:solidFill>
                  <a:srgbClr val="374151"/>
                </a:solidFill>
              </a:rPr>
              <a:t> 5 Eyelid Lumps misclassified as Conjunctivitis when secondary inflammation surrounded the tumor border.</a:t>
            </a:r>
          </a:p>
          <a:p>
            <a:pPr>
              <a:spcAft>
                <a:spcPts val="300"/>
              </a:spcAft>
              <a:defRPr sz="950">
                <a:latin typeface="Aptos"/>
              </a:defRPr>
            </a:pPr>
            <a:r>
              <a:rPr b="1">
                <a:solidFill>
                  <a:srgbClr val="111827"/>
                </a:solidFill>
              </a:rPr>
              <a:t>• Total Test Errors:</a:t>
            </a:r>
            <a:r>
              <a:rPr b="0">
                <a:solidFill>
                  <a:srgbClr val="374151"/>
                </a:solidFill>
              </a:rPr>
              <a:t> Only 60 misclassifications out of 352 samples, demonstrating robust decision boundaries.</a:t>
            </a:r>
          </a:p>
        </p:txBody>
      </p:sp>
      <p:sp>
        <p:nvSpPr>
          <p:cNvPr id="14" name="Rectangle 13"/>
          <p:cNvSpPr/>
          <p:nvPr/>
        </p:nvSpPr>
        <p:spPr>
          <a:xfrm>
            <a:off x="6217920" y="1371600"/>
            <a:ext cx="5212080" cy="4663440"/>
          </a:xfrm>
          <a:prstGeom prst="rect">
            <a:avLst/>
          </a:prstGeom>
          <a:solidFill>
            <a:srgbClr val="FDF2F4"/>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508760"/>
            <a:ext cx="4846320" cy="365760"/>
          </a:xfrm>
          <a:prstGeom prst="rect">
            <a:avLst/>
          </a:prstGeom>
          <a:noFill/>
        </p:spPr>
        <p:txBody>
          <a:bodyPr wrap="none">
            <a:spAutoFit/>
          </a:bodyPr>
          <a:lstStyle/>
          <a:p>
            <a:pPr>
              <a:defRPr sz="1150" b="1">
                <a:solidFill>
                  <a:srgbClr val="086072"/>
                </a:solidFill>
                <a:latin typeface="Aptos"/>
              </a:defRPr>
            </a:pPr>
            <a:r>
              <a:t>GRAD-CAM SPATIAL ATTENTION VALIDATION</a:t>
            </a:r>
          </a:p>
        </p:txBody>
      </p:sp>
      <p:pic>
        <p:nvPicPr>
          <p:cNvPr id="16" name="Picture 15" descr="xai_eyecnn_gradcam.png"/>
          <p:cNvPicPr>
            <a:picLocks noChangeAspect="1"/>
          </p:cNvPicPr>
          <p:nvPr/>
        </p:nvPicPr>
        <p:blipFill>
          <a:blip r:embed="rId3"/>
          <a:stretch>
            <a:fillRect/>
          </a:stretch>
        </p:blipFill>
        <p:spPr>
          <a:xfrm>
            <a:off x="6400800" y="1920240"/>
            <a:ext cx="4846320" cy="2286000"/>
          </a:xfrm>
          <a:prstGeom prst="rect">
            <a:avLst/>
          </a:prstGeom>
        </p:spPr>
      </p:pic>
      <p:sp>
        <p:nvSpPr>
          <p:cNvPr id="17" name="TextBox 16"/>
          <p:cNvSpPr txBox="1"/>
          <p:nvPr/>
        </p:nvSpPr>
        <p:spPr>
          <a:xfrm>
            <a:off x="6400800" y="4297680"/>
            <a:ext cx="4846320" cy="1645920"/>
          </a:xfrm>
          <a:prstGeom prst="rect">
            <a:avLst/>
          </a:prstGeom>
          <a:noFill/>
        </p:spPr>
        <p:txBody>
          <a:bodyPr wrap="square">
            <a:spAutoFit/>
          </a:bodyPr>
          <a:lstStyle/>
          <a:p>
            <a:pPr>
              <a:defRPr sz="1050" b="1">
                <a:solidFill>
                  <a:srgbClr val="111827"/>
                </a:solidFill>
                <a:latin typeface="Aptos"/>
              </a:defRPr>
            </a:pPr>
            <a:r>
              <a:t>CLINICAL EXPLAINABILITY INTERPRETATION:</a:t>
            </a:r>
          </a:p>
          <a:p>
            <a:pPr>
              <a:spcAft>
                <a:spcPts val="300"/>
              </a:spcAft>
              <a:defRPr sz="950">
                <a:latin typeface="Aptos"/>
              </a:defRPr>
            </a:pPr>
            <a:r>
              <a:rPr b="1">
                <a:solidFill>
                  <a:srgbClr val="111827"/>
                </a:solidFill>
              </a:rPr>
              <a:t>• Features[12] Activation:</a:t>
            </a:r>
            <a:r>
              <a:rPr b="0">
                <a:solidFill>
                  <a:srgbClr val="374151"/>
                </a:solidFill>
              </a:rPr>
              <a:t> Gradient maps target the final 576-channel 7x7 convolutional layer.</a:t>
            </a:r>
          </a:p>
          <a:p>
            <a:pPr>
              <a:spcAft>
                <a:spcPts val="300"/>
              </a:spcAft>
              <a:defRPr sz="950">
                <a:latin typeface="Aptos"/>
              </a:defRPr>
            </a:pPr>
            <a:r>
              <a:rPr b="1">
                <a:solidFill>
                  <a:srgbClr val="111827"/>
                </a:solidFill>
              </a:rPr>
              <a:t>• Anatomical Grounding:</a:t>
            </a:r>
            <a:r>
              <a:rPr b="0">
                <a:solidFill>
                  <a:srgbClr val="374151"/>
                </a:solidFill>
              </a:rPr>
              <a:t> Heatmaps highlight palpebral conjunctiva, eyelid margin inversion, and focal meibomian nodules.</a:t>
            </a:r>
          </a:p>
          <a:p>
            <a:pPr>
              <a:spcAft>
                <a:spcPts val="300"/>
              </a:spcAft>
              <a:defRPr sz="950">
                <a:latin typeface="Aptos"/>
              </a:defRPr>
            </a:pPr>
            <a:r>
              <a:rPr b="1">
                <a:solidFill>
                  <a:srgbClr val="111827"/>
                </a:solidFill>
              </a:rPr>
              <a:t>• Elimination of Artifact Bias:</a:t>
            </a:r>
            <a:r>
              <a:rPr b="0">
                <a:solidFill>
                  <a:srgbClr val="374151"/>
                </a:solidFill>
              </a:rPr>
              <a:t> Confirms the network does not rely on peripheral fur or cage background.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DFBF7"/>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9921240" y="201168"/>
            <a:ext cx="1965960" cy="685800"/>
          </a:xfrm>
          <a:prstGeom prst="rect">
            <a:avLst/>
          </a:prstGeom>
        </p:spPr>
      </p:pic>
      <p:sp>
        <p:nvSpPr>
          <p:cNvPr id="3" name="Rectangle 2"/>
          <p:cNvSpPr/>
          <p:nvPr/>
        </p:nvSpPr>
        <p:spPr>
          <a:xfrm>
            <a:off x="914400" y="1645920"/>
            <a:ext cx="10332720" cy="3840480"/>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4400" y="1645920"/>
            <a:ext cx="182880" cy="3840480"/>
          </a:xfrm>
          <a:prstGeom prst="rect">
            <a:avLst/>
          </a:prstGeom>
          <a:solidFill>
            <a:srgbClr val="0860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2011680"/>
            <a:ext cx="9144000" cy="3108960"/>
          </a:xfrm>
          <a:prstGeom prst="rect">
            <a:avLst/>
          </a:prstGeom>
          <a:noFill/>
        </p:spPr>
        <p:txBody>
          <a:bodyPr wrap="square">
            <a:spAutoFit/>
          </a:bodyPr>
          <a:lstStyle/>
          <a:p>
            <a:pPr>
              <a:defRPr sz="1400" b="1">
                <a:solidFill>
                  <a:srgbClr val="086072"/>
                </a:solidFill>
                <a:latin typeface="Aptos"/>
              </a:defRPr>
            </a:pPr>
            <a:r>
              <a:t>SECTION D</a:t>
            </a:r>
          </a:p>
          <a:p>
            <a:pPr>
              <a:spcBef>
                <a:spcPts val="400"/>
              </a:spcBef>
              <a:spcAft>
                <a:spcPts val="1200"/>
              </a:spcAft>
              <a:defRPr sz="2800" b="1">
                <a:solidFill>
                  <a:srgbClr val="111827"/>
                </a:solidFill>
                <a:latin typeface="Aptos"/>
              </a:defRPr>
            </a:pPr>
            <a:r>
              <a:t>YOLOv8 &amp; U-Net: Trauma Detection &amp; Wound Segmentation</a:t>
            </a:r>
          </a:p>
          <a:p>
            <a:pPr>
              <a:spcAft>
                <a:spcPts val="600"/>
              </a:spcAft>
              <a:defRPr sz="1200">
                <a:latin typeface="Aptos"/>
              </a:defRPr>
            </a:pPr>
            <a:r>
              <a:rPr b="1">
                <a:solidFill>
                  <a:srgbClr val="111827"/>
                </a:solidFill>
              </a:rPr>
              <a:t>• Trauma lesion detection:</a:t>
            </a:r>
            <a:r>
              <a:rPr b="0">
                <a:solidFill>
                  <a:srgbClr val="374151"/>
                </a:solidFill>
              </a:rPr>
              <a:t> YOLOv8 bounding-box localization of canine bite wounds and lacerations.</a:t>
            </a:r>
          </a:p>
          <a:p>
            <a:pPr>
              <a:spcAft>
                <a:spcPts val="600"/>
              </a:spcAft>
              <a:defRPr sz="1200">
                <a:latin typeface="Aptos"/>
              </a:defRPr>
            </a:pPr>
            <a:r>
              <a:rPr b="1">
                <a:solidFill>
                  <a:srgbClr val="111827"/>
                </a:solidFill>
              </a:rPr>
              <a:t>• U-Net architecture design:</a:t>
            </a:r>
            <a:r>
              <a:rPr b="0">
                <a:solidFill>
                  <a:srgbClr val="374151"/>
                </a:solidFill>
              </a:rPr>
              <a:t> 4-stage symmetric encoder-decoder with skip connections and 32 base feature maps.</a:t>
            </a:r>
          </a:p>
          <a:p>
            <a:pPr>
              <a:spcAft>
                <a:spcPts val="600"/>
              </a:spcAft>
              <a:defRPr sz="1200">
                <a:latin typeface="Aptos"/>
              </a:defRPr>
            </a:pPr>
            <a:r>
              <a:rPr b="1">
                <a:solidFill>
                  <a:srgbClr val="111827"/>
                </a:solidFill>
              </a:rPr>
              <a:t>• Cascaded two-stage pipeline:</a:t>
            </a:r>
            <a:r>
              <a:rPr b="0">
                <a:solidFill>
                  <a:srgbClr val="374151"/>
                </a:solidFill>
              </a:rPr>
              <a:t> automated bounding-box cropping, ROI normalization, and U-Net forward pass.</a:t>
            </a:r>
          </a:p>
          <a:p>
            <a:pPr>
              <a:spcAft>
                <a:spcPts val="600"/>
              </a:spcAft>
              <a:defRPr sz="1200">
                <a:latin typeface="Aptos"/>
              </a:defRPr>
            </a:pPr>
            <a:r>
              <a:rPr b="1">
                <a:solidFill>
                  <a:srgbClr val="111827"/>
                </a:solidFill>
              </a:rPr>
              <a:t>• Dataset annotation audit:</a:t>
            </a:r>
            <a:r>
              <a:rPr b="0">
                <a:solidFill>
                  <a:srgbClr val="374151"/>
                </a:solidFill>
              </a:rPr>
              <a:t> bounding boxes vs. pixel-level masks, loss formulation (BCE + Soft Dice), and area calculations.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9921240" y="201168"/>
            <a:ext cx="1965960" cy="685800"/>
          </a:xfrm>
          <a:prstGeom prst="rect">
            <a:avLst/>
          </a:prstGeom>
        </p:spPr>
      </p:pic>
      <p:sp>
        <p:nvSpPr>
          <p:cNvPr id="3" name="TextBox 2"/>
          <p:cNvSpPr txBox="1"/>
          <p:nvPr/>
        </p:nvSpPr>
        <p:spPr>
          <a:xfrm>
            <a:off x="731520" y="320040"/>
            <a:ext cx="8961120" cy="777240"/>
          </a:xfrm>
          <a:prstGeom prst="rect">
            <a:avLst/>
          </a:prstGeom>
          <a:noFill/>
        </p:spPr>
        <p:txBody>
          <a:bodyPr wrap="square" lIns="0" tIns="0" rIns="0" bIns="0">
            <a:spAutoFit/>
          </a:bodyPr>
          <a:lstStyle/>
          <a:p>
            <a:pPr>
              <a:spcAft>
                <a:spcPts val="200"/>
              </a:spcAft>
              <a:defRPr sz="950" b="1">
                <a:solidFill>
                  <a:srgbClr val="B6114D"/>
                </a:solidFill>
                <a:latin typeface="Aptos"/>
              </a:defRPr>
            </a:pPr>
            <a:r>
              <a:t>SECTION D: YOLOV8 &amp; U-NET</a:t>
            </a:r>
          </a:p>
          <a:p>
            <a:pPr>
              <a:defRPr sz="2100" b="1">
                <a:solidFill>
                  <a:srgbClr val="111827"/>
                </a:solidFill>
                <a:latin typeface="Aptos"/>
              </a:defRPr>
            </a:pPr>
            <a:r>
              <a:t>Wound Detection &amp; Segmentation Objectives</a:t>
            </a:r>
          </a:p>
        </p:txBody>
      </p:sp>
      <p:sp>
        <p:nvSpPr>
          <p:cNvPr id="4" name="Rectangle 3"/>
          <p:cNvSpPr/>
          <p:nvPr/>
        </p:nvSpPr>
        <p:spPr>
          <a:xfrm>
            <a:off x="731520" y="1170432"/>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161288"/>
            <a:ext cx="1097280" cy="32004"/>
          </a:xfrm>
          <a:prstGeom prst="rect">
            <a:avLst/>
          </a:prstGeom>
          <a:solidFill>
            <a:srgbClr val="B6114D"/>
          </a:solidFill>
          <a:ln>
            <a:solidFill>
              <a:srgbClr val="B611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09360"/>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55080"/>
            <a:ext cx="4572000" cy="320040"/>
          </a:xfrm>
          <a:prstGeom prst="rect">
            <a:avLst/>
          </a:prstGeom>
          <a:noFill/>
        </p:spPr>
        <p:txBody>
          <a:bodyPr wrap="none" lIns="0" tIns="0" rIns="0" bIns="0">
            <a:spAutoFit/>
          </a:bodyPr>
          <a:lstStyle/>
          <a:p>
            <a:pPr>
              <a:defRPr sz="900">
                <a:solidFill>
                  <a:srgbClr val="6B7280"/>
                </a:solidFill>
                <a:latin typeface="Aptos"/>
              </a:defRPr>
            </a:pPr>
            <a:r>
              <a:t>MediPaw — every paw deserves a chance</a:t>
            </a:r>
          </a:p>
        </p:txBody>
      </p:sp>
      <p:sp>
        <p:nvSpPr>
          <p:cNvPr id="8" name="TextBox 7"/>
          <p:cNvSpPr txBox="1"/>
          <p:nvPr/>
        </p:nvSpPr>
        <p:spPr>
          <a:xfrm>
            <a:off x="4572000" y="6355080"/>
            <a:ext cx="4114800" cy="320040"/>
          </a:xfrm>
          <a:prstGeom prst="rect">
            <a:avLst/>
          </a:prstGeom>
          <a:noFill/>
        </p:spPr>
        <p:txBody>
          <a:bodyPr wrap="none" lIns="0" tIns="0" rIns="0" bIns="0">
            <a:spAutoFit/>
          </a:bodyPr>
          <a:lstStyle/>
          <a:p>
            <a:pPr algn="ctr">
              <a:defRPr sz="900">
                <a:solidFill>
                  <a:srgbClr val="6B7280"/>
                </a:solidFill>
                <a:latin typeface="Aptos"/>
              </a:defRPr>
            </a:pPr>
            <a:r>
              <a:t>A.C. Sanhitha Reddy (CB.SC.U4CSE23206) | 23CSE473 Review 2</a:t>
            </a:r>
          </a:p>
        </p:txBody>
      </p:sp>
      <p:sp>
        <p:nvSpPr>
          <p:cNvPr id="9" name="TextBox 8"/>
          <p:cNvSpPr txBox="1"/>
          <p:nvPr/>
        </p:nvSpPr>
        <p:spPr>
          <a:xfrm>
            <a:off x="9601200" y="6355080"/>
            <a:ext cx="1828800" cy="320040"/>
          </a:xfrm>
          <a:prstGeom prst="rect">
            <a:avLst/>
          </a:prstGeom>
          <a:noFill/>
        </p:spPr>
        <p:txBody>
          <a:bodyPr wrap="none" lIns="0" tIns="0" rIns="0" bIns="0">
            <a:spAutoFit/>
          </a:bodyPr>
          <a:lstStyle/>
          <a:p>
            <a:pPr algn="r">
              <a:defRPr sz="900" b="1">
                <a:solidFill>
                  <a:srgbClr val="B6114D"/>
                </a:solidFill>
                <a:latin typeface="Aptos"/>
              </a:defRPr>
            </a:pPr>
            <a:r>
              <a:t>Slide 24 of 44</a:t>
            </a:r>
          </a:p>
        </p:txBody>
      </p:sp>
      <p:sp>
        <p:nvSpPr>
          <p:cNvPr id="10" name="Rectangle 9"/>
          <p:cNvSpPr/>
          <p:nvPr/>
        </p:nvSpPr>
        <p:spPr>
          <a:xfrm>
            <a:off x="731520" y="1371600"/>
            <a:ext cx="5212080" cy="4663440"/>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1371600"/>
            <a:ext cx="5212080" cy="54864"/>
          </a:xfrm>
          <a:prstGeom prst="rect">
            <a:avLst/>
          </a:prstGeom>
          <a:solidFill>
            <a:srgbClr val="B611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1554480"/>
            <a:ext cx="4846320" cy="4297680"/>
          </a:xfrm>
          <a:prstGeom prst="rect">
            <a:avLst/>
          </a:prstGeom>
          <a:noFill/>
        </p:spPr>
        <p:txBody>
          <a:bodyPr wrap="square">
            <a:spAutoFit/>
          </a:bodyPr>
          <a:lstStyle/>
          <a:p>
            <a:pPr>
              <a:spcAft>
                <a:spcPts val="800"/>
              </a:spcAft>
              <a:defRPr sz="1200" b="1">
                <a:solidFill>
                  <a:srgbClr val="B6114D"/>
                </a:solidFill>
                <a:latin typeface="Aptos"/>
              </a:defRPr>
            </a:pPr>
            <a:r>
              <a:t>STAGE 1: YOLOV8 LESION LOCALIZATION</a:t>
            </a:r>
          </a:p>
          <a:p>
            <a:pPr>
              <a:spcAft>
                <a:spcPts val="800"/>
              </a:spcAft>
              <a:defRPr sz="1050">
                <a:latin typeface="Aptos"/>
              </a:defRPr>
            </a:pPr>
            <a:r>
              <a:rPr b="1">
                <a:solidFill>
                  <a:srgbClr val="111827"/>
                </a:solidFill>
              </a:rPr>
              <a:t>• High-Speed Spatial Discovery:</a:t>
            </a:r>
            <a:r>
              <a:rPr b="0">
                <a:solidFill>
                  <a:srgbClr val="374151"/>
                </a:solidFill>
              </a:rPr>
              <a:t> Rapid scanning of full-body canine images (640x640) to locate all candidate trauma zones.</a:t>
            </a:r>
          </a:p>
          <a:p>
            <a:pPr>
              <a:spcAft>
                <a:spcPts val="800"/>
              </a:spcAft>
              <a:defRPr sz="1050">
                <a:latin typeface="Aptos"/>
              </a:defRPr>
            </a:pPr>
            <a:r>
              <a:rPr b="1">
                <a:solidFill>
                  <a:srgbClr val="111827"/>
                </a:solidFill>
              </a:rPr>
              <a:t>• Clutter Suppression:</a:t>
            </a:r>
            <a:r>
              <a:rPr b="0">
                <a:solidFill>
                  <a:srgbClr val="374151"/>
                </a:solidFill>
              </a:rPr>
              <a:t> Rejects complex background clutter (shelter bedding, hands, leashes) before detailed segmentation.</a:t>
            </a:r>
          </a:p>
          <a:p>
            <a:pPr>
              <a:spcAft>
                <a:spcPts val="800"/>
              </a:spcAft>
              <a:defRPr sz="1050">
                <a:latin typeface="Aptos"/>
              </a:defRPr>
            </a:pPr>
            <a:r>
              <a:rPr b="1">
                <a:solidFill>
                  <a:srgbClr val="111827"/>
                </a:solidFill>
              </a:rPr>
              <a:t>• Multi-Lesion Handling:</a:t>
            </a:r>
            <a:r>
              <a:rPr b="0">
                <a:solidFill>
                  <a:srgbClr val="374151"/>
                </a:solidFill>
              </a:rPr>
              <a:t> Simultaneously identifies multiple discrete bite wounds, lacerations, and surgical incisions on a single animal.</a:t>
            </a:r>
          </a:p>
          <a:p>
            <a:pPr>
              <a:spcAft>
                <a:spcPts val="800"/>
              </a:spcAft>
              <a:defRPr sz="1050">
                <a:latin typeface="Aptos"/>
              </a:defRPr>
            </a:pPr>
            <a:r>
              <a:rPr b="1">
                <a:solidFill>
                  <a:srgbClr val="111827"/>
                </a:solidFill>
              </a:rPr>
              <a:t>• Bounding Box Output:</a:t>
            </a:r>
            <a:r>
              <a:rPr b="0">
                <a:solidFill>
                  <a:srgbClr val="374151"/>
                </a:solidFill>
              </a:rPr>
              <a:t> Generates normalized coordinates [ymin, xmin, ymax, xmax] with associated detection confidence scores.</a:t>
            </a:r>
          </a:p>
          <a:p>
            <a:pPr>
              <a:spcAft>
                <a:spcPts val="800"/>
              </a:spcAft>
              <a:defRPr sz="1050">
                <a:latin typeface="Aptos"/>
              </a:defRPr>
            </a:pPr>
            <a:r>
              <a:rPr b="1">
                <a:solidFill>
                  <a:srgbClr val="111827"/>
                </a:solidFill>
              </a:rPr>
              <a:t>• ROI Cropping Automation:</a:t>
            </a:r>
            <a:r>
              <a:rPr b="0">
                <a:solidFill>
                  <a:srgbClr val="374151"/>
                </a:solidFill>
              </a:rPr>
              <a:t> Extracts wound bounding box with 10% surrounding tissue padding for anatomical boundary context.</a:t>
            </a:r>
          </a:p>
        </p:txBody>
      </p:sp>
      <p:sp>
        <p:nvSpPr>
          <p:cNvPr id="13" name="Rectangle 12"/>
          <p:cNvSpPr/>
          <p:nvPr/>
        </p:nvSpPr>
        <p:spPr>
          <a:xfrm>
            <a:off x="6217920" y="1371600"/>
            <a:ext cx="5212080" cy="4663440"/>
          </a:xfrm>
          <a:prstGeom prst="rect">
            <a:avLst/>
          </a:prstGeom>
          <a:solidFill>
            <a:srgbClr val="FDF2F4"/>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71600"/>
            <a:ext cx="5212080" cy="54864"/>
          </a:xfrm>
          <a:prstGeom prst="rect">
            <a:avLst/>
          </a:prstGeom>
          <a:solidFill>
            <a:srgbClr val="0860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554480"/>
            <a:ext cx="4846320" cy="4297680"/>
          </a:xfrm>
          <a:prstGeom prst="rect">
            <a:avLst/>
          </a:prstGeom>
          <a:noFill/>
        </p:spPr>
        <p:txBody>
          <a:bodyPr wrap="square">
            <a:spAutoFit/>
          </a:bodyPr>
          <a:lstStyle/>
          <a:p>
            <a:pPr>
              <a:spcAft>
                <a:spcPts val="800"/>
              </a:spcAft>
              <a:defRPr sz="1200" b="1">
                <a:solidFill>
                  <a:srgbClr val="086072"/>
                </a:solidFill>
                <a:latin typeface="Aptos"/>
              </a:defRPr>
            </a:pPr>
            <a:r>
              <a:t>STAGE 2: U-NET MORPHOLOGICAL SEGMENTATION</a:t>
            </a:r>
          </a:p>
          <a:p>
            <a:pPr>
              <a:spcAft>
                <a:spcPts val="800"/>
              </a:spcAft>
              <a:defRPr sz="1050">
                <a:latin typeface="Aptos"/>
              </a:defRPr>
            </a:pPr>
            <a:r>
              <a:rPr b="1">
                <a:solidFill>
                  <a:srgbClr val="111827"/>
                </a:solidFill>
              </a:rPr>
              <a:t>• Pixel-Level Delineation:</a:t>
            </a:r>
            <a:r>
              <a:rPr b="0">
                <a:solidFill>
                  <a:srgbClr val="374151"/>
                </a:solidFill>
              </a:rPr>
              <a:t> Discriminates precise boundary contours between necrotic wound beds, granulation tissue, and healthy skin.</a:t>
            </a:r>
          </a:p>
          <a:p>
            <a:pPr>
              <a:spcAft>
                <a:spcPts val="800"/>
              </a:spcAft>
              <a:defRPr sz="1050">
                <a:latin typeface="Aptos"/>
              </a:defRPr>
            </a:pPr>
            <a:r>
              <a:rPr b="1">
                <a:solidFill>
                  <a:srgbClr val="111827"/>
                </a:solidFill>
              </a:rPr>
              <a:t>• Surface Area Calculation:</a:t>
            </a:r>
            <a:r>
              <a:rPr b="0">
                <a:solidFill>
                  <a:srgbClr val="374151"/>
                </a:solidFill>
              </a:rPr>
              <a:t> Computes total lesion pixel count and surface area ratio relative to total body coverage.</a:t>
            </a:r>
          </a:p>
          <a:p>
            <a:pPr>
              <a:spcAft>
                <a:spcPts val="800"/>
              </a:spcAft>
              <a:defRPr sz="1050">
                <a:latin typeface="Aptos"/>
              </a:defRPr>
            </a:pPr>
            <a:r>
              <a:rPr b="1">
                <a:solidFill>
                  <a:srgbClr val="111827"/>
                </a:solidFill>
              </a:rPr>
              <a:t>• Resolution Concentration:</a:t>
            </a:r>
            <a:r>
              <a:rPr b="0">
                <a:solidFill>
                  <a:srgbClr val="374151"/>
                </a:solidFill>
              </a:rPr>
              <a:t> Focusing U-Net on a 256x256 cropped lesion avoids wasting GPU memory on background fur.</a:t>
            </a:r>
          </a:p>
          <a:p>
            <a:pPr>
              <a:spcAft>
                <a:spcPts val="800"/>
              </a:spcAft>
              <a:defRPr sz="1050">
                <a:latin typeface="Aptos"/>
              </a:defRPr>
            </a:pPr>
            <a:r>
              <a:rPr b="1">
                <a:solidFill>
                  <a:srgbClr val="111827"/>
                </a:solidFill>
              </a:rPr>
              <a:t>• Triage Escalation:</a:t>
            </a:r>
            <a:r>
              <a:rPr b="0">
                <a:solidFill>
                  <a:srgbClr val="374151"/>
                </a:solidFill>
              </a:rPr>
              <a:t> Lesions with surface area ratios &gt; 5% or deep irregular margins trigger automatic escalation to Yellow/Red triage.</a:t>
            </a:r>
          </a:p>
          <a:p>
            <a:pPr>
              <a:spcAft>
                <a:spcPts val="800"/>
              </a:spcAft>
              <a:defRPr sz="1050">
                <a:latin typeface="Aptos"/>
              </a:defRPr>
            </a:pPr>
            <a:r>
              <a:rPr b="1">
                <a:solidFill>
                  <a:srgbClr val="111827"/>
                </a:solidFill>
              </a:rPr>
              <a:t>• Longitudinal Progress Monitoring:</a:t>
            </a:r>
            <a:r>
              <a:rPr b="0">
                <a:solidFill>
                  <a:srgbClr val="374151"/>
                </a:solidFill>
              </a:rPr>
              <a:t> Enables veterinarians to quantitatively assess whether wound margins are contracting over days.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9921240" y="201168"/>
            <a:ext cx="1965960" cy="685800"/>
          </a:xfrm>
          <a:prstGeom prst="rect">
            <a:avLst/>
          </a:prstGeom>
        </p:spPr>
      </p:pic>
      <p:sp>
        <p:nvSpPr>
          <p:cNvPr id="3" name="TextBox 2"/>
          <p:cNvSpPr txBox="1"/>
          <p:nvPr/>
        </p:nvSpPr>
        <p:spPr>
          <a:xfrm>
            <a:off x="731520" y="320040"/>
            <a:ext cx="8961120" cy="777240"/>
          </a:xfrm>
          <a:prstGeom prst="rect">
            <a:avLst/>
          </a:prstGeom>
          <a:noFill/>
        </p:spPr>
        <p:txBody>
          <a:bodyPr wrap="square" lIns="0" tIns="0" rIns="0" bIns="0">
            <a:spAutoFit/>
          </a:bodyPr>
          <a:lstStyle/>
          <a:p>
            <a:pPr>
              <a:spcAft>
                <a:spcPts val="200"/>
              </a:spcAft>
              <a:defRPr sz="950" b="1">
                <a:solidFill>
                  <a:srgbClr val="B6114D"/>
                </a:solidFill>
                <a:latin typeface="Aptos"/>
              </a:defRPr>
            </a:pPr>
            <a:r>
              <a:t>SECTION D: YOLOV8 &amp; U-NET</a:t>
            </a:r>
          </a:p>
          <a:p>
            <a:pPr>
              <a:defRPr sz="2100" b="1">
                <a:solidFill>
                  <a:srgbClr val="111827"/>
                </a:solidFill>
                <a:latin typeface="Aptos"/>
              </a:defRPr>
            </a:pPr>
            <a:r>
              <a:t>YOLOv8 Detection Pipeline &amp; Verified Outputs</a:t>
            </a:r>
          </a:p>
        </p:txBody>
      </p:sp>
      <p:sp>
        <p:nvSpPr>
          <p:cNvPr id="4" name="Rectangle 3"/>
          <p:cNvSpPr/>
          <p:nvPr/>
        </p:nvSpPr>
        <p:spPr>
          <a:xfrm>
            <a:off x="731520" y="1170432"/>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161288"/>
            <a:ext cx="1097280" cy="32004"/>
          </a:xfrm>
          <a:prstGeom prst="rect">
            <a:avLst/>
          </a:prstGeom>
          <a:solidFill>
            <a:srgbClr val="B6114D"/>
          </a:solidFill>
          <a:ln>
            <a:solidFill>
              <a:srgbClr val="B611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09360"/>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55080"/>
            <a:ext cx="4572000" cy="320040"/>
          </a:xfrm>
          <a:prstGeom prst="rect">
            <a:avLst/>
          </a:prstGeom>
          <a:noFill/>
        </p:spPr>
        <p:txBody>
          <a:bodyPr wrap="none" lIns="0" tIns="0" rIns="0" bIns="0">
            <a:spAutoFit/>
          </a:bodyPr>
          <a:lstStyle/>
          <a:p>
            <a:pPr>
              <a:defRPr sz="900">
                <a:solidFill>
                  <a:srgbClr val="6B7280"/>
                </a:solidFill>
                <a:latin typeface="Aptos"/>
              </a:defRPr>
            </a:pPr>
            <a:r>
              <a:t>MediPaw — every paw deserves a chance</a:t>
            </a:r>
          </a:p>
        </p:txBody>
      </p:sp>
      <p:sp>
        <p:nvSpPr>
          <p:cNvPr id="8" name="TextBox 7"/>
          <p:cNvSpPr txBox="1"/>
          <p:nvPr/>
        </p:nvSpPr>
        <p:spPr>
          <a:xfrm>
            <a:off x="4572000" y="6355080"/>
            <a:ext cx="4114800" cy="320040"/>
          </a:xfrm>
          <a:prstGeom prst="rect">
            <a:avLst/>
          </a:prstGeom>
          <a:noFill/>
        </p:spPr>
        <p:txBody>
          <a:bodyPr wrap="none" lIns="0" tIns="0" rIns="0" bIns="0">
            <a:spAutoFit/>
          </a:bodyPr>
          <a:lstStyle/>
          <a:p>
            <a:pPr algn="ctr">
              <a:defRPr sz="900">
                <a:solidFill>
                  <a:srgbClr val="6B7280"/>
                </a:solidFill>
                <a:latin typeface="Aptos"/>
              </a:defRPr>
            </a:pPr>
            <a:r>
              <a:t>A.C. Sanhitha Reddy (CB.SC.U4CSE23206) | 23CSE473 Review 2</a:t>
            </a:r>
          </a:p>
        </p:txBody>
      </p:sp>
      <p:sp>
        <p:nvSpPr>
          <p:cNvPr id="9" name="TextBox 8"/>
          <p:cNvSpPr txBox="1"/>
          <p:nvPr/>
        </p:nvSpPr>
        <p:spPr>
          <a:xfrm>
            <a:off x="9601200" y="6355080"/>
            <a:ext cx="1828800" cy="320040"/>
          </a:xfrm>
          <a:prstGeom prst="rect">
            <a:avLst/>
          </a:prstGeom>
          <a:noFill/>
        </p:spPr>
        <p:txBody>
          <a:bodyPr wrap="none" lIns="0" tIns="0" rIns="0" bIns="0">
            <a:spAutoFit/>
          </a:bodyPr>
          <a:lstStyle/>
          <a:p>
            <a:pPr algn="r">
              <a:defRPr sz="900" b="1">
                <a:solidFill>
                  <a:srgbClr val="B6114D"/>
                </a:solidFill>
                <a:latin typeface="Aptos"/>
              </a:defRPr>
            </a:pPr>
            <a:r>
              <a:t>Slide 25 of 44</a:t>
            </a:r>
          </a:p>
        </p:txBody>
      </p:sp>
      <p:sp>
        <p:nvSpPr>
          <p:cNvPr id="10" name="Rectangle 9"/>
          <p:cNvSpPr/>
          <p:nvPr/>
        </p:nvSpPr>
        <p:spPr>
          <a:xfrm>
            <a:off x="731520" y="1371600"/>
            <a:ext cx="5212080" cy="4663440"/>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554480"/>
            <a:ext cx="4846320" cy="4297680"/>
          </a:xfrm>
          <a:prstGeom prst="rect">
            <a:avLst/>
          </a:prstGeom>
          <a:noFill/>
        </p:spPr>
        <p:txBody>
          <a:bodyPr wrap="square">
            <a:spAutoFit/>
          </a:bodyPr>
          <a:lstStyle/>
          <a:p>
            <a:pPr>
              <a:spcAft>
                <a:spcPts val="800"/>
              </a:spcAft>
              <a:defRPr sz="1200" b="1">
                <a:solidFill>
                  <a:srgbClr val="B6114D"/>
                </a:solidFill>
                <a:latin typeface="Aptos"/>
              </a:defRPr>
            </a:pPr>
            <a:r>
              <a:t>YOLOV8 ARCHITECTURAL SPECIFICATION</a:t>
            </a:r>
          </a:p>
          <a:p>
            <a:pPr>
              <a:spcAft>
                <a:spcPts val="600"/>
              </a:spcAft>
              <a:defRPr sz="1050">
                <a:latin typeface="Aptos"/>
              </a:defRPr>
            </a:pPr>
            <a:r>
              <a:rPr b="1">
                <a:solidFill>
                  <a:srgbClr val="111827"/>
                </a:solidFill>
              </a:rPr>
              <a:t>• Backbone (CSPDarknet):</a:t>
            </a:r>
            <a:r>
              <a:rPr b="0">
                <a:solidFill>
                  <a:srgbClr val="374151"/>
                </a:solidFill>
              </a:rPr>
              <a:t> Cross-Stage Partial Darknet with C2f (Cross-Stage Partial with 2 convolutions) blocks for multi-scale feature reuse.</a:t>
            </a:r>
          </a:p>
          <a:p>
            <a:pPr>
              <a:spcAft>
                <a:spcPts val="600"/>
              </a:spcAft>
              <a:defRPr sz="1050">
                <a:latin typeface="Aptos"/>
              </a:defRPr>
            </a:pPr>
            <a:r>
              <a:rPr b="1">
                <a:solidFill>
                  <a:srgbClr val="111827"/>
                </a:solidFill>
              </a:rPr>
              <a:t>• Neck (PAN-FPN):</a:t>
            </a:r>
            <a:r>
              <a:rPr b="0">
                <a:solidFill>
                  <a:srgbClr val="374151"/>
                </a:solidFill>
              </a:rPr>
              <a:t> Path Aggregation Network and Feature Pyramid Network fusing high-level semantic abstractions with low-level spatial detail.</a:t>
            </a:r>
          </a:p>
          <a:p>
            <a:pPr>
              <a:spcAft>
                <a:spcPts val="600"/>
              </a:spcAft>
              <a:defRPr sz="1050">
                <a:latin typeface="Aptos"/>
              </a:defRPr>
            </a:pPr>
            <a:r>
              <a:rPr b="1">
                <a:solidFill>
                  <a:srgbClr val="111827"/>
                </a:solidFill>
              </a:rPr>
              <a:t>• Anchor-Free Head:</a:t>
            </a:r>
            <a:r>
              <a:rPr b="0">
                <a:solidFill>
                  <a:srgbClr val="374151"/>
                </a:solidFill>
              </a:rPr>
              <a:t> Decoupled anchor-free detection head predicting bounding box offsets and objectness scores independently.</a:t>
            </a:r>
          </a:p>
          <a:p>
            <a:pPr>
              <a:spcAft>
                <a:spcPts val="600"/>
              </a:spcAft>
              <a:defRPr sz="1050">
                <a:latin typeface="Aptos"/>
              </a:defRPr>
            </a:pPr>
            <a:r>
              <a:rPr b="1">
                <a:solidFill>
                  <a:srgbClr val="111827"/>
                </a:solidFill>
              </a:rPr>
              <a:t>• Task-Aligned Assigner:</a:t>
            </a:r>
            <a:r>
              <a:rPr b="0">
                <a:solidFill>
                  <a:srgbClr val="374151"/>
                </a:solidFill>
              </a:rPr>
              <a:t> Dynamic sample assignment prioritizing anchors with high joint classification and localization alignment.</a:t>
            </a:r>
          </a:p>
          <a:p>
            <a:pPr>
              <a:spcAft>
                <a:spcPts val="600"/>
              </a:spcAft>
              <a:defRPr sz="1050">
                <a:latin typeface="Aptos"/>
              </a:defRPr>
            </a:pPr>
            <a:r>
              <a:rPr b="1">
                <a:solidFill>
                  <a:srgbClr val="111827"/>
                </a:solidFill>
              </a:rPr>
              <a:t>• Inference Speed:</a:t>
            </a:r>
            <a:r>
              <a:rPr b="0">
                <a:solidFill>
                  <a:srgbClr val="374151"/>
                </a:solidFill>
              </a:rPr>
              <a:t> Sub-20ms execution latency on standard hardware, ideal for real-time mobile triage.</a:t>
            </a:r>
          </a:p>
        </p:txBody>
      </p:sp>
      <p:sp>
        <p:nvSpPr>
          <p:cNvPr id="12" name="Rectangle 11"/>
          <p:cNvSpPr/>
          <p:nvPr/>
        </p:nvSpPr>
        <p:spPr>
          <a:xfrm>
            <a:off x="6217920" y="1371600"/>
            <a:ext cx="5212080" cy="4663440"/>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554480"/>
            <a:ext cx="4846320" cy="365760"/>
          </a:xfrm>
          <a:prstGeom prst="rect">
            <a:avLst/>
          </a:prstGeom>
          <a:noFill/>
        </p:spPr>
        <p:txBody>
          <a:bodyPr wrap="none">
            <a:spAutoFit/>
          </a:bodyPr>
          <a:lstStyle/>
          <a:p>
            <a:pPr>
              <a:defRPr sz="1100" b="1">
                <a:solidFill>
                  <a:srgbClr val="086072"/>
                </a:solidFill>
                <a:latin typeface="Aptos"/>
              </a:defRPr>
            </a:pPr>
            <a:r>
              <a:t>VERIFIED CANINE WOUND SAMPLES (41 ANNOTATIONS)</a:t>
            </a:r>
          </a:p>
        </p:txBody>
      </p:sp>
      <p:pic>
        <p:nvPicPr>
          <p:cNvPr id="14" name="Picture 13" descr="sample_wound_1.jpg"/>
          <p:cNvPicPr>
            <a:picLocks noChangeAspect="1"/>
          </p:cNvPicPr>
          <p:nvPr/>
        </p:nvPicPr>
        <p:blipFill>
          <a:blip r:embed="rId3"/>
          <a:stretch>
            <a:fillRect/>
          </a:stretch>
        </p:blipFill>
        <p:spPr>
          <a:xfrm>
            <a:off x="6400800" y="1965960"/>
            <a:ext cx="4846320" cy="2377440"/>
          </a:xfrm>
          <a:prstGeom prst="rect">
            <a:avLst/>
          </a:prstGeom>
        </p:spPr>
      </p:pic>
      <p:sp>
        <p:nvSpPr>
          <p:cNvPr id="15" name="TextBox 14"/>
          <p:cNvSpPr txBox="1"/>
          <p:nvPr/>
        </p:nvSpPr>
        <p:spPr>
          <a:xfrm>
            <a:off x="6400800" y="4434840"/>
            <a:ext cx="4846320" cy="1554480"/>
          </a:xfrm>
          <a:prstGeom prst="rect">
            <a:avLst/>
          </a:prstGeom>
          <a:noFill/>
        </p:spPr>
        <p:txBody>
          <a:bodyPr wrap="square">
            <a:spAutoFit/>
          </a:bodyPr>
          <a:lstStyle/>
          <a:p>
            <a:pPr>
              <a:spcAft>
                <a:spcPts val="300"/>
              </a:spcAft>
              <a:defRPr sz="1000">
                <a:latin typeface="Aptos"/>
              </a:defRPr>
            </a:pPr>
            <a:r>
              <a:rPr b="1">
                <a:solidFill>
                  <a:srgbClr val="111827"/>
                </a:solidFill>
              </a:rPr>
              <a:t>• Dataset Location:</a:t>
            </a:r>
            <a:r>
              <a:rPr b="0">
                <a:solidFill>
                  <a:srgbClr val="374151"/>
                </a:solidFill>
              </a:rPr>
              <a:t> skincnn/yolo_canine_wounds/train/images/ and test/images/.</a:t>
            </a:r>
          </a:p>
          <a:p>
            <a:pPr>
              <a:spcAft>
                <a:spcPts val="300"/>
              </a:spcAft>
              <a:defRPr sz="1000">
                <a:latin typeface="Aptos"/>
              </a:defRPr>
            </a:pPr>
            <a:r>
              <a:rPr b="1">
                <a:solidFill>
                  <a:srgbClr val="111827"/>
                </a:solidFill>
              </a:rPr>
              <a:t>• Label Format:</a:t>
            </a:r>
            <a:r>
              <a:rPr b="0">
                <a:solidFill>
                  <a:srgbClr val="374151"/>
                </a:solidFill>
              </a:rPr>
              <a:t> YOLO format text files containing [class x_center y_center width height].</a:t>
            </a:r>
          </a:p>
          <a:p>
            <a:pPr>
              <a:spcAft>
                <a:spcPts val="300"/>
              </a:spcAft>
              <a:defRPr sz="1000">
                <a:latin typeface="Aptos"/>
              </a:defRPr>
            </a:pPr>
            <a:r>
              <a:rPr b="1">
                <a:solidFill>
                  <a:srgbClr val="111827"/>
                </a:solidFill>
              </a:rPr>
              <a:t>• Detection Output:</a:t>
            </a:r>
            <a:r>
              <a:rPr b="0">
                <a:solidFill>
                  <a:srgbClr val="374151"/>
                </a:solidFill>
              </a:rPr>
              <a:t> Bounding boxes accurately isolate lacerations on canine flanks, limbs, and neck.</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9921240" y="201168"/>
            <a:ext cx="1965960" cy="685800"/>
          </a:xfrm>
          <a:prstGeom prst="rect">
            <a:avLst/>
          </a:prstGeom>
        </p:spPr>
      </p:pic>
      <p:sp>
        <p:nvSpPr>
          <p:cNvPr id="3" name="TextBox 2"/>
          <p:cNvSpPr txBox="1"/>
          <p:nvPr/>
        </p:nvSpPr>
        <p:spPr>
          <a:xfrm>
            <a:off x="731520" y="320040"/>
            <a:ext cx="8961120" cy="777240"/>
          </a:xfrm>
          <a:prstGeom prst="rect">
            <a:avLst/>
          </a:prstGeom>
          <a:noFill/>
        </p:spPr>
        <p:txBody>
          <a:bodyPr wrap="square" lIns="0" tIns="0" rIns="0" bIns="0">
            <a:spAutoFit/>
          </a:bodyPr>
          <a:lstStyle/>
          <a:p>
            <a:pPr>
              <a:spcAft>
                <a:spcPts val="200"/>
              </a:spcAft>
              <a:defRPr sz="950" b="1">
                <a:solidFill>
                  <a:srgbClr val="B6114D"/>
                </a:solidFill>
                <a:latin typeface="Aptos"/>
              </a:defRPr>
            </a:pPr>
            <a:r>
              <a:t>SECTION D: YOLOV8 &amp; U-NET</a:t>
            </a:r>
          </a:p>
          <a:p>
            <a:pPr>
              <a:defRPr sz="2100" b="1">
                <a:solidFill>
                  <a:srgbClr val="111827"/>
                </a:solidFill>
                <a:latin typeface="Aptos"/>
              </a:defRPr>
            </a:pPr>
            <a:r>
              <a:t>U-Net Architecture: Encoder, Bottleneck &amp; Skip Connections</a:t>
            </a:r>
          </a:p>
        </p:txBody>
      </p:sp>
      <p:sp>
        <p:nvSpPr>
          <p:cNvPr id="4" name="Rectangle 3"/>
          <p:cNvSpPr/>
          <p:nvPr/>
        </p:nvSpPr>
        <p:spPr>
          <a:xfrm>
            <a:off x="731520" y="1170432"/>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161288"/>
            <a:ext cx="1097280" cy="32004"/>
          </a:xfrm>
          <a:prstGeom prst="rect">
            <a:avLst/>
          </a:prstGeom>
          <a:solidFill>
            <a:srgbClr val="B6114D"/>
          </a:solidFill>
          <a:ln>
            <a:solidFill>
              <a:srgbClr val="B611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09360"/>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55080"/>
            <a:ext cx="4572000" cy="320040"/>
          </a:xfrm>
          <a:prstGeom prst="rect">
            <a:avLst/>
          </a:prstGeom>
          <a:noFill/>
        </p:spPr>
        <p:txBody>
          <a:bodyPr wrap="none" lIns="0" tIns="0" rIns="0" bIns="0">
            <a:spAutoFit/>
          </a:bodyPr>
          <a:lstStyle/>
          <a:p>
            <a:pPr>
              <a:defRPr sz="900">
                <a:solidFill>
                  <a:srgbClr val="6B7280"/>
                </a:solidFill>
                <a:latin typeface="Aptos"/>
              </a:defRPr>
            </a:pPr>
            <a:r>
              <a:t>MediPaw — every paw deserves a chance</a:t>
            </a:r>
          </a:p>
        </p:txBody>
      </p:sp>
      <p:sp>
        <p:nvSpPr>
          <p:cNvPr id="8" name="TextBox 7"/>
          <p:cNvSpPr txBox="1"/>
          <p:nvPr/>
        </p:nvSpPr>
        <p:spPr>
          <a:xfrm>
            <a:off x="4572000" y="6355080"/>
            <a:ext cx="4114800" cy="320040"/>
          </a:xfrm>
          <a:prstGeom prst="rect">
            <a:avLst/>
          </a:prstGeom>
          <a:noFill/>
        </p:spPr>
        <p:txBody>
          <a:bodyPr wrap="none" lIns="0" tIns="0" rIns="0" bIns="0">
            <a:spAutoFit/>
          </a:bodyPr>
          <a:lstStyle/>
          <a:p>
            <a:pPr algn="ctr">
              <a:defRPr sz="900">
                <a:solidFill>
                  <a:srgbClr val="6B7280"/>
                </a:solidFill>
                <a:latin typeface="Aptos"/>
              </a:defRPr>
            </a:pPr>
            <a:r>
              <a:t>A.C. Sanhitha Reddy (CB.SC.U4CSE23206) | 23CSE473 Review 2</a:t>
            </a:r>
          </a:p>
        </p:txBody>
      </p:sp>
      <p:sp>
        <p:nvSpPr>
          <p:cNvPr id="9" name="TextBox 8"/>
          <p:cNvSpPr txBox="1"/>
          <p:nvPr/>
        </p:nvSpPr>
        <p:spPr>
          <a:xfrm>
            <a:off x="9601200" y="6355080"/>
            <a:ext cx="1828800" cy="320040"/>
          </a:xfrm>
          <a:prstGeom prst="rect">
            <a:avLst/>
          </a:prstGeom>
          <a:noFill/>
        </p:spPr>
        <p:txBody>
          <a:bodyPr wrap="none" lIns="0" tIns="0" rIns="0" bIns="0">
            <a:spAutoFit/>
          </a:bodyPr>
          <a:lstStyle/>
          <a:p>
            <a:pPr algn="r">
              <a:defRPr sz="900" b="1">
                <a:solidFill>
                  <a:srgbClr val="B6114D"/>
                </a:solidFill>
                <a:latin typeface="Aptos"/>
              </a:defRPr>
            </a:pPr>
            <a:r>
              <a:t>Slide 26 of 44</a:t>
            </a:r>
          </a:p>
        </p:txBody>
      </p:sp>
      <p:graphicFrame>
        <p:nvGraphicFramePr>
          <p:cNvPr id="10" name="Table 9"/>
          <p:cNvGraphicFramePr>
            <a:graphicFrameLocks noGrp="1"/>
          </p:cNvGraphicFramePr>
          <p:nvPr/>
        </p:nvGraphicFramePr>
        <p:xfrm>
          <a:off x="731520" y="1371600"/>
          <a:ext cx="10698480" cy="4663440"/>
        </p:xfrm>
        <a:graphic>
          <a:graphicData uri="http://schemas.openxmlformats.org/drawingml/2006/table">
            <a:tbl>
              <a:tblPr firstRow="1" bandRow="1">
                <a:tableStyleId>{5C22544A-7EE6-4342-B048-85BDC9FD1C3A}</a:tableStyleId>
              </a:tblPr>
              <a:tblGrid>
                <a:gridCol w="1645920"/>
                <a:gridCol w="1645920"/>
                <a:gridCol w="2926080"/>
                <a:gridCol w="822960"/>
                <a:gridCol w="2011680"/>
                <a:gridCol w="1645920"/>
              </a:tblGrid>
              <a:tr h="423949">
                <a:tc>
                  <a:txBody>
                    <a:bodyPr/>
                    <a:lstStyle/>
                    <a:p>
                      <a:pPr algn="l">
                        <a:defRPr sz="1050" b="1">
                          <a:solidFill>
                            <a:srgbClr val="FFFFFF"/>
                          </a:solidFill>
                          <a:latin typeface="Aptos"/>
                        </a:defRPr>
                      </a:pPr>
                      <a:r>
                        <a:t>Stage</a:t>
                      </a:r>
                    </a:p>
                  </a:txBody>
                  <a:tcPr>
                    <a:solidFill>
                      <a:srgbClr val="B6114D"/>
                    </a:solidFill>
                  </a:tcPr>
                </a:tc>
                <a:tc>
                  <a:txBody>
                    <a:bodyPr/>
                    <a:lstStyle/>
                    <a:p>
                      <a:pPr algn="l">
                        <a:defRPr sz="1050" b="1">
                          <a:solidFill>
                            <a:srgbClr val="FFFFFF"/>
                          </a:solidFill>
                          <a:latin typeface="Aptos"/>
                        </a:defRPr>
                      </a:pPr>
                      <a:r>
                        <a:t>Input Resolution</a:t>
                      </a:r>
                    </a:p>
                  </a:txBody>
                  <a:tcPr>
                    <a:solidFill>
                      <a:srgbClr val="B6114D"/>
                    </a:solidFill>
                  </a:tcPr>
                </a:tc>
                <a:tc>
                  <a:txBody>
                    <a:bodyPr/>
                    <a:lstStyle/>
                    <a:p>
                      <a:pPr algn="l">
                        <a:defRPr sz="1050" b="1">
                          <a:solidFill>
                            <a:srgbClr val="FFFFFF"/>
                          </a:solidFill>
                          <a:latin typeface="Aptos"/>
                        </a:defRPr>
                      </a:pPr>
                      <a:r>
                        <a:t>Block Structure</a:t>
                      </a:r>
                    </a:p>
                  </a:txBody>
                  <a:tcPr>
                    <a:solidFill>
                      <a:srgbClr val="B6114D"/>
                    </a:solidFill>
                  </a:tcPr>
                </a:tc>
                <a:tc>
                  <a:txBody>
                    <a:bodyPr/>
                    <a:lstStyle/>
                    <a:p>
                      <a:pPr algn="l">
                        <a:defRPr sz="1050" b="1">
                          <a:solidFill>
                            <a:srgbClr val="FFFFFF"/>
                          </a:solidFill>
                          <a:latin typeface="Aptos"/>
                        </a:defRPr>
                      </a:pPr>
                      <a:r>
                        <a:t>Filters</a:t>
                      </a:r>
                    </a:p>
                  </a:txBody>
                  <a:tcPr>
                    <a:solidFill>
                      <a:srgbClr val="B6114D"/>
                    </a:solidFill>
                  </a:tcPr>
                </a:tc>
                <a:tc>
                  <a:txBody>
                    <a:bodyPr/>
                    <a:lstStyle/>
                    <a:p>
                      <a:pPr algn="l">
                        <a:defRPr sz="1050" b="1">
                          <a:solidFill>
                            <a:srgbClr val="FFFFFF"/>
                          </a:solidFill>
                          <a:latin typeface="Aptos"/>
                        </a:defRPr>
                      </a:pPr>
                      <a:r>
                        <a:t>Skip Connection Target</a:t>
                      </a:r>
                    </a:p>
                  </a:txBody>
                  <a:tcPr>
                    <a:solidFill>
                      <a:srgbClr val="B6114D"/>
                    </a:solidFill>
                  </a:tcPr>
                </a:tc>
                <a:tc>
                  <a:txBody>
                    <a:bodyPr/>
                    <a:lstStyle/>
                    <a:p>
                      <a:pPr algn="l">
                        <a:defRPr sz="1050" b="1">
                          <a:solidFill>
                            <a:srgbClr val="FFFFFF"/>
                          </a:solidFill>
                          <a:latin typeface="Aptos"/>
                        </a:defRPr>
                      </a:pPr>
                      <a:r>
                        <a:t>Output Resolution</a:t>
                      </a:r>
                    </a:p>
                  </a:txBody>
                  <a:tcPr>
                    <a:solidFill>
                      <a:srgbClr val="B6114D"/>
                    </a:solidFill>
                  </a:tcPr>
                </a:tc>
              </a:tr>
              <a:tr h="423949">
                <a:tc>
                  <a:txBody>
                    <a:bodyPr/>
                    <a:lstStyle/>
                    <a:p>
                      <a:pPr algn="l">
                        <a:defRPr sz="1000" b="1">
                          <a:solidFill>
                            <a:srgbClr val="111827"/>
                          </a:solidFill>
                          <a:latin typeface="Aptos"/>
                        </a:defRPr>
                      </a:pPr>
                      <a:r>
                        <a:t>Encoder Level 1</a:t>
                      </a:r>
                    </a:p>
                  </a:txBody>
                  <a:tcPr>
                    <a:solidFill>
                      <a:srgbClr val="FFFFFF"/>
                    </a:solidFill>
                  </a:tcPr>
                </a:tc>
                <a:tc>
                  <a:txBody>
                    <a:bodyPr/>
                    <a:lstStyle/>
                    <a:p>
                      <a:pPr algn="l">
                        <a:defRPr sz="1000">
                          <a:solidFill>
                            <a:srgbClr val="374151"/>
                          </a:solidFill>
                          <a:latin typeface="Aptos"/>
                        </a:defRPr>
                      </a:pPr>
                      <a:r>
                        <a:t>3 x 256 x 256</a:t>
                      </a:r>
                    </a:p>
                  </a:txBody>
                  <a:tcPr>
                    <a:solidFill>
                      <a:srgbClr val="FFFFFF"/>
                    </a:solidFill>
                  </a:tcPr>
                </a:tc>
                <a:tc>
                  <a:txBody>
                    <a:bodyPr/>
                    <a:lstStyle/>
                    <a:p>
                      <a:pPr algn="l">
                        <a:defRPr sz="1000">
                          <a:solidFill>
                            <a:srgbClr val="374151"/>
                          </a:solidFill>
                          <a:latin typeface="Aptos"/>
                        </a:defRPr>
                      </a:pPr>
                      <a:r>
                        <a:t>Double Conv (3x3) + BatchNorm + ReLU</a:t>
                      </a:r>
                    </a:p>
                  </a:txBody>
                  <a:tcPr>
                    <a:solidFill>
                      <a:srgbClr val="FFFFFF"/>
                    </a:solidFill>
                  </a:tcPr>
                </a:tc>
                <a:tc>
                  <a:txBody>
                    <a:bodyPr/>
                    <a:lstStyle/>
                    <a:p>
                      <a:pPr algn="l">
                        <a:defRPr sz="1000">
                          <a:solidFill>
                            <a:srgbClr val="374151"/>
                          </a:solidFill>
                          <a:latin typeface="Aptos"/>
                        </a:defRPr>
                      </a:pPr>
                      <a:r>
                        <a:t>32</a:t>
                      </a:r>
                    </a:p>
                  </a:txBody>
                  <a:tcPr>
                    <a:solidFill>
                      <a:srgbClr val="FFFFFF"/>
                    </a:solidFill>
                  </a:tcPr>
                </a:tc>
                <a:tc>
                  <a:txBody>
                    <a:bodyPr/>
                    <a:lstStyle/>
                    <a:p>
                      <a:pPr algn="l">
                        <a:defRPr sz="1000">
                          <a:solidFill>
                            <a:srgbClr val="374151"/>
                          </a:solidFill>
                          <a:latin typeface="Aptos"/>
                        </a:defRPr>
                      </a:pPr>
                      <a:r>
                        <a:t>Passes to Decoder Level 1</a:t>
                      </a:r>
                    </a:p>
                  </a:txBody>
                  <a:tcPr>
                    <a:solidFill>
                      <a:srgbClr val="FFFFFF"/>
                    </a:solidFill>
                  </a:tcPr>
                </a:tc>
                <a:tc>
                  <a:txBody>
                    <a:bodyPr/>
                    <a:lstStyle/>
                    <a:p>
                      <a:pPr algn="l">
                        <a:defRPr sz="1000">
                          <a:solidFill>
                            <a:srgbClr val="374151"/>
                          </a:solidFill>
                          <a:latin typeface="Aptos"/>
                        </a:defRPr>
                      </a:pPr>
                      <a:r>
                        <a:t>32 x 128 x 128 (MaxPool)</a:t>
                      </a:r>
                    </a:p>
                  </a:txBody>
                  <a:tcPr>
                    <a:solidFill>
                      <a:srgbClr val="FFFFFF"/>
                    </a:solidFill>
                  </a:tcPr>
                </a:tc>
              </a:tr>
              <a:tr h="423949">
                <a:tc>
                  <a:txBody>
                    <a:bodyPr/>
                    <a:lstStyle/>
                    <a:p>
                      <a:pPr algn="l">
                        <a:defRPr sz="1000" b="1">
                          <a:solidFill>
                            <a:srgbClr val="111827"/>
                          </a:solidFill>
                          <a:latin typeface="Aptos"/>
                        </a:defRPr>
                      </a:pPr>
                      <a:r>
                        <a:t>Encoder Level 2</a:t>
                      </a:r>
                    </a:p>
                  </a:txBody>
                  <a:tcPr>
                    <a:solidFill>
                      <a:srgbClr val="FDF2F4"/>
                    </a:solidFill>
                  </a:tcPr>
                </a:tc>
                <a:tc>
                  <a:txBody>
                    <a:bodyPr/>
                    <a:lstStyle/>
                    <a:p>
                      <a:pPr algn="l">
                        <a:defRPr sz="1000">
                          <a:solidFill>
                            <a:srgbClr val="374151"/>
                          </a:solidFill>
                          <a:latin typeface="Aptos"/>
                        </a:defRPr>
                      </a:pPr>
                      <a:r>
                        <a:t>32 x 128 x 128</a:t>
                      </a:r>
                    </a:p>
                  </a:txBody>
                  <a:tcPr>
                    <a:solidFill>
                      <a:srgbClr val="FDF2F4"/>
                    </a:solidFill>
                  </a:tcPr>
                </a:tc>
                <a:tc>
                  <a:txBody>
                    <a:bodyPr/>
                    <a:lstStyle/>
                    <a:p>
                      <a:pPr algn="l">
                        <a:defRPr sz="1000">
                          <a:solidFill>
                            <a:srgbClr val="374151"/>
                          </a:solidFill>
                          <a:latin typeface="Aptos"/>
                        </a:defRPr>
                      </a:pPr>
                      <a:r>
                        <a:t>Double Conv (3x3) + BatchNorm + ReLU</a:t>
                      </a:r>
                    </a:p>
                  </a:txBody>
                  <a:tcPr>
                    <a:solidFill>
                      <a:srgbClr val="FDF2F4"/>
                    </a:solidFill>
                  </a:tcPr>
                </a:tc>
                <a:tc>
                  <a:txBody>
                    <a:bodyPr/>
                    <a:lstStyle/>
                    <a:p>
                      <a:pPr algn="l">
                        <a:defRPr sz="1000">
                          <a:solidFill>
                            <a:srgbClr val="374151"/>
                          </a:solidFill>
                          <a:latin typeface="Aptos"/>
                        </a:defRPr>
                      </a:pPr>
                      <a:r>
                        <a:t>64</a:t>
                      </a:r>
                    </a:p>
                  </a:txBody>
                  <a:tcPr>
                    <a:solidFill>
                      <a:srgbClr val="FDF2F4"/>
                    </a:solidFill>
                  </a:tcPr>
                </a:tc>
                <a:tc>
                  <a:txBody>
                    <a:bodyPr/>
                    <a:lstStyle/>
                    <a:p>
                      <a:pPr algn="l">
                        <a:defRPr sz="1000">
                          <a:solidFill>
                            <a:srgbClr val="374151"/>
                          </a:solidFill>
                          <a:latin typeface="Aptos"/>
                        </a:defRPr>
                      </a:pPr>
                      <a:r>
                        <a:t>Passes to Decoder Level 2</a:t>
                      </a:r>
                    </a:p>
                  </a:txBody>
                  <a:tcPr>
                    <a:solidFill>
                      <a:srgbClr val="FDF2F4"/>
                    </a:solidFill>
                  </a:tcPr>
                </a:tc>
                <a:tc>
                  <a:txBody>
                    <a:bodyPr/>
                    <a:lstStyle/>
                    <a:p>
                      <a:pPr algn="l">
                        <a:defRPr sz="1000">
                          <a:solidFill>
                            <a:srgbClr val="374151"/>
                          </a:solidFill>
                          <a:latin typeface="Aptos"/>
                        </a:defRPr>
                      </a:pPr>
                      <a:r>
                        <a:t>64 x 64 x 64 (MaxPool)</a:t>
                      </a:r>
                    </a:p>
                  </a:txBody>
                  <a:tcPr>
                    <a:solidFill>
                      <a:srgbClr val="FDF2F4"/>
                    </a:solidFill>
                  </a:tcPr>
                </a:tc>
              </a:tr>
              <a:tr h="423949">
                <a:tc>
                  <a:txBody>
                    <a:bodyPr/>
                    <a:lstStyle/>
                    <a:p>
                      <a:pPr algn="l">
                        <a:defRPr sz="1000" b="1">
                          <a:solidFill>
                            <a:srgbClr val="111827"/>
                          </a:solidFill>
                          <a:latin typeface="Aptos"/>
                        </a:defRPr>
                      </a:pPr>
                      <a:r>
                        <a:t>Encoder Level 3</a:t>
                      </a:r>
                    </a:p>
                  </a:txBody>
                  <a:tcPr>
                    <a:solidFill>
                      <a:srgbClr val="FFFFFF"/>
                    </a:solidFill>
                  </a:tcPr>
                </a:tc>
                <a:tc>
                  <a:txBody>
                    <a:bodyPr/>
                    <a:lstStyle/>
                    <a:p>
                      <a:pPr algn="l">
                        <a:defRPr sz="1000">
                          <a:solidFill>
                            <a:srgbClr val="374151"/>
                          </a:solidFill>
                          <a:latin typeface="Aptos"/>
                        </a:defRPr>
                      </a:pPr>
                      <a:r>
                        <a:t>64 x 64 x 64</a:t>
                      </a:r>
                    </a:p>
                  </a:txBody>
                  <a:tcPr>
                    <a:solidFill>
                      <a:srgbClr val="FFFFFF"/>
                    </a:solidFill>
                  </a:tcPr>
                </a:tc>
                <a:tc>
                  <a:txBody>
                    <a:bodyPr/>
                    <a:lstStyle/>
                    <a:p>
                      <a:pPr algn="l">
                        <a:defRPr sz="1000">
                          <a:solidFill>
                            <a:srgbClr val="374151"/>
                          </a:solidFill>
                          <a:latin typeface="Aptos"/>
                        </a:defRPr>
                      </a:pPr>
                      <a:r>
                        <a:t>Double Conv (3x3) + BatchNorm + ReLU</a:t>
                      </a:r>
                    </a:p>
                  </a:txBody>
                  <a:tcPr>
                    <a:solidFill>
                      <a:srgbClr val="FFFFFF"/>
                    </a:solidFill>
                  </a:tcPr>
                </a:tc>
                <a:tc>
                  <a:txBody>
                    <a:bodyPr/>
                    <a:lstStyle/>
                    <a:p>
                      <a:pPr algn="l">
                        <a:defRPr sz="1000">
                          <a:solidFill>
                            <a:srgbClr val="374151"/>
                          </a:solidFill>
                          <a:latin typeface="Aptos"/>
                        </a:defRPr>
                      </a:pPr>
                      <a:r>
                        <a:t>128</a:t>
                      </a:r>
                    </a:p>
                  </a:txBody>
                  <a:tcPr>
                    <a:solidFill>
                      <a:srgbClr val="FFFFFF"/>
                    </a:solidFill>
                  </a:tcPr>
                </a:tc>
                <a:tc>
                  <a:txBody>
                    <a:bodyPr/>
                    <a:lstStyle/>
                    <a:p>
                      <a:pPr algn="l">
                        <a:defRPr sz="1000">
                          <a:solidFill>
                            <a:srgbClr val="374151"/>
                          </a:solidFill>
                          <a:latin typeface="Aptos"/>
                        </a:defRPr>
                      </a:pPr>
                      <a:r>
                        <a:t>Passes to Decoder Level 3</a:t>
                      </a:r>
                    </a:p>
                  </a:txBody>
                  <a:tcPr>
                    <a:solidFill>
                      <a:srgbClr val="FFFFFF"/>
                    </a:solidFill>
                  </a:tcPr>
                </a:tc>
                <a:tc>
                  <a:txBody>
                    <a:bodyPr/>
                    <a:lstStyle/>
                    <a:p>
                      <a:pPr algn="l">
                        <a:defRPr sz="1000">
                          <a:solidFill>
                            <a:srgbClr val="374151"/>
                          </a:solidFill>
                          <a:latin typeface="Aptos"/>
                        </a:defRPr>
                      </a:pPr>
                      <a:r>
                        <a:t>128 x 32 x 32 (MaxPool)</a:t>
                      </a:r>
                    </a:p>
                  </a:txBody>
                  <a:tcPr>
                    <a:solidFill>
                      <a:srgbClr val="FFFFFF"/>
                    </a:solidFill>
                  </a:tcPr>
                </a:tc>
              </a:tr>
              <a:tr h="423949">
                <a:tc>
                  <a:txBody>
                    <a:bodyPr/>
                    <a:lstStyle/>
                    <a:p>
                      <a:pPr algn="l">
                        <a:defRPr sz="1000" b="1">
                          <a:solidFill>
                            <a:srgbClr val="111827"/>
                          </a:solidFill>
                          <a:latin typeface="Aptos"/>
                        </a:defRPr>
                      </a:pPr>
                      <a:r>
                        <a:t>Encoder Level 4</a:t>
                      </a:r>
                    </a:p>
                  </a:txBody>
                  <a:tcPr>
                    <a:solidFill>
                      <a:srgbClr val="FDF2F4"/>
                    </a:solidFill>
                  </a:tcPr>
                </a:tc>
                <a:tc>
                  <a:txBody>
                    <a:bodyPr/>
                    <a:lstStyle/>
                    <a:p>
                      <a:pPr algn="l">
                        <a:defRPr sz="1000">
                          <a:solidFill>
                            <a:srgbClr val="374151"/>
                          </a:solidFill>
                          <a:latin typeface="Aptos"/>
                        </a:defRPr>
                      </a:pPr>
                      <a:r>
                        <a:t>128 x 32 x 32</a:t>
                      </a:r>
                    </a:p>
                  </a:txBody>
                  <a:tcPr>
                    <a:solidFill>
                      <a:srgbClr val="FDF2F4"/>
                    </a:solidFill>
                  </a:tcPr>
                </a:tc>
                <a:tc>
                  <a:txBody>
                    <a:bodyPr/>
                    <a:lstStyle/>
                    <a:p>
                      <a:pPr algn="l">
                        <a:defRPr sz="1000">
                          <a:solidFill>
                            <a:srgbClr val="374151"/>
                          </a:solidFill>
                          <a:latin typeface="Aptos"/>
                        </a:defRPr>
                      </a:pPr>
                      <a:r>
                        <a:t>Double Conv (3x3) + BatchNorm + ReLU</a:t>
                      </a:r>
                    </a:p>
                  </a:txBody>
                  <a:tcPr>
                    <a:solidFill>
                      <a:srgbClr val="FDF2F4"/>
                    </a:solidFill>
                  </a:tcPr>
                </a:tc>
                <a:tc>
                  <a:txBody>
                    <a:bodyPr/>
                    <a:lstStyle/>
                    <a:p>
                      <a:pPr algn="l">
                        <a:defRPr sz="1000">
                          <a:solidFill>
                            <a:srgbClr val="374151"/>
                          </a:solidFill>
                          <a:latin typeface="Aptos"/>
                        </a:defRPr>
                      </a:pPr>
                      <a:r>
                        <a:t>256</a:t>
                      </a:r>
                    </a:p>
                  </a:txBody>
                  <a:tcPr>
                    <a:solidFill>
                      <a:srgbClr val="FDF2F4"/>
                    </a:solidFill>
                  </a:tcPr>
                </a:tc>
                <a:tc>
                  <a:txBody>
                    <a:bodyPr/>
                    <a:lstStyle/>
                    <a:p>
                      <a:pPr algn="l">
                        <a:defRPr sz="1000">
                          <a:solidFill>
                            <a:srgbClr val="374151"/>
                          </a:solidFill>
                          <a:latin typeface="Aptos"/>
                        </a:defRPr>
                      </a:pPr>
                      <a:r>
                        <a:t>Passes to Decoder Level 4</a:t>
                      </a:r>
                    </a:p>
                  </a:txBody>
                  <a:tcPr>
                    <a:solidFill>
                      <a:srgbClr val="FDF2F4"/>
                    </a:solidFill>
                  </a:tcPr>
                </a:tc>
                <a:tc>
                  <a:txBody>
                    <a:bodyPr/>
                    <a:lstStyle/>
                    <a:p>
                      <a:pPr algn="l">
                        <a:defRPr sz="1000">
                          <a:solidFill>
                            <a:srgbClr val="374151"/>
                          </a:solidFill>
                          <a:latin typeface="Aptos"/>
                        </a:defRPr>
                      </a:pPr>
                      <a:r>
                        <a:t>256 x 16 x 16 (MaxPool)</a:t>
                      </a:r>
                    </a:p>
                  </a:txBody>
                  <a:tcPr>
                    <a:solidFill>
                      <a:srgbClr val="FDF2F4"/>
                    </a:solidFill>
                  </a:tcPr>
                </a:tc>
              </a:tr>
              <a:tr h="423949">
                <a:tc>
                  <a:txBody>
                    <a:bodyPr/>
                    <a:lstStyle/>
                    <a:p>
                      <a:pPr algn="l">
                        <a:defRPr sz="1000" b="1">
                          <a:solidFill>
                            <a:srgbClr val="111827"/>
                          </a:solidFill>
                          <a:latin typeface="Aptos"/>
                        </a:defRPr>
                      </a:pPr>
                      <a:r>
                        <a:t>Bottleneck</a:t>
                      </a:r>
                    </a:p>
                  </a:txBody>
                  <a:tcPr>
                    <a:solidFill>
                      <a:srgbClr val="FFFFFF"/>
                    </a:solidFill>
                  </a:tcPr>
                </a:tc>
                <a:tc>
                  <a:txBody>
                    <a:bodyPr/>
                    <a:lstStyle/>
                    <a:p>
                      <a:pPr algn="l">
                        <a:defRPr sz="1000">
                          <a:solidFill>
                            <a:srgbClr val="374151"/>
                          </a:solidFill>
                          <a:latin typeface="Aptos"/>
                        </a:defRPr>
                      </a:pPr>
                      <a:r>
                        <a:t>256 x 16 x 16</a:t>
                      </a:r>
                    </a:p>
                  </a:txBody>
                  <a:tcPr>
                    <a:solidFill>
                      <a:srgbClr val="FFFFFF"/>
                    </a:solidFill>
                  </a:tcPr>
                </a:tc>
                <a:tc>
                  <a:txBody>
                    <a:bodyPr/>
                    <a:lstStyle/>
                    <a:p>
                      <a:pPr algn="l">
                        <a:defRPr sz="1000">
                          <a:solidFill>
                            <a:srgbClr val="374151"/>
                          </a:solidFill>
                          <a:latin typeface="Aptos"/>
                        </a:defRPr>
                      </a:pPr>
                      <a:r>
                        <a:t>Double Conv (3x3) + Dropout(0.5)</a:t>
                      </a:r>
                    </a:p>
                  </a:txBody>
                  <a:tcPr>
                    <a:solidFill>
                      <a:srgbClr val="FFFFFF"/>
                    </a:solidFill>
                  </a:tcPr>
                </a:tc>
                <a:tc>
                  <a:txBody>
                    <a:bodyPr/>
                    <a:lstStyle/>
                    <a:p>
                      <a:pPr algn="l">
                        <a:defRPr sz="1000">
                          <a:solidFill>
                            <a:srgbClr val="374151"/>
                          </a:solidFill>
                          <a:latin typeface="Aptos"/>
                        </a:defRPr>
                      </a:pPr>
                      <a:r>
                        <a:t>512</a:t>
                      </a:r>
                    </a:p>
                  </a:txBody>
                  <a:tcPr>
                    <a:solidFill>
                      <a:srgbClr val="FFFFFF"/>
                    </a:solidFill>
                  </a:tcPr>
                </a:tc>
                <a:tc>
                  <a:txBody>
                    <a:bodyPr/>
                    <a:lstStyle/>
                    <a:p>
                      <a:pPr algn="l">
                        <a:defRPr sz="1000">
                          <a:solidFill>
                            <a:srgbClr val="374151"/>
                          </a:solidFill>
                          <a:latin typeface="Aptos"/>
                        </a:defRPr>
                      </a:pPr>
                      <a:r>
                        <a:t>Lowest-resolution latent space</a:t>
                      </a:r>
                    </a:p>
                  </a:txBody>
                  <a:tcPr>
                    <a:solidFill>
                      <a:srgbClr val="FFFFFF"/>
                    </a:solidFill>
                  </a:tcPr>
                </a:tc>
                <a:tc>
                  <a:txBody>
                    <a:bodyPr/>
                    <a:lstStyle/>
                    <a:p>
                      <a:pPr algn="l">
                        <a:defRPr sz="1000">
                          <a:solidFill>
                            <a:srgbClr val="374151"/>
                          </a:solidFill>
                          <a:latin typeface="Aptos"/>
                        </a:defRPr>
                      </a:pPr>
                      <a:r>
                        <a:t>512 x 16 x 16</a:t>
                      </a:r>
                    </a:p>
                  </a:txBody>
                  <a:tcPr>
                    <a:solidFill>
                      <a:srgbClr val="FFFFFF"/>
                    </a:solidFill>
                  </a:tcPr>
                </a:tc>
              </a:tr>
              <a:tr h="423949">
                <a:tc>
                  <a:txBody>
                    <a:bodyPr/>
                    <a:lstStyle/>
                    <a:p>
                      <a:pPr algn="l">
                        <a:defRPr sz="1000" b="1">
                          <a:solidFill>
                            <a:srgbClr val="111827"/>
                          </a:solidFill>
                          <a:latin typeface="Aptos"/>
                        </a:defRPr>
                      </a:pPr>
                      <a:r>
                        <a:t>Decoder Level 4</a:t>
                      </a:r>
                    </a:p>
                  </a:txBody>
                  <a:tcPr>
                    <a:solidFill>
                      <a:srgbClr val="FDF2F4"/>
                    </a:solidFill>
                  </a:tcPr>
                </a:tc>
                <a:tc>
                  <a:txBody>
                    <a:bodyPr/>
                    <a:lstStyle/>
                    <a:p>
                      <a:pPr algn="l">
                        <a:defRPr sz="1000">
                          <a:solidFill>
                            <a:srgbClr val="374151"/>
                          </a:solidFill>
                          <a:latin typeface="Aptos"/>
                        </a:defRPr>
                      </a:pPr>
                      <a:r>
                        <a:t>512 x 16 x 16</a:t>
                      </a:r>
                    </a:p>
                  </a:txBody>
                  <a:tcPr>
                    <a:solidFill>
                      <a:srgbClr val="FDF2F4"/>
                    </a:solidFill>
                  </a:tcPr>
                </a:tc>
                <a:tc>
                  <a:txBody>
                    <a:bodyPr/>
                    <a:lstStyle/>
                    <a:p>
                      <a:pPr algn="l">
                        <a:defRPr sz="1000">
                          <a:solidFill>
                            <a:srgbClr val="374151"/>
                          </a:solidFill>
                          <a:latin typeface="Aptos"/>
                        </a:defRPr>
                      </a:pPr>
                      <a:r>
                        <a:t>ConvTranspose2d + Concat Skip + DoubleConv</a:t>
                      </a:r>
                    </a:p>
                  </a:txBody>
                  <a:tcPr>
                    <a:solidFill>
                      <a:srgbClr val="FDF2F4"/>
                    </a:solidFill>
                  </a:tcPr>
                </a:tc>
                <a:tc>
                  <a:txBody>
                    <a:bodyPr/>
                    <a:lstStyle/>
                    <a:p>
                      <a:pPr algn="l">
                        <a:defRPr sz="1000">
                          <a:solidFill>
                            <a:srgbClr val="374151"/>
                          </a:solidFill>
                          <a:latin typeface="Aptos"/>
                        </a:defRPr>
                      </a:pPr>
                      <a:r>
                        <a:t>256</a:t>
                      </a:r>
                    </a:p>
                  </a:txBody>
                  <a:tcPr>
                    <a:solidFill>
                      <a:srgbClr val="FDF2F4"/>
                    </a:solidFill>
                  </a:tcPr>
                </a:tc>
                <a:tc>
                  <a:txBody>
                    <a:bodyPr/>
                    <a:lstStyle/>
                    <a:p>
                      <a:pPr algn="l">
                        <a:defRPr sz="1000">
                          <a:solidFill>
                            <a:srgbClr val="374151"/>
                          </a:solidFill>
                          <a:latin typeface="Aptos"/>
                        </a:defRPr>
                      </a:pPr>
                      <a:r>
                        <a:t>Concatenates with Encoder 4</a:t>
                      </a:r>
                    </a:p>
                  </a:txBody>
                  <a:tcPr>
                    <a:solidFill>
                      <a:srgbClr val="FDF2F4"/>
                    </a:solidFill>
                  </a:tcPr>
                </a:tc>
                <a:tc>
                  <a:txBody>
                    <a:bodyPr/>
                    <a:lstStyle/>
                    <a:p>
                      <a:pPr algn="l">
                        <a:defRPr sz="1000">
                          <a:solidFill>
                            <a:srgbClr val="374151"/>
                          </a:solidFill>
                          <a:latin typeface="Aptos"/>
                        </a:defRPr>
                      </a:pPr>
                      <a:r>
                        <a:t>256 x 32 x 32</a:t>
                      </a:r>
                    </a:p>
                  </a:txBody>
                  <a:tcPr>
                    <a:solidFill>
                      <a:srgbClr val="FDF2F4"/>
                    </a:solidFill>
                  </a:tcPr>
                </a:tc>
              </a:tr>
              <a:tr h="423949">
                <a:tc>
                  <a:txBody>
                    <a:bodyPr/>
                    <a:lstStyle/>
                    <a:p>
                      <a:pPr algn="l">
                        <a:defRPr sz="1000" b="1">
                          <a:solidFill>
                            <a:srgbClr val="111827"/>
                          </a:solidFill>
                          <a:latin typeface="Aptos"/>
                        </a:defRPr>
                      </a:pPr>
                      <a:r>
                        <a:t>Decoder Level 3</a:t>
                      </a:r>
                    </a:p>
                  </a:txBody>
                  <a:tcPr>
                    <a:solidFill>
                      <a:srgbClr val="FFFFFF"/>
                    </a:solidFill>
                  </a:tcPr>
                </a:tc>
                <a:tc>
                  <a:txBody>
                    <a:bodyPr/>
                    <a:lstStyle/>
                    <a:p>
                      <a:pPr algn="l">
                        <a:defRPr sz="1000">
                          <a:solidFill>
                            <a:srgbClr val="374151"/>
                          </a:solidFill>
                          <a:latin typeface="Aptos"/>
                        </a:defRPr>
                      </a:pPr>
                      <a:r>
                        <a:t>256 x 32 x 32</a:t>
                      </a:r>
                    </a:p>
                  </a:txBody>
                  <a:tcPr>
                    <a:solidFill>
                      <a:srgbClr val="FFFFFF"/>
                    </a:solidFill>
                  </a:tcPr>
                </a:tc>
                <a:tc>
                  <a:txBody>
                    <a:bodyPr/>
                    <a:lstStyle/>
                    <a:p>
                      <a:pPr algn="l">
                        <a:defRPr sz="1000">
                          <a:solidFill>
                            <a:srgbClr val="374151"/>
                          </a:solidFill>
                          <a:latin typeface="Aptos"/>
                        </a:defRPr>
                      </a:pPr>
                      <a:r>
                        <a:t>ConvTranspose2d + Concat Skip + DoubleConv</a:t>
                      </a:r>
                    </a:p>
                  </a:txBody>
                  <a:tcPr>
                    <a:solidFill>
                      <a:srgbClr val="FFFFFF"/>
                    </a:solidFill>
                  </a:tcPr>
                </a:tc>
                <a:tc>
                  <a:txBody>
                    <a:bodyPr/>
                    <a:lstStyle/>
                    <a:p>
                      <a:pPr algn="l">
                        <a:defRPr sz="1000">
                          <a:solidFill>
                            <a:srgbClr val="374151"/>
                          </a:solidFill>
                          <a:latin typeface="Aptos"/>
                        </a:defRPr>
                      </a:pPr>
                      <a:r>
                        <a:t>128</a:t>
                      </a:r>
                    </a:p>
                  </a:txBody>
                  <a:tcPr>
                    <a:solidFill>
                      <a:srgbClr val="FFFFFF"/>
                    </a:solidFill>
                  </a:tcPr>
                </a:tc>
                <a:tc>
                  <a:txBody>
                    <a:bodyPr/>
                    <a:lstStyle/>
                    <a:p>
                      <a:pPr algn="l">
                        <a:defRPr sz="1000">
                          <a:solidFill>
                            <a:srgbClr val="374151"/>
                          </a:solidFill>
                          <a:latin typeface="Aptos"/>
                        </a:defRPr>
                      </a:pPr>
                      <a:r>
                        <a:t>Concatenates with Encoder 3</a:t>
                      </a:r>
                    </a:p>
                  </a:txBody>
                  <a:tcPr>
                    <a:solidFill>
                      <a:srgbClr val="FFFFFF"/>
                    </a:solidFill>
                  </a:tcPr>
                </a:tc>
                <a:tc>
                  <a:txBody>
                    <a:bodyPr/>
                    <a:lstStyle/>
                    <a:p>
                      <a:pPr algn="l">
                        <a:defRPr sz="1000">
                          <a:solidFill>
                            <a:srgbClr val="374151"/>
                          </a:solidFill>
                          <a:latin typeface="Aptos"/>
                        </a:defRPr>
                      </a:pPr>
                      <a:r>
                        <a:t>128 x 64 x 64</a:t>
                      </a:r>
                    </a:p>
                  </a:txBody>
                  <a:tcPr>
                    <a:solidFill>
                      <a:srgbClr val="FFFFFF"/>
                    </a:solidFill>
                  </a:tcPr>
                </a:tc>
              </a:tr>
              <a:tr h="423949">
                <a:tc>
                  <a:txBody>
                    <a:bodyPr/>
                    <a:lstStyle/>
                    <a:p>
                      <a:pPr algn="l">
                        <a:defRPr sz="1000" b="1">
                          <a:solidFill>
                            <a:srgbClr val="111827"/>
                          </a:solidFill>
                          <a:latin typeface="Aptos"/>
                        </a:defRPr>
                      </a:pPr>
                      <a:r>
                        <a:t>Decoder Level 2</a:t>
                      </a:r>
                    </a:p>
                  </a:txBody>
                  <a:tcPr>
                    <a:solidFill>
                      <a:srgbClr val="FDF2F4"/>
                    </a:solidFill>
                  </a:tcPr>
                </a:tc>
                <a:tc>
                  <a:txBody>
                    <a:bodyPr/>
                    <a:lstStyle/>
                    <a:p>
                      <a:pPr algn="l">
                        <a:defRPr sz="1000">
                          <a:solidFill>
                            <a:srgbClr val="374151"/>
                          </a:solidFill>
                          <a:latin typeface="Aptos"/>
                        </a:defRPr>
                      </a:pPr>
                      <a:r>
                        <a:t>128 x 64 x 64</a:t>
                      </a:r>
                    </a:p>
                  </a:txBody>
                  <a:tcPr>
                    <a:solidFill>
                      <a:srgbClr val="FDF2F4"/>
                    </a:solidFill>
                  </a:tcPr>
                </a:tc>
                <a:tc>
                  <a:txBody>
                    <a:bodyPr/>
                    <a:lstStyle/>
                    <a:p>
                      <a:pPr algn="l">
                        <a:defRPr sz="1000">
                          <a:solidFill>
                            <a:srgbClr val="374151"/>
                          </a:solidFill>
                          <a:latin typeface="Aptos"/>
                        </a:defRPr>
                      </a:pPr>
                      <a:r>
                        <a:t>ConvTranspose2d + Concat Skip + DoubleConv</a:t>
                      </a:r>
                    </a:p>
                  </a:txBody>
                  <a:tcPr>
                    <a:solidFill>
                      <a:srgbClr val="FDF2F4"/>
                    </a:solidFill>
                  </a:tcPr>
                </a:tc>
                <a:tc>
                  <a:txBody>
                    <a:bodyPr/>
                    <a:lstStyle/>
                    <a:p>
                      <a:pPr algn="l">
                        <a:defRPr sz="1000">
                          <a:solidFill>
                            <a:srgbClr val="374151"/>
                          </a:solidFill>
                          <a:latin typeface="Aptos"/>
                        </a:defRPr>
                      </a:pPr>
                      <a:r>
                        <a:t>64</a:t>
                      </a:r>
                    </a:p>
                  </a:txBody>
                  <a:tcPr>
                    <a:solidFill>
                      <a:srgbClr val="FDF2F4"/>
                    </a:solidFill>
                  </a:tcPr>
                </a:tc>
                <a:tc>
                  <a:txBody>
                    <a:bodyPr/>
                    <a:lstStyle/>
                    <a:p>
                      <a:pPr algn="l">
                        <a:defRPr sz="1000">
                          <a:solidFill>
                            <a:srgbClr val="374151"/>
                          </a:solidFill>
                          <a:latin typeface="Aptos"/>
                        </a:defRPr>
                      </a:pPr>
                      <a:r>
                        <a:t>Concatenates with Encoder 2</a:t>
                      </a:r>
                    </a:p>
                  </a:txBody>
                  <a:tcPr>
                    <a:solidFill>
                      <a:srgbClr val="FDF2F4"/>
                    </a:solidFill>
                  </a:tcPr>
                </a:tc>
                <a:tc>
                  <a:txBody>
                    <a:bodyPr/>
                    <a:lstStyle/>
                    <a:p>
                      <a:pPr algn="l">
                        <a:defRPr sz="1000">
                          <a:solidFill>
                            <a:srgbClr val="374151"/>
                          </a:solidFill>
                          <a:latin typeface="Aptos"/>
                        </a:defRPr>
                      </a:pPr>
                      <a:r>
                        <a:t>64 x 128 x 128</a:t>
                      </a:r>
                    </a:p>
                  </a:txBody>
                  <a:tcPr>
                    <a:solidFill>
                      <a:srgbClr val="FDF2F4"/>
                    </a:solidFill>
                  </a:tcPr>
                </a:tc>
              </a:tr>
              <a:tr h="423949">
                <a:tc>
                  <a:txBody>
                    <a:bodyPr/>
                    <a:lstStyle/>
                    <a:p>
                      <a:pPr algn="l">
                        <a:defRPr sz="1000" b="1">
                          <a:solidFill>
                            <a:srgbClr val="111827"/>
                          </a:solidFill>
                          <a:latin typeface="Aptos"/>
                        </a:defRPr>
                      </a:pPr>
                      <a:r>
                        <a:t>Decoder Level 1</a:t>
                      </a:r>
                    </a:p>
                  </a:txBody>
                  <a:tcPr>
                    <a:solidFill>
                      <a:srgbClr val="FFFFFF"/>
                    </a:solidFill>
                  </a:tcPr>
                </a:tc>
                <a:tc>
                  <a:txBody>
                    <a:bodyPr/>
                    <a:lstStyle/>
                    <a:p>
                      <a:pPr algn="l">
                        <a:defRPr sz="1000">
                          <a:solidFill>
                            <a:srgbClr val="374151"/>
                          </a:solidFill>
                          <a:latin typeface="Aptos"/>
                        </a:defRPr>
                      </a:pPr>
                      <a:r>
                        <a:t>64 x 128 x 128</a:t>
                      </a:r>
                    </a:p>
                  </a:txBody>
                  <a:tcPr>
                    <a:solidFill>
                      <a:srgbClr val="FFFFFF"/>
                    </a:solidFill>
                  </a:tcPr>
                </a:tc>
                <a:tc>
                  <a:txBody>
                    <a:bodyPr/>
                    <a:lstStyle/>
                    <a:p>
                      <a:pPr algn="l">
                        <a:defRPr sz="1000">
                          <a:solidFill>
                            <a:srgbClr val="374151"/>
                          </a:solidFill>
                          <a:latin typeface="Aptos"/>
                        </a:defRPr>
                      </a:pPr>
                      <a:r>
                        <a:t>ConvTranspose2d + Concat Skip + DoubleConv</a:t>
                      </a:r>
                    </a:p>
                  </a:txBody>
                  <a:tcPr>
                    <a:solidFill>
                      <a:srgbClr val="FFFFFF"/>
                    </a:solidFill>
                  </a:tcPr>
                </a:tc>
                <a:tc>
                  <a:txBody>
                    <a:bodyPr/>
                    <a:lstStyle/>
                    <a:p>
                      <a:pPr algn="l">
                        <a:defRPr sz="1000">
                          <a:solidFill>
                            <a:srgbClr val="374151"/>
                          </a:solidFill>
                          <a:latin typeface="Aptos"/>
                        </a:defRPr>
                      </a:pPr>
                      <a:r>
                        <a:t>32</a:t>
                      </a:r>
                    </a:p>
                  </a:txBody>
                  <a:tcPr>
                    <a:solidFill>
                      <a:srgbClr val="FFFFFF"/>
                    </a:solidFill>
                  </a:tcPr>
                </a:tc>
                <a:tc>
                  <a:txBody>
                    <a:bodyPr/>
                    <a:lstStyle/>
                    <a:p>
                      <a:pPr algn="l">
                        <a:defRPr sz="1000">
                          <a:solidFill>
                            <a:srgbClr val="374151"/>
                          </a:solidFill>
                          <a:latin typeface="Aptos"/>
                        </a:defRPr>
                      </a:pPr>
                      <a:r>
                        <a:t>Concatenates with Encoder 1</a:t>
                      </a:r>
                    </a:p>
                  </a:txBody>
                  <a:tcPr>
                    <a:solidFill>
                      <a:srgbClr val="FFFFFF"/>
                    </a:solidFill>
                  </a:tcPr>
                </a:tc>
                <a:tc>
                  <a:txBody>
                    <a:bodyPr/>
                    <a:lstStyle/>
                    <a:p>
                      <a:pPr algn="l">
                        <a:defRPr sz="1000">
                          <a:solidFill>
                            <a:srgbClr val="374151"/>
                          </a:solidFill>
                          <a:latin typeface="Aptos"/>
                        </a:defRPr>
                      </a:pPr>
                      <a:r>
                        <a:t>32 x 256 x 256</a:t>
                      </a:r>
                    </a:p>
                  </a:txBody>
                  <a:tcPr>
                    <a:solidFill>
                      <a:srgbClr val="FFFFFF"/>
                    </a:solidFill>
                  </a:tcPr>
                </a:tc>
              </a:tr>
              <a:tr h="423950">
                <a:tc>
                  <a:txBody>
                    <a:bodyPr/>
                    <a:lstStyle/>
                    <a:p>
                      <a:pPr algn="l">
                        <a:defRPr sz="1000" b="1">
                          <a:solidFill>
                            <a:srgbClr val="111827"/>
                          </a:solidFill>
                          <a:latin typeface="Aptos"/>
                        </a:defRPr>
                      </a:pPr>
                      <a:r>
                        <a:t>Output Head</a:t>
                      </a:r>
                    </a:p>
                  </a:txBody>
                  <a:tcPr>
                    <a:solidFill>
                      <a:srgbClr val="FDF2F4"/>
                    </a:solidFill>
                  </a:tcPr>
                </a:tc>
                <a:tc>
                  <a:txBody>
                    <a:bodyPr/>
                    <a:lstStyle/>
                    <a:p>
                      <a:pPr algn="l">
                        <a:defRPr sz="1000">
                          <a:solidFill>
                            <a:srgbClr val="374151"/>
                          </a:solidFill>
                          <a:latin typeface="Aptos"/>
                        </a:defRPr>
                      </a:pPr>
                      <a:r>
                        <a:t>32 x 256 x 256</a:t>
                      </a:r>
                    </a:p>
                  </a:txBody>
                  <a:tcPr>
                    <a:solidFill>
                      <a:srgbClr val="FDF2F4"/>
                    </a:solidFill>
                  </a:tcPr>
                </a:tc>
                <a:tc>
                  <a:txBody>
                    <a:bodyPr/>
                    <a:lstStyle/>
                    <a:p>
                      <a:pPr algn="l">
                        <a:defRPr sz="1000">
                          <a:solidFill>
                            <a:srgbClr val="374151"/>
                          </a:solidFill>
                          <a:latin typeface="Aptos"/>
                        </a:defRPr>
                      </a:pPr>
                      <a:r>
                        <a:t>Conv2d(1x1) + Sigmoid</a:t>
                      </a:r>
                    </a:p>
                  </a:txBody>
                  <a:tcPr>
                    <a:solidFill>
                      <a:srgbClr val="FDF2F4"/>
                    </a:solidFill>
                  </a:tcPr>
                </a:tc>
                <a:tc>
                  <a:txBody>
                    <a:bodyPr/>
                    <a:lstStyle/>
                    <a:p>
                      <a:pPr algn="l">
                        <a:defRPr sz="1000">
                          <a:solidFill>
                            <a:srgbClr val="374151"/>
                          </a:solidFill>
                          <a:latin typeface="Aptos"/>
                        </a:defRPr>
                      </a:pPr>
                      <a:r>
                        <a:t>1</a:t>
                      </a:r>
                    </a:p>
                  </a:txBody>
                  <a:tcPr>
                    <a:solidFill>
                      <a:srgbClr val="FDF2F4"/>
                    </a:solidFill>
                  </a:tcPr>
                </a:tc>
                <a:tc>
                  <a:txBody>
                    <a:bodyPr/>
                    <a:lstStyle/>
                    <a:p>
                      <a:pPr algn="l">
                        <a:defRPr sz="1000">
                          <a:solidFill>
                            <a:srgbClr val="374151"/>
                          </a:solidFill>
                          <a:latin typeface="Aptos"/>
                        </a:defRPr>
                      </a:pPr>
                      <a:r>
                        <a:t>Generates probability mask</a:t>
                      </a:r>
                    </a:p>
                  </a:txBody>
                  <a:tcPr>
                    <a:solidFill>
                      <a:srgbClr val="FDF2F4"/>
                    </a:solidFill>
                  </a:tcPr>
                </a:tc>
                <a:tc>
                  <a:txBody>
                    <a:bodyPr/>
                    <a:lstStyle/>
                    <a:p>
                      <a:pPr algn="l">
                        <a:defRPr sz="1000">
                          <a:solidFill>
                            <a:srgbClr val="374151"/>
                          </a:solidFill>
                          <a:latin typeface="Aptos"/>
                        </a:defRPr>
                      </a:pPr>
                      <a:r>
                        <a:t>1 x 256 x 256</a:t>
                      </a:r>
                    </a:p>
                  </a:txBody>
                  <a:tcPr>
                    <a:solidFill>
                      <a:srgbClr val="FDF2F4"/>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9921240" y="201168"/>
            <a:ext cx="1965960" cy="685800"/>
          </a:xfrm>
          <a:prstGeom prst="rect">
            <a:avLst/>
          </a:prstGeom>
        </p:spPr>
      </p:pic>
      <p:sp>
        <p:nvSpPr>
          <p:cNvPr id="3" name="TextBox 2"/>
          <p:cNvSpPr txBox="1"/>
          <p:nvPr/>
        </p:nvSpPr>
        <p:spPr>
          <a:xfrm>
            <a:off x="731520" y="320040"/>
            <a:ext cx="8961120" cy="777240"/>
          </a:xfrm>
          <a:prstGeom prst="rect">
            <a:avLst/>
          </a:prstGeom>
          <a:noFill/>
        </p:spPr>
        <p:txBody>
          <a:bodyPr wrap="square" lIns="0" tIns="0" rIns="0" bIns="0">
            <a:spAutoFit/>
          </a:bodyPr>
          <a:lstStyle/>
          <a:p>
            <a:pPr>
              <a:spcAft>
                <a:spcPts val="200"/>
              </a:spcAft>
              <a:defRPr sz="950" b="1">
                <a:solidFill>
                  <a:srgbClr val="B6114D"/>
                </a:solidFill>
                <a:latin typeface="Aptos"/>
              </a:defRPr>
            </a:pPr>
            <a:r>
              <a:t>SECTION D: YOLOV8 &amp; U-NET</a:t>
            </a:r>
          </a:p>
          <a:p>
            <a:pPr>
              <a:defRPr sz="2100" b="1">
                <a:solidFill>
                  <a:srgbClr val="111827"/>
                </a:solidFill>
                <a:latin typeface="Aptos"/>
              </a:defRPr>
            </a:pPr>
            <a:r>
              <a:t>Two-Stage Cascaded Workflow: YOLOv8 to U-Net</a:t>
            </a:r>
          </a:p>
        </p:txBody>
      </p:sp>
      <p:sp>
        <p:nvSpPr>
          <p:cNvPr id="4" name="Rectangle 3"/>
          <p:cNvSpPr/>
          <p:nvPr/>
        </p:nvSpPr>
        <p:spPr>
          <a:xfrm>
            <a:off x="731520" y="1170432"/>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161288"/>
            <a:ext cx="1097280" cy="32004"/>
          </a:xfrm>
          <a:prstGeom prst="rect">
            <a:avLst/>
          </a:prstGeom>
          <a:solidFill>
            <a:srgbClr val="B6114D"/>
          </a:solidFill>
          <a:ln>
            <a:solidFill>
              <a:srgbClr val="B611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09360"/>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55080"/>
            <a:ext cx="4572000" cy="320040"/>
          </a:xfrm>
          <a:prstGeom prst="rect">
            <a:avLst/>
          </a:prstGeom>
          <a:noFill/>
        </p:spPr>
        <p:txBody>
          <a:bodyPr wrap="none" lIns="0" tIns="0" rIns="0" bIns="0">
            <a:spAutoFit/>
          </a:bodyPr>
          <a:lstStyle/>
          <a:p>
            <a:pPr>
              <a:defRPr sz="900">
                <a:solidFill>
                  <a:srgbClr val="6B7280"/>
                </a:solidFill>
                <a:latin typeface="Aptos"/>
              </a:defRPr>
            </a:pPr>
            <a:r>
              <a:t>MediPaw — every paw deserves a chance</a:t>
            </a:r>
          </a:p>
        </p:txBody>
      </p:sp>
      <p:sp>
        <p:nvSpPr>
          <p:cNvPr id="8" name="TextBox 7"/>
          <p:cNvSpPr txBox="1"/>
          <p:nvPr/>
        </p:nvSpPr>
        <p:spPr>
          <a:xfrm>
            <a:off x="4572000" y="6355080"/>
            <a:ext cx="4114800" cy="320040"/>
          </a:xfrm>
          <a:prstGeom prst="rect">
            <a:avLst/>
          </a:prstGeom>
          <a:noFill/>
        </p:spPr>
        <p:txBody>
          <a:bodyPr wrap="none" lIns="0" tIns="0" rIns="0" bIns="0">
            <a:spAutoFit/>
          </a:bodyPr>
          <a:lstStyle/>
          <a:p>
            <a:pPr algn="ctr">
              <a:defRPr sz="900">
                <a:solidFill>
                  <a:srgbClr val="6B7280"/>
                </a:solidFill>
                <a:latin typeface="Aptos"/>
              </a:defRPr>
            </a:pPr>
            <a:r>
              <a:t>A.C. Sanhitha Reddy (CB.SC.U4CSE23206) | 23CSE473 Review 2</a:t>
            </a:r>
          </a:p>
        </p:txBody>
      </p:sp>
      <p:sp>
        <p:nvSpPr>
          <p:cNvPr id="9" name="TextBox 8"/>
          <p:cNvSpPr txBox="1"/>
          <p:nvPr/>
        </p:nvSpPr>
        <p:spPr>
          <a:xfrm>
            <a:off x="9601200" y="6355080"/>
            <a:ext cx="1828800" cy="320040"/>
          </a:xfrm>
          <a:prstGeom prst="rect">
            <a:avLst/>
          </a:prstGeom>
          <a:noFill/>
        </p:spPr>
        <p:txBody>
          <a:bodyPr wrap="none" lIns="0" tIns="0" rIns="0" bIns="0">
            <a:spAutoFit/>
          </a:bodyPr>
          <a:lstStyle/>
          <a:p>
            <a:pPr algn="r">
              <a:defRPr sz="900" b="1">
                <a:solidFill>
                  <a:srgbClr val="B6114D"/>
                </a:solidFill>
                <a:latin typeface="Aptos"/>
              </a:defRPr>
            </a:pPr>
            <a:r>
              <a:t>Slide 27 of 44</a:t>
            </a:r>
          </a:p>
        </p:txBody>
      </p:sp>
      <p:sp>
        <p:nvSpPr>
          <p:cNvPr id="10" name="Rectangle 9"/>
          <p:cNvSpPr/>
          <p:nvPr/>
        </p:nvSpPr>
        <p:spPr>
          <a:xfrm>
            <a:off x="731520" y="1463040"/>
            <a:ext cx="2606040" cy="4480560"/>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1463040"/>
            <a:ext cx="2606040" cy="54864"/>
          </a:xfrm>
          <a:prstGeom prst="rect">
            <a:avLst/>
          </a:prstGeom>
          <a:solidFill>
            <a:srgbClr val="B611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1600200"/>
            <a:ext cx="2331720" cy="4206240"/>
          </a:xfrm>
          <a:prstGeom prst="rect">
            <a:avLst/>
          </a:prstGeom>
          <a:noFill/>
        </p:spPr>
        <p:txBody>
          <a:bodyPr wrap="square">
            <a:spAutoFit/>
          </a:bodyPr>
          <a:lstStyle/>
          <a:p>
            <a:pPr>
              <a:spcAft>
                <a:spcPts val="200"/>
              </a:spcAft>
              <a:defRPr sz="1100" b="1">
                <a:solidFill>
                  <a:srgbClr val="B6114D"/>
                </a:solidFill>
                <a:latin typeface="Aptos"/>
              </a:defRPr>
            </a:pPr>
            <a:r>
              <a:t>Step 1: Detection</a:t>
            </a:r>
          </a:p>
          <a:p>
            <a:pPr>
              <a:spcAft>
                <a:spcPts val="800"/>
              </a:spcAft>
              <a:defRPr sz="1000" b="1">
                <a:solidFill>
                  <a:srgbClr val="111827"/>
                </a:solidFill>
                <a:latin typeface="Aptos"/>
              </a:defRPr>
            </a:pPr>
            <a:r>
              <a:t>YOLOv8 ROI Proposal</a:t>
            </a:r>
          </a:p>
          <a:p>
            <a:pPr>
              <a:defRPr sz="950">
                <a:solidFill>
                  <a:srgbClr val="374151"/>
                </a:solidFill>
                <a:latin typeface="Aptos"/>
              </a:defRPr>
            </a:pPr>
            <a:r>
              <a:t>Full canine image is evaluated. YOLOv8 predicts bounding boxes [x1, y1, x2, y2] identifying wound coordinates with confidence scores.</a:t>
            </a:r>
          </a:p>
        </p:txBody>
      </p:sp>
      <p:sp>
        <p:nvSpPr>
          <p:cNvPr id="13" name="Rectangle 12"/>
          <p:cNvSpPr/>
          <p:nvPr/>
        </p:nvSpPr>
        <p:spPr>
          <a:xfrm>
            <a:off x="3429000" y="1463040"/>
            <a:ext cx="2606040" cy="4480560"/>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29000" y="1463040"/>
            <a:ext cx="2606040" cy="54864"/>
          </a:xfrm>
          <a:prstGeom prst="rect">
            <a:avLst/>
          </a:prstGeom>
          <a:solidFill>
            <a:srgbClr val="0860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66160" y="1600200"/>
            <a:ext cx="2331720" cy="4206240"/>
          </a:xfrm>
          <a:prstGeom prst="rect">
            <a:avLst/>
          </a:prstGeom>
          <a:noFill/>
        </p:spPr>
        <p:txBody>
          <a:bodyPr wrap="square">
            <a:spAutoFit/>
          </a:bodyPr>
          <a:lstStyle/>
          <a:p>
            <a:pPr>
              <a:spcAft>
                <a:spcPts val="200"/>
              </a:spcAft>
              <a:defRPr sz="1100" b="1">
                <a:solidFill>
                  <a:srgbClr val="086072"/>
                </a:solidFill>
                <a:latin typeface="Aptos"/>
              </a:defRPr>
            </a:pPr>
            <a:r>
              <a:t>Step 2: Buffer Cropping</a:t>
            </a:r>
          </a:p>
          <a:p>
            <a:pPr>
              <a:spcAft>
                <a:spcPts val="800"/>
              </a:spcAft>
              <a:defRPr sz="1000" b="1">
                <a:solidFill>
                  <a:srgbClr val="111827"/>
                </a:solidFill>
                <a:latin typeface="Aptos"/>
              </a:defRPr>
            </a:pPr>
            <a:r>
              <a:t>Padded Crop Extraction</a:t>
            </a:r>
          </a:p>
          <a:p>
            <a:pPr>
              <a:defRPr sz="950">
                <a:solidFill>
                  <a:srgbClr val="374151"/>
                </a:solidFill>
                <a:latin typeface="Aptos"/>
              </a:defRPr>
            </a:pPr>
            <a:r>
              <a:t>Bounding box coordinates are expanded by 10% on all margins to include perimeter healthy skin. The sub-image is cropped in memory.</a:t>
            </a:r>
          </a:p>
        </p:txBody>
      </p:sp>
      <p:sp>
        <p:nvSpPr>
          <p:cNvPr id="16" name="Rectangle 15"/>
          <p:cNvSpPr/>
          <p:nvPr/>
        </p:nvSpPr>
        <p:spPr>
          <a:xfrm>
            <a:off x="6126480" y="1463040"/>
            <a:ext cx="2606040" cy="4480560"/>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0" y="1463040"/>
            <a:ext cx="2606040" cy="54864"/>
          </a:xfrm>
          <a:prstGeom prst="rect">
            <a:avLst/>
          </a:prstGeom>
          <a:solidFill>
            <a:srgbClr val="8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63640" y="1600200"/>
            <a:ext cx="2331720" cy="4206240"/>
          </a:xfrm>
          <a:prstGeom prst="rect">
            <a:avLst/>
          </a:prstGeom>
          <a:noFill/>
        </p:spPr>
        <p:txBody>
          <a:bodyPr wrap="square">
            <a:spAutoFit/>
          </a:bodyPr>
          <a:lstStyle/>
          <a:p>
            <a:pPr>
              <a:spcAft>
                <a:spcPts val="200"/>
              </a:spcAft>
              <a:defRPr sz="1100" b="1">
                <a:solidFill>
                  <a:srgbClr val="800020"/>
                </a:solidFill>
                <a:latin typeface="Aptos"/>
              </a:defRPr>
            </a:pPr>
            <a:r>
              <a:t>Step 3: Standardization</a:t>
            </a:r>
          </a:p>
          <a:p>
            <a:pPr>
              <a:spcAft>
                <a:spcPts val="800"/>
              </a:spcAft>
              <a:defRPr sz="1000" b="1">
                <a:solidFill>
                  <a:srgbClr val="111827"/>
                </a:solidFill>
                <a:latin typeface="Aptos"/>
              </a:defRPr>
            </a:pPr>
            <a:r>
              <a:t>Bilinear Interpolation</a:t>
            </a:r>
          </a:p>
          <a:p>
            <a:pPr>
              <a:defRPr sz="950">
                <a:solidFill>
                  <a:srgbClr val="374151"/>
                </a:solidFill>
                <a:latin typeface="Aptos"/>
              </a:defRPr>
            </a:pPr>
            <a:r>
              <a:t>Cropped ROI is resized to exact 256x256 dimensions and normalized to float32 tensors, maintaining channel consistency.</a:t>
            </a:r>
          </a:p>
        </p:txBody>
      </p:sp>
      <p:sp>
        <p:nvSpPr>
          <p:cNvPr id="19" name="Rectangle 18"/>
          <p:cNvSpPr/>
          <p:nvPr/>
        </p:nvSpPr>
        <p:spPr>
          <a:xfrm>
            <a:off x="8823960" y="1463040"/>
            <a:ext cx="2606040" cy="4480560"/>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823960" y="1463040"/>
            <a:ext cx="2606040" cy="54864"/>
          </a:xfrm>
          <a:prstGeom prst="rect">
            <a:avLst/>
          </a:prstGeom>
          <a:solidFill>
            <a:srgbClr val="B611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0" y="1600200"/>
            <a:ext cx="2331720" cy="4206240"/>
          </a:xfrm>
          <a:prstGeom prst="rect">
            <a:avLst/>
          </a:prstGeom>
          <a:noFill/>
        </p:spPr>
        <p:txBody>
          <a:bodyPr wrap="square">
            <a:spAutoFit/>
          </a:bodyPr>
          <a:lstStyle/>
          <a:p>
            <a:pPr>
              <a:spcAft>
                <a:spcPts val="200"/>
              </a:spcAft>
              <a:defRPr sz="1100" b="1">
                <a:solidFill>
                  <a:srgbClr val="B6114D"/>
                </a:solidFill>
                <a:latin typeface="Aptos"/>
              </a:defRPr>
            </a:pPr>
            <a:r>
              <a:t>Step 4: Segmentation</a:t>
            </a:r>
          </a:p>
          <a:p>
            <a:pPr>
              <a:spcAft>
                <a:spcPts val="800"/>
              </a:spcAft>
              <a:defRPr sz="1000" b="1">
                <a:solidFill>
                  <a:srgbClr val="111827"/>
                </a:solidFill>
                <a:latin typeface="Aptos"/>
              </a:defRPr>
            </a:pPr>
            <a:r>
              <a:t>U-Net Forward Pass</a:t>
            </a:r>
          </a:p>
          <a:p>
            <a:pPr>
              <a:defRPr sz="950">
                <a:solidFill>
                  <a:srgbClr val="374151"/>
                </a:solidFill>
                <a:latin typeface="Aptos"/>
              </a:defRPr>
            </a:pPr>
            <a:r>
              <a:t>256x256 crop passes through U-Net. Sigmoid threshold at 0.5 generates binary mask. Mask is mapped back to original image space.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9921240" y="201168"/>
            <a:ext cx="1965960" cy="685800"/>
          </a:xfrm>
          <a:prstGeom prst="rect">
            <a:avLst/>
          </a:prstGeom>
        </p:spPr>
      </p:pic>
      <p:sp>
        <p:nvSpPr>
          <p:cNvPr id="3" name="TextBox 2"/>
          <p:cNvSpPr txBox="1"/>
          <p:nvPr/>
        </p:nvSpPr>
        <p:spPr>
          <a:xfrm>
            <a:off x="731520" y="320040"/>
            <a:ext cx="8961120" cy="777240"/>
          </a:xfrm>
          <a:prstGeom prst="rect">
            <a:avLst/>
          </a:prstGeom>
          <a:noFill/>
        </p:spPr>
        <p:txBody>
          <a:bodyPr wrap="square" lIns="0" tIns="0" rIns="0" bIns="0">
            <a:spAutoFit/>
          </a:bodyPr>
          <a:lstStyle/>
          <a:p>
            <a:pPr>
              <a:spcAft>
                <a:spcPts val="200"/>
              </a:spcAft>
              <a:defRPr sz="950" b="1">
                <a:solidFill>
                  <a:srgbClr val="B6114D"/>
                </a:solidFill>
                <a:latin typeface="Aptos"/>
              </a:defRPr>
            </a:pPr>
            <a:r>
              <a:t>SECTION D: YOLOV8 &amp; U-NET</a:t>
            </a:r>
          </a:p>
          <a:p>
            <a:pPr>
              <a:defRPr sz="2100" b="1">
                <a:solidFill>
                  <a:srgbClr val="111827"/>
                </a:solidFill>
                <a:latin typeface="Aptos"/>
              </a:defRPr>
            </a:pPr>
            <a:r>
              <a:t>Dataset Annotations &amp; Mask Preparation Workflow</a:t>
            </a:r>
          </a:p>
        </p:txBody>
      </p:sp>
      <p:sp>
        <p:nvSpPr>
          <p:cNvPr id="4" name="Rectangle 3"/>
          <p:cNvSpPr/>
          <p:nvPr/>
        </p:nvSpPr>
        <p:spPr>
          <a:xfrm>
            <a:off x="731520" y="1170432"/>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161288"/>
            <a:ext cx="1097280" cy="32004"/>
          </a:xfrm>
          <a:prstGeom prst="rect">
            <a:avLst/>
          </a:prstGeom>
          <a:solidFill>
            <a:srgbClr val="B6114D"/>
          </a:solidFill>
          <a:ln>
            <a:solidFill>
              <a:srgbClr val="B611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09360"/>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55080"/>
            <a:ext cx="4572000" cy="320040"/>
          </a:xfrm>
          <a:prstGeom prst="rect">
            <a:avLst/>
          </a:prstGeom>
          <a:noFill/>
        </p:spPr>
        <p:txBody>
          <a:bodyPr wrap="none" lIns="0" tIns="0" rIns="0" bIns="0">
            <a:spAutoFit/>
          </a:bodyPr>
          <a:lstStyle/>
          <a:p>
            <a:pPr>
              <a:defRPr sz="900">
                <a:solidFill>
                  <a:srgbClr val="6B7280"/>
                </a:solidFill>
                <a:latin typeface="Aptos"/>
              </a:defRPr>
            </a:pPr>
            <a:r>
              <a:t>MediPaw — every paw deserves a chance</a:t>
            </a:r>
          </a:p>
        </p:txBody>
      </p:sp>
      <p:sp>
        <p:nvSpPr>
          <p:cNvPr id="8" name="TextBox 7"/>
          <p:cNvSpPr txBox="1"/>
          <p:nvPr/>
        </p:nvSpPr>
        <p:spPr>
          <a:xfrm>
            <a:off x="4572000" y="6355080"/>
            <a:ext cx="4114800" cy="320040"/>
          </a:xfrm>
          <a:prstGeom prst="rect">
            <a:avLst/>
          </a:prstGeom>
          <a:noFill/>
        </p:spPr>
        <p:txBody>
          <a:bodyPr wrap="none" lIns="0" tIns="0" rIns="0" bIns="0">
            <a:spAutoFit/>
          </a:bodyPr>
          <a:lstStyle/>
          <a:p>
            <a:pPr algn="ctr">
              <a:defRPr sz="900">
                <a:solidFill>
                  <a:srgbClr val="6B7280"/>
                </a:solidFill>
                <a:latin typeface="Aptos"/>
              </a:defRPr>
            </a:pPr>
            <a:r>
              <a:t>A.C. Sanhitha Reddy (CB.SC.U4CSE23206) | 23CSE473 Review 2</a:t>
            </a:r>
          </a:p>
        </p:txBody>
      </p:sp>
      <p:sp>
        <p:nvSpPr>
          <p:cNvPr id="9" name="TextBox 8"/>
          <p:cNvSpPr txBox="1"/>
          <p:nvPr/>
        </p:nvSpPr>
        <p:spPr>
          <a:xfrm>
            <a:off x="9601200" y="6355080"/>
            <a:ext cx="1828800" cy="320040"/>
          </a:xfrm>
          <a:prstGeom prst="rect">
            <a:avLst/>
          </a:prstGeom>
          <a:noFill/>
        </p:spPr>
        <p:txBody>
          <a:bodyPr wrap="none" lIns="0" tIns="0" rIns="0" bIns="0">
            <a:spAutoFit/>
          </a:bodyPr>
          <a:lstStyle/>
          <a:p>
            <a:pPr algn="r">
              <a:defRPr sz="900" b="1">
                <a:solidFill>
                  <a:srgbClr val="B6114D"/>
                </a:solidFill>
                <a:latin typeface="Aptos"/>
              </a:defRPr>
            </a:pPr>
            <a:r>
              <a:t>Slide 28 of 44</a:t>
            </a:r>
          </a:p>
        </p:txBody>
      </p:sp>
      <p:sp>
        <p:nvSpPr>
          <p:cNvPr id="10" name="Rectangle 9"/>
          <p:cNvSpPr/>
          <p:nvPr/>
        </p:nvSpPr>
        <p:spPr>
          <a:xfrm>
            <a:off x="731520" y="1371600"/>
            <a:ext cx="10698480" cy="1188720"/>
          </a:xfrm>
          <a:prstGeom prst="rect">
            <a:avLst/>
          </a:prstGeom>
          <a:solidFill>
            <a:srgbClr val="FDF2F4"/>
          </a:solidFill>
          <a:ln w="12700">
            <a:solidFill>
              <a:srgbClr val="F4C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1371600"/>
            <a:ext cx="73152" cy="1188720"/>
          </a:xfrm>
          <a:prstGeom prst="rect">
            <a:avLst/>
          </a:prstGeom>
          <a:solidFill>
            <a:srgbClr val="B611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1481328"/>
            <a:ext cx="10378440" cy="969264"/>
          </a:xfrm>
          <a:prstGeom prst="rect">
            <a:avLst/>
          </a:prstGeom>
          <a:noFill/>
        </p:spPr>
        <p:txBody>
          <a:bodyPr wrap="square" lIns="0" tIns="0" rIns="0" bIns="0">
            <a:spAutoFit/>
          </a:bodyPr>
          <a:lstStyle/>
          <a:p>
            <a:pPr>
              <a:spcAft>
                <a:spcPts val="300"/>
              </a:spcAft>
              <a:defRPr sz="1150" b="1">
                <a:solidFill>
                  <a:srgbClr val="B6114D"/>
                </a:solidFill>
                <a:latin typeface="Aptos"/>
              </a:defRPr>
            </a:pPr>
            <a:r>
              <a:t>DATASET PROVENANCE AUDIT: BOUNDING BOXES VS. PIXEL MASKS</a:t>
            </a:r>
          </a:p>
          <a:p>
            <a:pPr>
              <a:defRPr sz="1050">
                <a:solidFill>
                  <a:srgbClr val="374151"/>
                </a:solidFill>
                <a:latin typeface="Aptos"/>
              </a:defRPr>
            </a:pPr>
            <a:r>
              <a:t>• Current Repository State: The canine wound dataset located in skincnn/yolo_canine_wounds/ contains 41 annotation files formatted strictly as YOLO bounding boxes (x_center, y_center, width, height).</a:t>
            </a:r>
            <a:br/>
            <a:r>
              <a:t>• Academic Integrity: We do NOT fabricate benchmark Dice or IoU scores against non-existent ground truth pixel masks. Instead, we document the actual architecture, loss dynamics, and synthetic mask evaluation protocol.</a:t>
            </a:r>
            <a:br/>
            <a:r>
              <a:t>• Roadmap Milestone: Pixel-level polygon mask annotation using CVAT/Roboflow is scheduled for Review 3.</a:t>
            </a:r>
          </a:p>
        </p:txBody>
      </p:sp>
      <p:sp>
        <p:nvSpPr>
          <p:cNvPr id="13" name="Rectangle 12"/>
          <p:cNvSpPr/>
          <p:nvPr/>
        </p:nvSpPr>
        <p:spPr>
          <a:xfrm>
            <a:off x="731520" y="2743200"/>
            <a:ext cx="5212080" cy="3291840"/>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880360"/>
            <a:ext cx="4846320" cy="2926080"/>
          </a:xfrm>
          <a:prstGeom prst="rect">
            <a:avLst/>
          </a:prstGeom>
          <a:noFill/>
        </p:spPr>
        <p:txBody>
          <a:bodyPr wrap="square">
            <a:spAutoFit/>
          </a:bodyPr>
          <a:lstStyle/>
          <a:p>
            <a:pPr>
              <a:spcAft>
                <a:spcPts val="600"/>
              </a:spcAft>
              <a:defRPr sz="1150" b="1">
                <a:solidFill>
                  <a:srgbClr val="B6114D"/>
                </a:solidFill>
                <a:latin typeface="Aptos"/>
              </a:defRPr>
            </a:pPr>
            <a:r>
              <a:t>EXISTING REPOSITORY ASSETS (VERIFIED)</a:t>
            </a:r>
          </a:p>
          <a:p>
            <a:pPr>
              <a:spcAft>
                <a:spcPts val="400"/>
              </a:spcAft>
              <a:defRPr sz="1000">
                <a:latin typeface="Aptos"/>
              </a:defRPr>
            </a:pPr>
            <a:r>
              <a:rPr b="1">
                <a:solidFill>
                  <a:srgbClr val="111827"/>
                </a:solidFill>
              </a:rPr>
              <a:t>• YOLO Canine Wounds:</a:t>
            </a:r>
            <a:r>
              <a:rPr b="0">
                <a:solidFill>
                  <a:srgbClr val="374151"/>
                </a:solidFill>
              </a:rPr>
              <a:t> 41 labeled images across train and test partitions under skincnn/yolo_canine_wounds/.</a:t>
            </a:r>
          </a:p>
          <a:p>
            <a:pPr>
              <a:spcAft>
                <a:spcPts val="400"/>
              </a:spcAft>
              <a:defRPr sz="1000">
                <a:latin typeface="Aptos"/>
              </a:defRPr>
            </a:pPr>
            <a:r>
              <a:rPr b="1">
                <a:solidFill>
                  <a:srgbClr val="111827"/>
                </a:solidFill>
              </a:rPr>
              <a:t>• Roboflow Animal Wound Dataset:</a:t>
            </a:r>
            <a:r>
              <a:rPr b="0">
                <a:solidFill>
                  <a:srgbClr val="374151"/>
                </a:solidFill>
              </a:rPr>
              <a:t> Bounding-box labels indicating bite trauma, lacerations, and surgical sites.</a:t>
            </a:r>
          </a:p>
          <a:p>
            <a:pPr>
              <a:spcAft>
                <a:spcPts val="400"/>
              </a:spcAft>
              <a:defRPr sz="1000">
                <a:latin typeface="Aptos"/>
              </a:defRPr>
            </a:pPr>
            <a:r>
              <a:rPr b="1">
                <a:solidFill>
                  <a:srgbClr val="111827"/>
                </a:solidFill>
              </a:rPr>
              <a:t>• Two-Stage Cropping Engine:</a:t>
            </a:r>
            <a:r>
              <a:rPr b="0">
                <a:solidFill>
                  <a:srgbClr val="374151"/>
                </a:solidFill>
              </a:rPr>
              <a:t> Functioning crop_wound_rois() in unet/two_stage_pipeline.py successfully converts bbox coordinates into 256x256 sub-images.</a:t>
            </a:r>
          </a:p>
          <a:p>
            <a:pPr>
              <a:spcAft>
                <a:spcPts val="400"/>
              </a:spcAft>
              <a:defRPr sz="1000">
                <a:latin typeface="Aptos"/>
              </a:defRPr>
            </a:pPr>
            <a:r>
              <a:rPr b="1">
                <a:solidFill>
                  <a:srgbClr val="111827"/>
                </a:solidFill>
              </a:rPr>
              <a:t>• Inference API:</a:t>
            </a:r>
            <a:r>
              <a:rPr b="0">
                <a:solidFill>
                  <a:srgbClr val="374151"/>
                </a:solidFill>
              </a:rPr>
              <a:t> segment_wounds() runs forward pass on any cropped input.</a:t>
            </a:r>
          </a:p>
        </p:txBody>
      </p:sp>
      <p:sp>
        <p:nvSpPr>
          <p:cNvPr id="15" name="Rectangle 14"/>
          <p:cNvSpPr/>
          <p:nvPr/>
        </p:nvSpPr>
        <p:spPr>
          <a:xfrm>
            <a:off x="6217920" y="2743200"/>
            <a:ext cx="5212080" cy="3291840"/>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2880360"/>
            <a:ext cx="4846320" cy="2926080"/>
          </a:xfrm>
          <a:prstGeom prst="rect">
            <a:avLst/>
          </a:prstGeom>
          <a:noFill/>
        </p:spPr>
        <p:txBody>
          <a:bodyPr wrap="square">
            <a:spAutoFit/>
          </a:bodyPr>
          <a:lstStyle/>
          <a:p>
            <a:pPr>
              <a:spcAft>
                <a:spcPts val="600"/>
              </a:spcAft>
              <a:defRPr sz="1150" b="1">
                <a:solidFill>
                  <a:srgbClr val="086072"/>
                </a:solidFill>
                <a:latin typeface="Aptos"/>
              </a:defRPr>
            </a:pPr>
            <a:r>
              <a:t>MASK GENERATION &amp; SYNTHESIS PROTOCOL</a:t>
            </a:r>
          </a:p>
          <a:p>
            <a:pPr>
              <a:spcAft>
                <a:spcPts val="400"/>
              </a:spcAft>
              <a:defRPr sz="1000">
                <a:latin typeface="Aptos"/>
              </a:defRPr>
            </a:pPr>
            <a:r>
              <a:rPr b="1">
                <a:solidFill>
                  <a:srgbClr val="111827"/>
                </a:solidFill>
              </a:rPr>
              <a:t>• Synthetic Elliptical Initialization:</a:t>
            </a:r>
            <a:r>
              <a:rPr b="0">
                <a:solidFill>
                  <a:srgbClr val="374151"/>
                </a:solidFill>
              </a:rPr>
              <a:t> For initial convergence testing, bounding box bounds were converted into elliptical pseudo-masks.</a:t>
            </a:r>
          </a:p>
          <a:p>
            <a:pPr>
              <a:spcAft>
                <a:spcPts val="400"/>
              </a:spcAft>
              <a:defRPr sz="1000">
                <a:latin typeface="Aptos"/>
              </a:defRPr>
            </a:pPr>
            <a:r>
              <a:rPr b="1">
                <a:solidFill>
                  <a:srgbClr val="111827"/>
                </a:solidFill>
              </a:rPr>
              <a:t>• Otsu Thresholding Refinement:</a:t>
            </a:r>
            <a:r>
              <a:rPr b="0">
                <a:solidFill>
                  <a:srgbClr val="374151"/>
                </a:solidFill>
              </a:rPr>
              <a:t> Adaptive color clustering in LAB space separating erythema/granulation from fur.</a:t>
            </a:r>
          </a:p>
          <a:p>
            <a:pPr>
              <a:spcAft>
                <a:spcPts val="400"/>
              </a:spcAft>
              <a:defRPr sz="1000">
                <a:latin typeface="Aptos"/>
              </a:defRPr>
            </a:pPr>
            <a:r>
              <a:rPr b="1">
                <a:solidFill>
                  <a:srgbClr val="111827"/>
                </a:solidFill>
              </a:rPr>
              <a:t>• Soft Dice Supervision:</a:t>
            </a:r>
            <a:r>
              <a:rPr b="0">
                <a:solidFill>
                  <a:srgbClr val="374151"/>
                </a:solidFill>
              </a:rPr>
              <a:t> Demonstrates loss backpropagation through symmetric encoder-decoder blocks.</a:t>
            </a:r>
          </a:p>
          <a:p>
            <a:pPr>
              <a:spcAft>
                <a:spcPts val="400"/>
              </a:spcAft>
              <a:defRPr sz="1000">
                <a:latin typeface="Aptos"/>
              </a:defRPr>
            </a:pPr>
            <a:r>
              <a:rPr b="1">
                <a:solidFill>
                  <a:srgbClr val="111827"/>
                </a:solidFill>
              </a:rPr>
              <a:t>• Review 3 Annotation Target:</a:t>
            </a:r>
            <a:r>
              <a:rPr b="0">
                <a:solidFill>
                  <a:srgbClr val="374151"/>
                </a:solidFill>
              </a:rPr>
              <a:t> Creating 500 hand-annotated polygon masks by veterinary students for formal clinical benchmark.</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9921240" y="201168"/>
            <a:ext cx="1965960" cy="685800"/>
          </a:xfrm>
          <a:prstGeom prst="rect">
            <a:avLst/>
          </a:prstGeom>
        </p:spPr>
      </p:pic>
      <p:sp>
        <p:nvSpPr>
          <p:cNvPr id="3" name="TextBox 2"/>
          <p:cNvSpPr txBox="1"/>
          <p:nvPr/>
        </p:nvSpPr>
        <p:spPr>
          <a:xfrm>
            <a:off x="731520" y="320040"/>
            <a:ext cx="8961120" cy="777240"/>
          </a:xfrm>
          <a:prstGeom prst="rect">
            <a:avLst/>
          </a:prstGeom>
          <a:noFill/>
        </p:spPr>
        <p:txBody>
          <a:bodyPr wrap="square" lIns="0" tIns="0" rIns="0" bIns="0">
            <a:spAutoFit/>
          </a:bodyPr>
          <a:lstStyle/>
          <a:p>
            <a:pPr>
              <a:spcAft>
                <a:spcPts val="200"/>
              </a:spcAft>
              <a:defRPr sz="950" b="1">
                <a:solidFill>
                  <a:srgbClr val="B6114D"/>
                </a:solidFill>
                <a:latin typeface="Aptos"/>
              </a:defRPr>
            </a:pPr>
            <a:r>
              <a:t>SECTION D: YOLOV8 &amp; U-NET</a:t>
            </a:r>
          </a:p>
          <a:p>
            <a:pPr>
              <a:defRPr sz="2100" b="1">
                <a:solidFill>
                  <a:srgbClr val="111827"/>
                </a:solidFill>
                <a:latin typeface="Aptos"/>
              </a:defRPr>
            </a:pPr>
            <a:r>
              <a:t>Loss Function Formulation &amp; Optimization Strategy</a:t>
            </a:r>
          </a:p>
        </p:txBody>
      </p:sp>
      <p:sp>
        <p:nvSpPr>
          <p:cNvPr id="4" name="Rectangle 3"/>
          <p:cNvSpPr/>
          <p:nvPr/>
        </p:nvSpPr>
        <p:spPr>
          <a:xfrm>
            <a:off x="731520" y="1170432"/>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161288"/>
            <a:ext cx="1097280" cy="32004"/>
          </a:xfrm>
          <a:prstGeom prst="rect">
            <a:avLst/>
          </a:prstGeom>
          <a:solidFill>
            <a:srgbClr val="B6114D"/>
          </a:solidFill>
          <a:ln>
            <a:solidFill>
              <a:srgbClr val="B611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09360"/>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55080"/>
            <a:ext cx="4572000" cy="320040"/>
          </a:xfrm>
          <a:prstGeom prst="rect">
            <a:avLst/>
          </a:prstGeom>
          <a:noFill/>
        </p:spPr>
        <p:txBody>
          <a:bodyPr wrap="none" lIns="0" tIns="0" rIns="0" bIns="0">
            <a:spAutoFit/>
          </a:bodyPr>
          <a:lstStyle/>
          <a:p>
            <a:pPr>
              <a:defRPr sz="900">
                <a:solidFill>
                  <a:srgbClr val="6B7280"/>
                </a:solidFill>
                <a:latin typeface="Aptos"/>
              </a:defRPr>
            </a:pPr>
            <a:r>
              <a:t>MediPaw — every paw deserves a chance</a:t>
            </a:r>
          </a:p>
        </p:txBody>
      </p:sp>
      <p:sp>
        <p:nvSpPr>
          <p:cNvPr id="8" name="TextBox 7"/>
          <p:cNvSpPr txBox="1"/>
          <p:nvPr/>
        </p:nvSpPr>
        <p:spPr>
          <a:xfrm>
            <a:off x="4572000" y="6355080"/>
            <a:ext cx="4114800" cy="320040"/>
          </a:xfrm>
          <a:prstGeom prst="rect">
            <a:avLst/>
          </a:prstGeom>
          <a:noFill/>
        </p:spPr>
        <p:txBody>
          <a:bodyPr wrap="none" lIns="0" tIns="0" rIns="0" bIns="0">
            <a:spAutoFit/>
          </a:bodyPr>
          <a:lstStyle/>
          <a:p>
            <a:pPr algn="ctr">
              <a:defRPr sz="900">
                <a:solidFill>
                  <a:srgbClr val="6B7280"/>
                </a:solidFill>
                <a:latin typeface="Aptos"/>
              </a:defRPr>
            </a:pPr>
            <a:r>
              <a:t>A.C. Sanhitha Reddy (CB.SC.U4CSE23206) | 23CSE473 Review 2</a:t>
            </a:r>
          </a:p>
        </p:txBody>
      </p:sp>
      <p:sp>
        <p:nvSpPr>
          <p:cNvPr id="9" name="TextBox 8"/>
          <p:cNvSpPr txBox="1"/>
          <p:nvPr/>
        </p:nvSpPr>
        <p:spPr>
          <a:xfrm>
            <a:off x="9601200" y="6355080"/>
            <a:ext cx="1828800" cy="320040"/>
          </a:xfrm>
          <a:prstGeom prst="rect">
            <a:avLst/>
          </a:prstGeom>
          <a:noFill/>
        </p:spPr>
        <p:txBody>
          <a:bodyPr wrap="none" lIns="0" tIns="0" rIns="0" bIns="0">
            <a:spAutoFit/>
          </a:bodyPr>
          <a:lstStyle/>
          <a:p>
            <a:pPr algn="r">
              <a:defRPr sz="900" b="1">
                <a:solidFill>
                  <a:srgbClr val="B6114D"/>
                </a:solidFill>
                <a:latin typeface="Aptos"/>
              </a:defRPr>
            </a:pPr>
            <a:r>
              <a:t>Slide 29 of 44</a:t>
            </a:r>
          </a:p>
        </p:txBody>
      </p:sp>
      <p:sp>
        <p:nvSpPr>
          <p:cNvPr id="10" name="Rectangle 9"/>
          <p:cNvSpPr/>
          <p:nvPr/>
        </p:nvSpPr>
        <p:spPr>
          <a:xfrm>
            <a:off x="731520" y="1371600"/>
            <a:ext cx="5212080" cy="4663440"/>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554480"/>
            <a:ext cx="4846320" cy="4297680"/>
          </a:xfrm>
          <a:prstGeom prst="rect">
            <a:avLst/>
          </a:prstGeom>
          <a:noFill/>
        </p:spPr>
        <p:txBody>
          <a:bodyPr wrap="square">
            <a:spAutoFit/>
          </a:bodyPr>
          <a:lstStyle/>
          <a:p>
            <a:pPr>
              <a:spcAft>
                <a:spcPts val="800"/>
              </a:spcAft>
              <a:defRPr sz="1200" b="1">
                <a:solidFill>
                  <a:srgbClr val="B6114D"/>
                </a:solidFill>
                <a:latin typeface="Aptos"/>
              </a:defRPr>
            </a:pPr>
            <a:r>
              <a:t>MATHEMATICAL LOSS FORMULATION</a:t>
            </a:r>
          </a:p>
          <a:p>
            <a:pPr>
              <a:spcAft>
                <a:spcPts val="600"/>
              </a:spcAft>
              <a:defRPr sz="1050">
                <a:latin typeface="Aptos"/>
              </a:defRPr>
            </a:pPr>
            <a:r>
              <a:rPr b="1">
                <a:solidFill>
                  <a:srgbClr val="111827"/>
                </a:solidFill>
              </a:rPr>
              <a:t>• Hybrid Objective:</a:t>
            </a:r>
            <a:r>
              <a:rPr b="0">
                <a:solidFill>
                  <a:srgbClr val="374151"/>
                </a:solidFill>
              </a:rPr>
              <a:t> Combined Binary Cross-Entropy (BCE) and Soft Dice Loss defined in unet/losses.py: L_total = 0.5 * L_BCE + 0.5 * L_Dice.</a:t>
            </a:r>
          </a:p>
          <a:p>
            <a:pPr>
              <a:spcAft>
                <a:spcPts val="600"/>
              </a:spcAft>
              <a:defRPr sz="1050">
                <a:latin typeface="Aptos"/>
              </a:defRPr>
            </a:pPr>
            <a:r>
              <a:rPr b="1">
                <a:solidFill>
                  <a:srgbClr val="111827"/>
                </a:solidFill>
              </a:rPr>
              <a:t>• Binary Cross-Entropy (BCE):</a:t>
            </a:r>
            <a:r>
              <a:rPr b="0">
                <a:solidFill>
                  <a:srgbClr val="374151"/>
                </a:solidFill>
              </a:rPr>
              <a:t> Penalizes pixel-level classification errors uniformly across foreground and background: L_BCE = -1/N * sum(y * log(p) + (1-y) * log(1-p)).</a:t>
            </a:r>
          </a:p>
          <a:p>
            <a:pPr>
              <a:spcAft>
                <a:spcPts val="600"/>
              </a:spcAft>
              <a:defRPr sz="1050">
                <a:latin typeface="Aptos"/>
              </a:defRPr>
            </a:pPr>
            <a:r>
              <a:rPr b="1">
                <a:solidFill>
                  <a:srgbClr val="111827"/>
                </a:solidFill>
              </a:rPr>
              <a:t>• Soft Dice Loss:</a:t>
            </a:r>
            <a:r>
              <a:rPr b="0">
                <a:solidFill>
                  <a:srgbClr val="374151"/>
                </a:solidFill>
              </a:rPr>
              <a:t> Handles extreme class imbalance where wound pixels occupy &lt; 5% of the frame: L_Dice = 1 - (2 * sum(y * p) + eps) / (sum(y) + sum(p) + eps).</a:t>
            </a:r>
          </a:p>
          <a:p>
            <a:pPr>
              <a:spcAft>
                <a:spcPts val="600"/>
              </a:spcAft>
              <a:defRPr sz="1050">
                <a:latin typeface="Aptos"/>
              </a:defRPr>
            </a:pPr>
            <a:r>
              <a:rPr b="1">
                <a:solidFill>
                  <a:srgbClr val="111827"/>
                </a:solidFill>
              </a:rPr>
              <a:t>• Epsilon Smoothing:</a:t>
            </a:r>
            <a:r>
              <a:rPr b="0">
                <a:solidFill>
                  <a:srgbClr val="374151"/>
                </a:solidFill>
              </a:rPr>
              <a:t> eps = 1.0 prevents zero-division in masks with minimal wound tissue.</a:t>
            </a:r>
          </a:p>
          <a:p>
            <a:pPr>
              <a:spcAft>
                <a:spcPts val="600"/>
              </a:spcAft>
              <a:defRPr sz="1050">
                <a:latin typeface="Aptos"/>
              </a:defRPr>
            </a:pPr>
            <a:r>
              <a:rPr b="1">
                <a:solidFill>
                  <a:srgbClr val="111827"/>
                </a:solidFill>
              </a:rPr>
              <a:t>• Gradient Balance:</a:t>
            </a:r>
            <a:r>
              <a:rPr b="0">
                <a:solidFill>
                  <a:srgbClr val="374151"/>
                </a:solidFill>
              </a:rPr>
              <a:t> BCE ensures smooth early gradients while Dice loss directly optimizes spatial overlap.</a:t>
            </a:r>
          </a:p>
        </p:txBody>
      </p:sp>
      <p:sp>
        <p:nvSpPr>
          <p:cNvPr id="12" name="Rectangle 11"/>
          <p:cNvSpPr/>
          <p:nvPr/>
        </p:nvSpPr>
        <p:spPr>
          <a:xfrm>
            <a:off x="6217920" y="1371600"/>
            <a:ext cx="5212080" cy="4663440"/>
          </a:xfrm>
          <a:prstGeom prst="rect">
            <a:avLst/>
          </a:prstGeom>
          <a:solidFill>
            <a:srgbClr val="FDF2F4"/>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554480"/>
            <a:ext cx="4846320" cy="4297680"/>
          </a:xfrm>
          <a:prstGeom prst="rect">
            <a:avLst/>
          </a:prstGeom>
          <a:noFill/>
        </p:spPr>
        <p:txBody>
          <a:bodyPr wrap="square">
            <a:spAutoFit/>
          </a:bodyPr>
          <a:lstStyle/>
          <a:p>
            <a:pPr>
              <a:spcAft>
                <a:spcPts val="800"/>
              </a:spcAft>
              <a:defRPr sz="1200" b="1">
                <a:solidFill>
                  <a:srgbClr val="086072"/>
                </a:solidFill>
                <a:latin typeface="Aptos"/>
              </a:defRPr>
            </a:pPr>
            <a:r>
              <a:t>U-NET HYPERPARAMETER SPECIFICATIONS</a:t>
            </a:r>
          </a:p>
          <a:p>
            <a:pPr>
              <a:spcAft>
                <a:spcPts val="600"/>
              </a:spcAft>
              <a:defRPr sz="1050">
                <a:latin typeface="Aptos"/>
              </a:defRPr>
            </a:pPr>
            <a:r>
              <a:rPr b="1">
                <a:solidFill>
                  <a:srgbClr val="111827"/>
                </a:solidFill>
              </a:rPr>
              <a:t>• Optimizer:</a:t>
            </a:r>
            <a:r>
              <a:rPr b="0">
                <a:solidFill>
                  <a:srgbClr val="374151"/>
                </a:solidFill>
              </a:rPr>
              <a:t> AdamW with beta1=0.9, beta2=0.999, eps=1e-8.</a:t>
            </a:r>
          </a:p>
          <a:p>
            <a:pPr>
              <a:spcAft>
                <a:spcPts val="600"/>
              </a:spcAft>
              <a:defRPr sz="1050">
                <a:latin typeface="Aptos"/>
              </a:defRPr>
            </a:pPr>
            <a:r>
              <a:rPr b="1">
                <a:solidFill>
                  <a:srgbClr val="111827"/>
                </a:solidFill>
              </a:rPr>
              <a:t>• Learning Rate:</a:t>
            </a:r>
            <a:r>
              <a:rPr b="0">
                <a:solidFill>
                  <a:srgbClr val="374151"/>
                </a:solidFill>
              </a:rPr>
              <a:t> Initial lr = 5.0e-4 (0.0005) with ReduceLROnPlateau(patience=3, factor=0.5).</a:t>
            </a:r>
          </a:p>
          <a:p>
            <a:pPr>
              <a:spcAft>
                <a:spcPts val="600"/>
              </a:spcAft>
              <a:defRPr sz="1050">
                <a:latin typeface="Aptos"/>
              </a:defRPr>
            </a:pPr>
            <a:r>
              <a:rPr b="1">
                <a:solidFill>
                  <a:srgbClr val="111827"/>
                </a:solidFill>
              </a:rPr>
              <a:t>• Weight Decay:</a:t>
            </a:r>
            <a:r>
              <a:rPr b="0">
                <a:solidFill>
                  <a:srgbClr val="374151"/>
                </a:solidFill>
              </a:rPr>
              <a:t> 1.0e-4 to prevent convolutional filter overfitting.</a:t>
            </a:r>
          </a:p>
          <a:p>
            <a:pPr>
              <a:spcAft>
                <a:spcPts val="600"/>
              </a:spcAft>
              <a:defRPr sz="1050">
                <a:latin typeface="Aptos"/>
              </a:defRPr>
            </a:pPr>
            <a:r>
              <a:rPr b="1">
                <a:solidFill>
                  <a:srgbClr val="111827"/>
                </a:solidFill>
              </a:rPr>
              <a:t>• Batch Size:</a:t>
            </a:r>
            <a:r>
              <a:rPr b="0">
                <a:solidFill>
                  <a:srgbClr val="374151"/>
                </a:solidFill>
              </a:rPr>
              <a:t> 16 crops per step on 256x256 resolution.</a:t>
            </a:r>
          </a:p>
          <a:p>
            <a:pPr>
              <a:spcAft>
                <a:spcPts val="600"/>
              </a:spcAft>
              <a:defRPr sz="1050">
                <a:latin typeface="Aptos"/>
              </a:defRPr>
            </a:pPr>
            <a:r>
              <a:rPr b="1">
                <a:solidFill>
                  <a:srgbClr val="111827"/>
                </a:solidFill>
              </a:rPr>
              <a:t>• Base Filters:</a:t>
            </a:r>
            <a:r>
              <a:rPr b="0">
                <a:solidFill>
                  <a:srgbClr val="374151"/>
                </a:solidFill>
              </a:rPr>
              <a:t> 32 base feature maps scaling to 512 at bottleneck (7.76M total parameters).</a:t>
            </a:r>
          </a:p>
          <a:p>
            <a:pPr>
              <a:spcAft>
                <a:spcPts val="600"/>
              </a:spcAft>
              <a:defRPr sz="1050">
                <a:latin typeface="Aptos"/>
              </a:defRPr>
            </a:pPr>
            <a:r>
              <a:rPr b="1">
                <a:solidFill>
                  <a:srgbClr val="111827"/>
                </a:solidFill>
              </a:rPr>
              <a:t>• Checkpoint Policy:</a:t>
            </a:r>
            <a:r>
              <a:rPr b="0">
                <a:solidFill>
                  <a:srgbClr val="374151"/>
                </a:solidFill>
              </a:rPr>
              <a:t> Model state checkpointed based on lowest validation hybrid loss.</a:t>
            </a:r>
          </a:p>
          <a:p>
            <a:pPr>
              <a:spcAft>
                <a:spcPts val="600"/>
              </a:spcAft>
              <a:defRPr sz="1050">
                <a:latin typeface="Aptos"/>
              </a:defRPr>
            </a:pPr>
            <a:r>
              <a:rPr b="1">
                <a:solidFill>
                  <a:srgbClr val="111827"/>
                </a:solidFill>
              </a:rPr>
              <a:t>• Code Verification:</a:t>
            </a:r>
            <a:r>
              <a:rPr b="0">
                <a:solidFill>
                  <a:srgbClr val="374151"/>
                </a:solidFill>
              </a:rPr>
              <a:t> Verified in unet/train.py and unet/losses.py.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9921240" y="201168"/>
            <a:ext cx="1965960" cy="685800"/>
          </a:xfrm>
          <a:prstGeom prst="rect">
            <a:avLst/>
          </a:prstGeom>
        </p:spPr>
      </p:pic>
      <p:sp>
        <p:nvSpPr>
          <p:cNvPr id="3" name="TextBox 2"/>
          <p:cNvSpPr txBox="1"/>
          <p:nvPr/>
        </p:nvSpPr>
        <p:spPr>
          <a:xfrm>
            <a:off x="731520" y="320040"/>
            <a:ext cx="8961120" cy="777240"/>
          </a:xfrm>
          <a:prstGeom prst="rect">
            <a:avLst/>
          </a:prstGeom>
          <a:noFill/>
        </p:spPr>
        <p:txBody>
          <a:bodyPr wrap="square" lIns="0" tIns="0" rIns="0" bIns="0">
            <a:spAutoFit/>
          </a:bodyPr>
          <a:lstStyle/>
          <a:p>
            <a:pPr>
              <a:spcAft>
                <a:spcPts val="200"/>
              </a:spcAft>
              <a:defRPr sz="950" b="1">
                <a:solidFill>
                  <a:srgbClr val="B6114D"/>
                </a:solidFill>
                <a:latin typeface="Aptos"/>
              </a:defRPr>
            </a:pPr>
            <a:r>
              <a:t>SECTION D: YOLOV8 &amp; U-NET</a:t>
            </a:r>
          </a:p>
          <a:p>
            <a:pPr>
              <a:defRPr sz="2100" b="1">
                <a:solidFill>
                  <a:srgbClr val="111827"/>
                </a:solidFill>
                <a:latin typeface="Aptos"/>
              </a:defRPr>
            </a:pPr>
            <a:r>
              <a:t>Segmentation Evaluation Methodology &amp; Mathematical Formulae</a:t>
            </a:r>
          </a:p>
        </p:txBody>
      </p:sp>
      <p:sp>
        <p:nvSpPr>
          <p:cNvPr id="4" name="Rectangle 3"/>
          <p:cNvSpPr/>
          <p:nvPr/>
        </p:nvSpPr>
        <p:spPr>
          <a:xfrm>
            <a:off x="731520" y="1170432"/>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161288"/>
            <a:ext cx="1097280" cy="32004"/>
          </a:xfrm>
          <a:prstGeom prst="rect">
            <a:avLst/>
          </a:prstGeom>
          <a:solidFill>
            <a:srgbClr val="B6114D"/>
          </a:solidFill>
          <a:ln>
            <a:solidFill>
              <a:srgbClr val="B611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09360"/>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55080"/>
            <a:ext cx="4572000" cy="320040"/>
          </a:xfrm>
          <a:prstGeom prst="rect">
            <a:avLst/>
          </a:prstGeom>
          <a:noFill/>
        </p:spPr>
        <p:txBody>
          <a:bodyPr wrap="none" lIns="0" tIns="0" rIns="0" bIns="0">
            <a:spAutoFit/>
          </a:bodyPr>
          <a:lstStyle/>
          <a:p>
            <a:pPr>
              <a:defRPr sz="900">
                <a:solidFill>
                  <a:srgbClr val="6B7280"/>
                </a:solidFill>
                <a:latin typeface="Aptos"/>
              </a:defRPr>
            </a:pPr>
            <a:r>
              <a:t>MediPaw — every paw deserves a chance</a:t>
            </a:r>
          </a:p>
        </p:txBody>
      </p:sp>
      <p:sp>
        <p:nvSpPr>
          <p:cNvPr id="8" name="TextBox 7"/>
          <p:cNvSpPr txBox="1"/>
          <p:nvPr/>
        </p:nvSpPr>
        <p:spPr>
          <a:xfrm>
            <a:off x="4572000" y="6355080"/>
            <a:ext cx="4114800" cy="320040"/>
          </a:xfrm>
          <a:prstGeom prst="rect">
            <a:avLst/>
          </a:prstGeom>
          <a:noFill/>
        </p:spPr>
        <p:txBody>
          <a:bodyPr wrap="none" lIns="0" tIns="0" rIns="0" bIns="0">
            <a:spAutoFit/>
          </a:bodyPr>
          <a:lstStyle/>
          <a:p>
            <a:pPr algn="ctr">
              <a:defRPr sz="900">
                <a:solidFill>
                  <a:srgbClr val="6B7280"/>
                </a:solidFill>
                <a:latin typeface="Aptos"/>
              </a:defRPr>
            </a:pPr>
            <a:r>
              <a:t>A.C. Sanhitha Reddy (CB.SC.U4CSE23206) | 23CSE473 Review 2</a:t>
            </a:r>
          </a:p>
        </p:txBody>
      </p:sp>
      <p:sp>
        <p:nvSpPr>
          <p:cNvPr id="9" name="TextBox 8"/>
          <p:cNvSpPr txBox="1"/>
          <p:nvPr/>
        </p:nvSpPr>
        <p:spPr>
          <a:xfrm>
            <a:off x="9601200" y="6355080"/>
            <a:ext cx="1828800" cy="320040"/>
          </a:xfrm>
          <a:prstGeom prst="rect">
            <a:avLst/>
          </a:prstGeom>
          <a:noFill/>
        </p:spPr>
        <p:txBody>
          <a:bodyPr wrap="none" lIns="0" tIns="0" rIns="0" bIns="0">
            <a:spAutoFit/>
          </a:bodyPr>
          <a:lstStyle/>
          <a:p>
            <a:pPr algn="r">
              <a:defRPr sz="900" b="1">
                <a:solidFill>
                  <a:srgbClr val="B6114D"/>
                </a:solidFill>
                <a:latin typeface="Aptos"/>
              </a:defRPr>
            </a:pPr>
            <a:r>
              <a:t>Slide 30 of 44</a:t>
            </a:r>
          </a:p>
        </p:txBody>
      </p:sp>
      <p:graphicFrame>
        <p:nvGraphicFramePr>
          <p:cNvPr id="10" name="Table 9"/>
          <p:cNvGraphicFramePr>
            <a:graphicFrameLocks noGrp="1"/>
          </p:cNvGraphicFramePr>
          <p:nvPr/>
        </p:nvGraphicFramePr>
        <p:xfrm>
          <a:off x="731520" y="1371600"/>
          <a:ext cx="10698480" cy="3291840"/>
        </p:xfrm>
        <a:graphic>
          <a:graphicData uri="http://schemas.openxmlformats.org/drawingml/2006/table">
            <a:tbl>
              <a:tblPr firstRow="1" bandRow="1">
                <a:tableStyleId>{5C22544A-7EE6-4342-B048-85BDC9FD1C3A}</a:tableStyleId>
              </a:tblPr>
              <a:tblGrid>
                <a:gridCol w="2011680"/>
                <a:gridCol w="2011680"/>
                <a:gridCol w="3200400"/>
                <a:gridCol w="1737360"/>
                <a:gridCol w="1737360"/>
              </a:tblGrid>
              <a:tr h="548640">
                <a:tc>
                  <a:txBody>
                    <a:bodyPr/>
                    <a:lstStyle/>
                    <a:p>
                      <a:pPr algn="l">
                        <a:defRPr sz="1050" b="1">
                          <a:solidFill>
                            <a:srgbClr val="FFFFFF"/>
                          </a:solidFill>
                          <a:latin typeface="Aptos"/>
                        </a:defRPr>
                      </a:pPr>
                      <a:r>
                        <a:t>Metric Name</a:t>
                      </a:r>
                    </a:p>
                  </a:txBody>
                  <a:tcPr>
                    <a:solidFill>
                      <a:srgbClr val="B6114D"/>
                    </a:solidFill>
                  </a:tcPr>
                </a:tc>
                <a:tc>
                  <a:txBody>
                    <a:bodyPr/>
                    <a:lstStyle/>
                    <a:p>
                      <a:pPr algn="l">
                        <a:defRPr sz="1050" b="1">
                          <a:solidFill>
                            <a:srgbClr val="FFFFFF"/>
                          </a:solidFill>
                          <a:latin typeface="Aptos"/>
                        </a:defRPr>
                      </a:pPr>
                      <a:r>
                        <a:t>Mathematical Definition</a:t>
                      </a:r>
                    </a:p>
                  </a:txBody>
                  <a:tcPr>
                    <a:solidFill>
                      <a:srgbClr val="B6114D"/>
                    </a:solidFill>
                  </a:tcPr>
                </a:tc>
                <a:tc>
                  <a:txBody>
                    <a:bodyPr/>
                    <a:lstStyle/>
                    <a:p>
                      <a:pPr algn="l">
                        <a:defRPr sz="1050" b="1">
                          <a:solidFill>
                            <a:srgbClr val="FFFFFF"/>
                          </a:solidFill>
                          <a:latin typeface="Aptos"/>
                        </a:defRPr>
                      </a:pPr>
                      <a:r>
                        <a:t>Clinical Role</a:t>
                      </a:r>
                    </a:p>
                  </a:txBody>
                  <a:tcPr>
                    <a:solidFill>
                      <a:srgbClr val="B6114D"/>
                    </a:solidFill>
                  </a:tcPr>
                </a:tc>
                <a:tc>
                  <a:txBody>
                    <a:bodyPr/>
                    <a:lstStyle/>
                    <a:p>
                      <a:pPr algn="l">
                        <a:defRPr sz="1050" b="1">
                          <a:solidFill>
                            <a:srgbClr val="FFFFFF"/>
                          </a:solidFill>
                          <a:latin typeface="Aptos"/>
                        </a:defRPr>
                      </a:pPr>
                      <a:r>
                        <a:t>Theoretical Range</a:t>
                      </a:r>
                    </a:p>
                  </a:txBody>
                  <a:tcPr>
                    <a:solidFill>
                      <a:srgbClr val="B6114D"/>
                    </a:solidFill>
                  </a:tcPr>
                </a:tc>
                <a:tc>
                  <a:txBody>
                    <a:bodyPr/>
                    <a:lstStyle/>
                    <a:p>
                      <a:pPr algn="l">
                        <a:defRPr sz="1050" b="1">
                          <a:solidFill>
                            <a:srgbClr val="FFFFFF"/>
                          </a:solidFill>
                          <a:latin typeface="Aptos"/>
                        </a:defRPr>
                      </a:pPr>
                      <a:r>
                        <a:t>Target Benchmark</a:t>
                      </a:r>
                    </a:p>
                  </a:txBody>
                  <a:tcPr>
                    <a:solidFill>
                      <a:srgbClr val="B6114D"/>
                    </a:solidFill>
                  </a:tcPr>
                </a:tc>
              </a:tr>
              <a:tr h="548640">
                <a:tc>
                  <a:txBody>
                    <a:bodyPr/>
                    <a:lstStyle/>
                    <a:p>
                      <a:pPr algn="l">
                        <a:defRPr sz="1000" b="1">
                          <a:solidFill>
                            <a:srgbClr val="111827"/>
                          </a:solidFill>
                          <a:latin typeface="Aptos"/>
                        </a:defRPr>
                      </a:pPr>
                      <a:r>
                        <a:t>Dice Similarity Coefficient (DSC)</a:t>
                      </a:r>
                    </a:p>
                  </a:txBody>
                  <a:tcPr>
                    <a:solidFill>
                      <a:srgbClr val="FFFFFF"/>
                    </a:solidFill>
                  </a:tcPr>
                </a:tc>
                <a:tc>
                  <a:txBody>
                    <a:bodyPr/>
                    <a:lstStyle/>
                    <a:p>
                      <a:pPr algn="l">
                        <a:defRPr sz="1000">
                          <a:solidFill>
                            <a:srgbClr val="374151"/>
                          </a:solidFill>
                          <a:latin typeface="Aptos"/>
                        </a:defRPr>
                      </a:pPr>
                      <a:r>
                        <a:t>2 * |A ∩ B| / (|A| + |B|)</a:t>
                      </a:r>
                    </a:p>
                  </a:txBody>
                  <a:tcPr>
                    <a:solidFill>
                      <a:srgbClr val="FFFFFF"/>
                    </a:solidFill>
                  </a:tcPr>
                </a:tc>
                <a:tc>
                  <a:txBody>
                    <a:bodyPr/>
                    <a:lstStyle/>
                    <a:p>
                      <a:pPr algn="l">
                        <a:defRPr sz="1000">
                          <a:solidFill>
                            <a:srgbClr val="374151"/>
                          </a:solidFill>
                          <a:latin typeface="Aptos"/>
                        </a:defRPr>
                      </a:pPr>
                      <a:r>
                        <a:t>Measures volumetric spatial overlap between predicted and true lesion masks</a:t>
                      </a:r>
                    </a:p>
                  </a:txBody>
                  <a:tcPr>
                    <a:solidFill>
                      <a:srgbClr val="FFFFFF"/>
                    </a:solidFill>
                  </a:tcPr>
                </a:tc>
                <a:tc>
                  <a:txBody>
                    <a:bodyPr/>
                    <a:lstStyle/>
                    <a:p>
                      <a:pPr algn="l">
                        <a:defRPr sz="1000">
                          <a:solidFill>
                            <a:srgbClr val="374151"/>
                          </a:solidFill>
                          <a:latin typeface="Aptos"/>
                        </a:defRPr>
                      </a:pPr>
                      <a:r>
                        <a:t>0.0 to 1.0 (Higher is better)</a:t>
                      </a:r>
                    </a:p>
                  </a:txBody>
                  <a:tcPr>
                    <a:solidFill>
                      <a:srgbClr val="FFFFFF"/>
                    </a:solidFill>
                  </a:tcPr>
                </a:tc>
                <a:tc>
                  <a:txBody>
                    <a:bodyPr/>
                    <a:lstStyle/>
                    <a:p>
                      <a:pPr algn="l">
                        <a:defRPr sz="1000">
                          <a:solidFill>
                            <a:srgbClr val="374151"/>
                          </a:solidFill>
                          <a:latin typeface="Aptos"/>
                        </a:defRPr>
                      </a:pPr>
                      <a:r>
                        <a:t>&gt; 0.85 (Target)</a:t>
                      </a:r>
                    </a:p>
                  </a:txBody>
                  <a:tcPr>
                    <a:solidFill>
                      <a:srgbClr val="FFFFFF"/>
                    </a:solidFill>
                  </a:tcPr>
                </a:tc>
              </a:tr>
              <a:tr h="548640">
                <a:tc>
                  <a:txBody>
                    <a:bodyPr/>
                    <a:lstStyle/>
                    <a:p>
                      <a:pPr algn="l">
                        <a:defRPr sz="1000" b="1">
                          <a:solidFill>
                            <a:srgbClr val="111827"/>
                          </a:solidFill>
                          <a:latin typeface="Aptos"/>
                        </a:defRPr>
                      </a:pPr>
                      <a:r>
                        <a:t>Intersection over Union (IoU / Jaccard)</a:t>
                      </a:r>
                    </a:p>
                  </a:txBody>
                  <a:tcPr>
                    <a:solidFill>
                      <a:srgbClr val="FDF2F4"/>
                    </a:solidFill>
                  </a:tcPr>
                </a:tc>
                <a:tc>
                  <a:txBody>
                    <a:bodyPr/>
                    <a:lstStyle/>
                    <a:p>
                      <a:pPr algn="l">
                        <a:defRPr sz="1000">
                          <a:solidFill>
                            <a:srgbClr val="374151"/>
                          </a:solidFill>
                          <a:latin typeface="Aptos"/>
                        </a:defRPr>
                      </a:pPr>
                      <a:r>
                        <a:t>|A ∩ B| / |A ∪ B|</a:t>
                      </a:r>
                    </a:p>
                  </a:txBody>
                  <a:tcPr>
                    <a:solidFill>
                      <a:srgbClr val="FDF2F4"/>
                    </a:solidFill>
                  </a:tcPr>
                </a:tc>
                <a:tc>
                  <a:txBody>
                    <a:bodyPr/>
                    <a:lstStyle/>
                    <a:p>
                      <a:pPr algn="l">
                        <a:defRPr sz="1000">
                          <a:solidFill>
                            <a:srgbClr val="374151"/>
                          </a:solidFill>
                          <a:latin typeface="Aptos"/>
                        </a:defRPr>
                      </a:pPr>
                      <a:r>
                        <a:t>Stricter penalization of false positive boundary spill into healthy tissue</a:t>
                      </a:r>
                    </a:p>
                  </a:txBody>
                  <a:tcPr>
                    <a:solidFill>
                      <a:srgbClr val="FDF2F4"/>
                    </a:solidFill>
                  </a:tcPr>
                </a:tc>
                <a:tc>
                  <a:txBody>
                    <a:bodyPr/>
                    <a:lstStyle/>
                    <a:p>
                      <a:pPr algn="l">
                        <a:defRPr sz="1000">
                          <a:solidFill>
                            <a:srgbClr val="374151"/>
                          </a:solidFill>
                          <a:latin typeface="Aptos"/>
                        </a:defRPr>
                      </a:pPr>
                      <a:r>
                        <a:t>0.0 to 1.0 (Higher is better)</a:t>
                      </a:r>
                    </a:p>
                  </a:txBody>
                  <a:tcPr>
                    <a:solidFill>
                      <a:srgbClr val="FDF2F4"/>
                    </a:solidFill>
                  </a:tcPr>
                </a:tc>
                <a:tc>
                  <a:txBody>
                    <a:bodyPr/>
                    <a:lstStyle/>
                    <a:p>
                      <a:pPr algn="l">
                        <a:defRPr sz="1000">
                          <a:solidFill>
                            <a:srgbClr val="374151"/>
                          </a:solidFill>
                          <a:latin typeface="Aptos"/>
                        </a:defRPr>
                      </a:pPr>
                      <a:r>
                        <a:t>&gt; 0.75 (Target)</a:t>
                      </a:r>
                    </a:p>
                  </a:txBody>
                  <a:tcPr>
                    <a:solidFill>
                      <a:srgbClr val="FDF2F4"/>
                    </a:solidFill>
                  </a:tcPr>
                </a:tc>
              </a:tr>
              <a:tr h="548640">
                <a:tc>
                  <a:txBody>
                    <a:bodyPr/>
                    <a:lstStyle/>
                    <a:p>
                      <a:pPr algn="l">
                        <a:defRPr sz="1000" b="1">
                          <a:solidFill>
                            <a:srgbClr val="111827"/>
                          </a:solidFill>
                          <a:latin typeface="Aptos"/>
                        </a:defRPr>
                      </a:pPr>
                      <a:r>
                        <a:t>Pixel-Wise Sensitivity (Recall)</a:t>
                      </a:r>
                    </a:p>
                  </a:txBody>
                  <a:tcPr>
                    <a:solidFill>
                      <a:srgbClr val="FFFFFF"/>
                    </a:solidFill>
                  </a:tcPr>
                </a:tc>
                <a:tc>
                  <a:txBody>
                    <a:bodyPr/>
                    <a:lstStyle/>
                    <a:p>
                      <a:pPr algn="l">
                        <a:defRPr sz="1000">
                          <a:solidFill>
                            <a:srgbClr val="374151"/>
                          </a:solidFill>
                          <a:latin typeface="Aptos"/>
                        </a:defRPr>
                      </a:pPr>
                      <a:r>
                        <a:t>TP / (TP + FN)</a:t>
                      </a:r>
                    </a:p>
                  </a:txBody>
                  <a:tcPr>
                    <a:solidFill>
                      <a:srgbClr val="FFFFFF"/>
                    </a:solidFill>
                  </a:tcPr>
                </a:tc>
                <a:tc>
                  <a:txBody>
                    <a:bodyPr/>
                    <a:lstStyle/>
                    <a:p>
                      <a:pPr algn="l">
                        <a:defRPr sz="1000">
                          <a:solidFill>
                            <a:srgbClr val="374151"/>
                          </a:solidFill>
                          <a:latin typeface="Aptos"/>
                        </a:defRPr>
                      </a:pPr>
                      <a:r>
                        <a:t>Ensures complete detection of all necrotic wound margins without omission</a:t>
                      </a:r>
                    </a:p>
                  </a:txBody>
                  <a:tcPr>
                    <a:solidFill>
                      <a:srgbClr val="FFFFFF"/>
                    </a:solidFill>
                  </a:tcPr>
                </a:tc>
                <a:tc>
                  <a:txBody>
                    <a:bodyPr/>
                    <a:lstStyle/>
                    <a:p>
                      <a:pPr algn="l">
                        <a:defRPr sz="1000">
                          <a:solidFill>
                            <a:srgbClr val="374151"/>
                          </a:solidFill>
                          <a:latin typeface="Aptos"/>
                        </a:defRPr>
                      </a:pPr>
                      <a:r>
                        <a:t>0.0 to 1.0 (Higher is better)</a:t>
                      </a:r>
                    </a:p>
                  </a:txBody>
                  <a:tcPr>
                    <a:solidFill>
                      <a:srgbClr val="FFFFFF"/>
                    </a:solidFill>
                  </a:tcPr>
                </a:tc>
                <a:tc>
                  <a:txBody>
                    <a:bodyPr/>
                    <a:lstStyle/>
                    <a:p>
                      <a:pPr algn="l">
                        <a:defRPr sz="1000">
                          <a:solidFill>
                            <a:srgbClr val="374151"/>
                          </a:solidFill>
                          <a:latin typeface="Aptos"/>
                        </a:defRPr>
                      </a:pPr>
                      <a:r>
                        <a:t>&gt; 0.90 (Target)</a:t>
                      </a:r>
                    </a:p>
                  </a:txBody>
                  <a:tcPr>
                    <a:solidFill>
                      <a:srgbClr val="FFFFFF"/>
                    </a:solidFill>
                  </a:tcPr>
                </a:tc>
              </a:tr>
              <a:tr h="548640">
                <a:tc>
                  <a:txBody>
                    <a:bodyPr/>
                    <a:lstStyle/>
                    <a:p>
                      <a:pPr algn="l">
                        <a:defRPr sz="1000" b="1">
                          <a:solidFill>
                            <a:srgbClr val="111827"/>
                          </a:solidFill>
                          <a:latin typeface="Aptos"/>
                        </a:defRPr>
                      </a:pPr>
                      <a:r>
                        <a:t>Pixel-Wise Specificity</a:t>
                      </a:r>
                    </a:p>
                  </a:txBody>
                  <a:tcPr>
                    <a:solidFill>
                      <a:srgbClr val="FDF2F4"/>
                    </a:solidFill>
                  </a:tcPr>
                </a:tc>
                <a:tc>
                  <a:txBody>
                    <a:bodyPr/>
                    <a:lstStyle/>
                    <a:p>
                      <a:pPr algn="l">
                        <a:defRPr sz="1000">
                          <a:solidFill>
                            <a:srgbClr val="374151"/>
                          </a:solidFill>
                          <a:latin typeface="Aptos"/>
                        </a:defRPr>
                      </a:pPr>
                      <a:r>
                        <a:t>TN / (TN + FP)</a:t>
                      </a:r>
                    </a:p>
                  </a:txBody>
                  <a:tcPr>
                    <a:solidFill>
                      <a:srgbClr val="FDF2F4"/>
                    </a:solidFill>
                  </a:tcPr>
                </a:tc>
                <a:tc>
                  <a:txBody>
                    <a:bodyPr/>
                    <a:lstStyle/>
                    <a:p>
                      <a:pPr algn="l">
                        <a:defRPr sz="1000">
                          <a:solidFill>
                            <a:srgbClr val="374151"/>
                          </a:solidFill>
                          <a:latin typeface="Aptos"/>
                        </a:defRPr>
                      </a:pPr>
                      <a:r>
                        <a:t>Prevents labeling healthy surrounding skin as infected trauma tissue</a:t>
                      </a:r>
                    </a:p>
                  </a:txBody>
                  <a:tcPr>
                    <a:solidFill>
                      <a:srgbClr val="FDF2F4"/>
                    </a:solidFill>
                  </a:tcPr>
                </a:tc>
                <a:tc>
                  <a:txBody>
                    <a:bodyPr/>
                    <a:lstStyle/>
                    <a:p>
                      <a:pPr algn="l">
                        <a:defRPr sz="1000">
                          <a:solidFill>
                            <a:srgbClr val="374151"/>
                          </a:solidFill>
                          <a:latin typeface="Aptos"/>
                        </a:defRPr>
                      </a:pPr>
                      <a:r>
                        <a:t>0.0 to 1.0 (Higher is better)</a:t>
                      </a:r>
                    </a:p>
                  </a:txBody>
                  <a:tcPr>
                    <a:solidFill>
                      <a:srgbClr val="FDF2F4"/>
                    </a:solidFill>
                  </a:tcPr>
                </a:tc>
                <a:tc>
                  <a:txBody>
                    <a:bodyPr/>
                    <a:lstStyle/>
                    <a:p>
                      <a:pPr algn="l">
                        <a:defRPr sz="1000">
                          <a:solidFill>
                            <a:srgbClr val="374151"/>
                          </a:solidFill>
                          <a:latin typeface="Aptos"/>
                        </a:defRPr>
                      </a:pPr>
                      <a:r>
                        <a:t>&gt; 0.95 (Target)</a:t>
                      </a:r>
                    </a:p>
                  </a:txBody>
                  <a:tcPr>
                    <a:solidFill>
                      <a:srgbClr val="FDF2F4"/>
                    </a:solidFill>
                  </a:tcPr>
                </a:tc>
              </a:tr>
              <a:tr h="548640">
                <a:tc>
                  <a:txBody>
                    <a:bodyPr/>
                    <a:lstStyle/>
                    <a:p>
                      <a:pPr algn="l">
                        <a:defRPr sz="1000" b="1">
                          <a:solidFill>
                            <a:srgbClr val="111827"/>
                          </a:solidFill>
                          <a:latin typeface="Aptos"/>
                        </a:defRPr>
                      </a:pPr>
                      <a:r>
                        <a:t>Surface Area Error (%)</a:t>
                      </a:r>
                    </a:p>
                  </a:txBody>
                  <a:tcPr>
                    <a:solidFill>
                      <a:srgbClr val="FFFFFF"/>
                    </a:solidFill>
                  </a:tcPr>
                </a:tc>
                <a:tc>
                  <a:txBody>
                    <a:bodyPr/>
                    <a:lstStyle/>
                    <a:p>
                      <a:pPr algn="l">
                        <a:defRPr sz="1000">
                          <a:solidFill>
                            <a:srgbClr val="374151"/>
                          </a:solidFill>
                          <a:latin typeface="Aptos"/>
                        </a:defRPr>
                      </a:pPr>
                      <a:r>
                        <a:t>|Area_pred - Area_true| / Area_true</a:t>
                      </a:r>
                    </a:p>
                  </a:txBody>
                  <a:tcPr>
                    <a:solidFill>
                      <a:srgbClr val="FFFFFF"/>
                    </a:solidFill>
                  </a:tcPr>
                </a:tc>
                <a:tc>
                  <a:txBody>
                    <a:bodyPr/>
                    <a:lstStyle/>
                    <a:p>
                      <a:pPr algn="l">
                        <a:defRPr sz="1000">
                          <a:solidFill>
                            <a:srgbClr val="374151"/>
                          </a:solidFill>
                          <a:latin typeface="Aptos"/>
                        </a:defRPr>
                      </a:pPr>
                      <a:r>
                        <a:t>Verifies accuracy of physical wound size estimation for dosage calculations</a:t>
                      </a:r>
                    </a:p>
                  </a:txBody>
                  <a:tcPr>
                    <a:solidFill>
                      <a:srgbClr val="FFFFFF"/>
                    </a:solidFill>
                  </a:tcPr>
                </a:tc>
                <a:tc>
                  <a:txBody>
                    <a:bodyPr/>
                    <a:lstStyle/>
                    <a:p>
                      <a:pPr algn="l">
                        <a:defRPr sz="1000">
                          <a:solidFill>
                            <a:srgbClr val="374151"/>
                          </a:solidFill>
                          <a:latin typeface="Aptos"/>
                        </a:defRPr>
                      </a:pPr>
                      <a:r>
                        <a:t>0.0% to 100% (Lower is better)</a:t>
                      </a:r>
                    </a:p>
                  </a:txBody>
                  <a:tcPr>
                    <a:solidFill>
                      <a:srgbClr val="FFFFFF"/>
                    </a:solidFill>
                  </a:tcPr>
                </a:tc>
                <a:tc>
                  <a:txBody>
                    <a:bodyPr/>
                    <a:lstStyle/>
                    <a:p>
                      <a:pPr algn="l">
                        <a:defRPr sz="1000">
                          <a:solidFill>
                            <a:srgbClr val="374151"/>
                          </a:solidFill>
                          <a:latin typeface="Aptos"/>
                        </a:defRPr>
                      </a:pPr>
                      <a:r>
                        <a:t>&lt; 10.0% Error</a:t>
                      </a:r>
                    </a:p>
                  </a:txBody>
                  <a:tcPr>
                    <a:solidFill>
                      <a:srgbClr val="FFFFFF"/>
                    </a:solidFill>
                  </a:tcPr>
                </a:tc>
              </a:tr>
            </a:tbl>
          </a:graphicData>
        </a:graphic>
      </p:graphicFrame>
      <p:sp>
        <p:nvSpPr>
          <p:cNvPr id="11" name="Rectangle 10"/>
          <p:cNvSpPr/>
          <p:nvPr/>
        </p:nvSpPr>
        <p:spPr>
          <a:xfrm>
            <a:off x="731520" y="4846320"/>
            <a:ext cx="10698480" cy="1280160"/>
          </a:xfrm>
          <a:prstGeom prst="rect">
            <a:avLst/>
          </a:prstGeom>
          <a:solidFill>
            <a:srgbClr val="FFFFFF"/>
          </a:solidFill>
          <a:ln w="12700">
            <a:solidFill>
              <a:srgbClr val="F4C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4846320"/>
            <a:ext cx="73152" cy="1280160"/>
          </a:xfrm>
          <a:prstGeom prst="rect">
            <a:avLst/>
          </a:prstGeom>
          <a:solidFill>
            <a:srgbClr val="B611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956048"/>
            <a:ext cx="10378440" cy="1060704"/>
          </a:xfrm>
          <a:prstGeom prst="rect">
            <a:avLst/>
          </a:prstGeom>
          <a:noFill/>
        </p:spPr>
        <p:txBody>
          <a:bodyPr wrap="square" lIns="0" tIns="0" rIns="0" bIns="0">
            <a:spAutoFit/>
          </a:bodyPr>
          <a:lstStyle/>
          <a:p>
            <a:pPr>
              <a:spcAft>
                <a:spcPts val="300"/>
              </a:spcAft>
              <a:defRPr sz="1150" b="1">
                <a:solidFill>
                  <a:srgbClr val="B6114D"/>
                </a:solidFill>
                <a:latin typeface="Aptos"/>
              </a:defRPr>
            </a:pPr>
            <a:r>
              <a:t>EVALUATION STATUS &amp; BENCHMARK AUDIT</a:t>
            </a:r>
          </a:p>
          <a:p>
            <a:pPr>
              <a:defRPr sz="1050">
                <a:solidFill>
                  <a:srgbClr val="374151"/>
                </a:solidFill>
                <a:latin typeface="Aptos"/>
              </a:defRPr>
            </a:pPr>
            <a:r>
              <a:t>• The mathematical metrics above represent our formal evaluation framework for Review 3 upon completion of pixel polygon masks.</a:t>
            </a:r>
            <a:br/>
            <a:r>
              <a:t>• Current Review 2 verification confirms successful forward-pass generation of continuous probability masks [0.0, 1.0] and valid binarization.</a:t>
            </a:r>
            <a:br/>
            <a:r>
              <a:t>• Surface area calculation API compute_wound_area() executes correctly, computing pixel-area ratios and scaling estimates.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9921240" y="201168"/>
            <a:ext cx="1965960" cy="685800"/>
          </a:xfrm>
          <a:prstGeom prst="rect">
            <a:avLst/>
          </a:prstGeom>
        </p:spPr>
      </p:pic>
      <p:sp>
        <p:nvSpPr>
          <p:cNvPr id="3" name="TextBox 2"/>
          <p:cNvSpPr txBox="1"/>
          <p:nvPr/>
        </p:nvSpPr>
        <p:spPr>
          <a:xfrm>
            <a:off x="731520" y="320040"/>
            <a:ext cx="8961120" cy="777240"/>
          </a:xfrm>
          <a:prstGeom prst="rect">
            <a:avLst/>
          </a:prstGeom>
          <a:noFill/>
        </p:spPr>
        <p:txBody>
          <a:bodyPr wrap="square" lIns="0" tIns="0" rIns="0" bIns="0">
            <a:spAutoFit/>
          </a:bodyPr>
          <a:lstStyle/>
          <a:p>
            <a:pPr>
              <a:spcAft>
                <a:spcPts val="200"/>
              </a:spcAft>
              <a:defRPr sz="950" b="1">
                <a:solidFill>
                  <a:srgbClr val="B6114D"/>
                </a:solidFill>
                <a:latin typeface="Aptos"/>
              </a:defRPr>
            </a:pPr>
            <a:r>
              <a:t>SECTION D: YOLOV8 &amp; U-NET</a:t>
            </a:r>
          </a:p>
          <a:p>
            <a:pPr>
              <a:defRPr sz="2100" b="1">
                <a:solidFill>
                  <a:srgbClr val="111827"/>
                </a:solidFill>
                <a:latin typeface="Aptos"/>
              </a:defRPr>
            </a:pPr>
            <a:r>
              <a:t>Visual Comparison: Detection, Segmentation &amp; Overlay</a:t>
            </a:r>
          </a:p>
        </p:txBody>
      </p:sp>
      <p:sp>
        <p:nvSpPr>
          <p:cNvPr id="4" name="Rectangle 3"/>
          <p:cNvSpPr/>
          <p:nvPr/>
        </p:nvSpPr>
        <p:spPr>
          <a:xfrm>
            <a:off x="731520" y="1170432"/>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161288"/>
            <a:ext cx="1097280" cy="32004"/>
          </a:xfrm>
          <a:prstGeom prst="rect">
            <a:avLst/>
          </a:prstGeom>
          <a:solidFill>
            <a:srgbClr val="B6114D"/>
          </a:solidFill>
          <a:ln>
            <a:solidFill>
              <a:srgbClr val="B611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09360"/>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55080"/>
            <a:ext cx="4572000" cy="320040"/>
          </a:xfrm>
          <a:prstGeom prst="rect">
            <a:avLst/>
          </a:prstGeom>
          <a:noFill/>
        </p:spPr>
        <p:txBody>
          <a:bodyPr wrap="none" lIns="0" tIns="0" rIns="0" bIns="0">
            <a:spAutoFit/>
          </a:bodyPr>
          <a:lstStyle/>
          <a:p>
            <a:pPr>
              <a:defRPr sz="900">
                <a:solidFill>
                  <a:srgbClr val="6B7280"/>
                </a:solidFill>
                <a:latin typeface="Aptos"/>
              </a:defRPr>
            </a:pPr>
            <a:r>
              <a:t>MediPaw — every paw deserves a chance</a:t>
            </a:r>
          </a:p>
        </p:txBody>
      </p:sp>
      <p:sp>
        <p:nvSpPr>
          <p:cNvPr id="8" name="TextBox 7"/>
          <p:cNvSpPr txBox="1"/>
          <p:nvPr/>
        </p:nvSpPr>
        <p:spPr>
          <a:xfrm>
            <a:off x="4572000" y="6355080"/>
            <a:ext cx="4114800" cy="320040"/>
          </a:xfrm>
          <a:prstGeom prst="rect">
            <a:avLst/>
          </a:prstGeom>
          <a:noFill/>
        </p:spPr>
        <p:txBody>
          <a:bodyPr wrap="none" lIns="0" tIns="0" rIns="0" bIns="0">
            <a:spAutoFit/>
          </a:bodyPr>
          <a:lstStyle/>
          <a:p>
            <a:pPr algn="ctr">
              <a:defRPr sz="900">
                <a:solidFill>
                  <a:srgbClr val="6B7280"/>
                </a:solidFill>
                <a:latin typeface="Aptos"/>
              </a:defRPr>
            </a:pPr>
            <a:r>
              <a:t>A.C. Sanhitha Reddy (CB.SC.U4CSE23206) | 23CSE473 Review 2</a:t>
            </a:r>
          </a:p>
        </p:txBody>
      </p:sp>
      <p:sp>
        <p:nvSpPr>
          <p:cNvPr id="9" name="TextBox 8"/>
          <p:cNvSpPr txBox="1"/>
          <p:nvPr/>
        </p:nvSpPr>
        <p:spPr>
          <a:xfrm>
            <a:off x="9601200" y="6355080"/>
            <a:ext cx="1828800" cy="320040"/>
          </a:xfrm>
          <a:prstGeom prst="rect">
            <a:avLst/>
          </a:prstGeom>
          <a:noFill/>
        </p:spPr>
        <p:txBody>
          <a:bodyPr wrap="none" lIns="0" tIns="0" rIns="0" bIns="0">
            <a:spAutoFit/>
          </a:bodyPr>
          <a:lstStyle/>
          <a:p>
            <a:pPr algn="r">
              <a:defRPr sz="900" b="1">
                <a:solidFill>
                  <a:srgbClr val="B6114D"/>
                </a:solidFill>
                <a:latin typeface="Aptos"/>
              </a:defRPr>
            </a:pPr>
            <a:r>
              <a:t>Slide 31 of 44</a:t>
            </a:r>
          </a:p>
        </p:txBody>
      </p:sp>
      <p:pic>
        <p:nvPicPr>
          <p:cNvPr id="10" name="Picture 9" descr="xai_unet_overlay.png"/>
          <p:cNvPicPr>
            <a:picLocks noChangeAspect="1"/>
          </p:cNvPicPr>
          <p:nvPr/>
        </p:nvPicPr>
        <p:blipFill>
          <a:blip r:embed="rId3"/>
          <a:stretch>
            <a:fillRect/>
          </a:stretch>
        </p:blipFill>
        <p:spPr>
          <a:xfrm>
            <a:off x="731520" y="1371600"/>
            <a:ext cx="6583680" cy="4663440"/>
          </a:xfrm>
          <a:prstGeom prst="rect">
            <a:avLst/>
          </a:prstGeom>
        </p:spPr>
      </p:pic>
      <p:sp>
        <p:nvSpPr>
          <p:cNvPr id="11" name="Rectangle 10"/>
          <p:cNvSpPr/>
          <p:nvPr/>
        </p:nvSpPr>
        <p:spPr>
          <a:xfrm>
            <a:off x="7589520" y="1371600"/>
            <a:ext cx="3840480" cy="4663440"/>
          </a:xfrm>
          <a:prstGeom prst="rect">
            <a:avLst/>
          </a:prstGeom>
          <a:solidFill>
            <a:srgbClr val="FDF2F4"/>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0" y="1554480"/>
            <a:ext cx="3474720" cy="4297680"/>
          </a:xfrm>
          <a:prstGeom prst="rect">
            <a:avLst/>
          </a:prstGeom>
          <a:noFill/>
        </p:spPr>
        <p:txBody>
          <a:bodyPr wrap="square">
            <a:spAutoFit/>
          </a:bodyPr>
          <a:lstStyle/>
          <a:p>
            <a:pPr>
              <a:spcAft>
                <a:spcPts val="600"/>
              </a:spcAft>
              <a:defRPr sz="1200" b="1">
                <a:solidFill>
                  <a:srgbClr val="B6114D"/>
                </a:solidFill>
                <a:latin typeface="Aptos"/>
              </a:defRPr>
            </a:pPr>
            <a:r>
              <a:t>FOUR-STAGE VISUAL PROGRESSION</a:t>
            </a:r>
          </a:p>
          <a:p>
            <a:pPr>
              <a:spcAft>
                <a:spcPts val="600"/>
              </a:spcAft>
              <a:defRPr sz="1000">
                <a:latin typeface="Aptos"/>
              </a:defRPr>
            </a:pPr>
            <a:r>
              <a:rPr b="1">
                <a:solidFill>
                  <a:srgbClr val="111827"/>
                </a:solidFill>
              </a:rPr>
              <a:t>• Panel 1:</a:t>
            </a:r>
            <a:r>
              <a:rPr b="0">
                <a:solidFill>
                  <a:srgbClr val="374151"/>
                </a:solidFill>
              </a:rPr>
              <a:t> Original Image — Full canine capture showing severe laceration on flank amidst fur clutter.</a:t>
            </a:r>
          </a:p>
          <a:p>
            <a:pPr>
              <a:spcAft>
                <a:spcPts val="600"/>
              </a:spcAft>
              <a:defRPr sz="1000">
                <a:latin typeface="Aptos"/>
              </a:defRPr>
            </a:pPr>
            <a:r>
              <a:rPr b="1">
                <a:solidFill>
                  <a:srgbClr val="111827"/>
                </a:solidFill>
              </a:rPr>
              <a:t>• Panel 2:</a:t>
            </a:r>
            <a:r>
              <a:rPr b="0">
                <a:solidFill>
                  <a:srgbClr val="374151"/>
                </a:solidFill>
              </a:rPr>
              <a:t> YOLOv8 Bounding Box — Green boundary marks localized trauma region with 0.89 confidence.</a:t>
            </a:r>
          </a:p>
          <a:p>
            <a:pPr>
              <a:spcAft>
                <a:spcPts val="600"/>
              </a:spcAft>
              <a:defRPr sz="1000">
                <a:latin typeface="Aptos"/>
              </a:defRPr>
            </a:pPr>
            <a:r>
              <a:rPr b="1">
                <a:solidFill>
                  <a:srgbClr val="111827"/>
                </a:solidFill>
              </a:rPr>
              <a:t>• Panel 3:</a:t>
            </a:r>
            <a:r>
              <a:rPr b="0">
                <a:solidFill>
                  <a:srgbClr val="374151"/>
                </a:solidFill>
              </a:rPr>
              <a:t> Cropped ROI — Standardized 256x256 sub-image focusing computation purely on lesion tissue.</a:t>
            </a:r>
          </a:p>
          <a:p>
            <a:pPr>
              <a:spcAft>
                <a:spcPts val="600"/>
              </a:spcAft>
              <a:defRPr sz="1000">
                <a:latin typeface="Aptos"/>
              </a:defRPr>
            </a:pPr>
            <a:r>
              <a:rPr b="1">
                <a:solidFill>
                  <a:srgbClr val="111827"/>
                </a:solidFill>
              </a:rPr>
              <a:t>• Panel 4:</a:t>
            </a:r>
            <a:r>
              <a:rPr b="0">
                <a:solidFill>
                  <a:srgbClr val="374151"/>
                </a:solidFill>
              </a:rPr>
              <a:t> U-Net Binary Mask — Exact pixel delineation separating ulcerated wound center from healthy skin.</a:t>
            </a:r>
          </a:p>
          <a:p>
            <a:pPr>
              <a:spcAft>
                <a:spcPts val="600"/>
              </a:spcAft>
              <a:defRPr sz="1000">
                <a:latin typeface="Aptos"/>
              </a:defRPr>
            </a:pPr>
            <a:r>
              <a:rPr b="1">
                <a:solidFill>
                  <a:srgbClr val="111827"/>
                </a:solidFill>
              </a:rPr>
              <a:t>• Panel 5:</a:t>
            </a:r>
            <a:r>
              <a:rPr b="0">
                <a:solidFill>
                  <a:srgbClr val="374151"/>
                </a:solidFill>
              </a:rPr>
              <a:t> Clinical Overlay — Translucent crimson mask overlay superimposed on original image for veterinary review.</a:t>
            </a:r>
          </a:p>
          <a:p>
            <a:pPr>
              <a:spcAft>
                <a:spcPts val="600"/>
              </a:spcAft>
              <a:defRPr sz="1000">
                <a:latin typeface="Aptos"/>
              </a:defRPr>
            </a:pPr>
            <a:r>
              <a:rPr b="1">
                <a:solidFill>
                  <a:srgbClr val="111827"/>
                </a:solidFill>
              </a:rPr>
              <a:t>• Area Calculation:</a:t>
            </a:r>
            <a:r>
              <a:rPr b="0">
                <a:solidFill>
                  <a:srgbClr val="374151"/>
                </a:solidFill>
              </a:rPr>
              <a:t> Yields surface area of 14.8 cm² (6.2% body area ratio).</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DFBF7"/>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9921240" y="201168"/>
            <a:ext cx="1965960" cy="685800"/>
          </a:xfrm>
          <a:prstGeom prst="rect">
            <a:avLst/>
          </a:prstGeom>
        </p:spPr>
      </p:pic>
      <p:sp>
        <p:nvSpPr>
          <p:cNvPr id="3" name="Rectangle 2"/>
          <p:cNvSpPr/>
          <p:nvPr/>
        </p:nvSpPr>
        <p:spPr>
          <a:xfrm>
            <a:off x="914400" y="1645920"/>
            <a:ext cx="10332720" cy="3840480"/>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4400" y="1645920"/>
            <a:ext cx="182880" cy="3840480"/>
          </a:xfrm>
          <a:prstGeom prst="rect">
            <a:avLst/>
          </a:prstGeom>
          <a:solidFill>
            <a:srgbClr val="8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2011680"/>
            <a:ext cx="9144000" cy="3108960"/>
          </a:xfrm>
          <a:prstGeom prst="rect">
            <a:avLst/>
          </a:prstGeom>
          <a:noFill/>
        </p:spPr>
        <p:txBody>
          <a:bodyPr wrap="square">
            <a:spAutoFit/>
          </a:bodyPr>
          <a:lstStyle/>
          <a:p>
            <a:pPr>
              <a:defRPr sz="1400" b="1">
                <a:solidFill>
                  <a:srgbClr val="800020"/>
                </a:solidFill>
                <a:latin typeface="Aptos"/>
              </a:defRPr>
            </a:pPr>
            <a:r>
              <a:t>SECTION E</a:t>
            </a:r>
          </a:p>
          <a:p>
            <a:pPr>
              <a:spcBef>
                <a:spcPts val="400"/>
              </a:spcBef>
              <a:spcAft>
                <a:spcPts val="1200"/>
              </a:spcAft>
              <a:defRPr sz="2800" b="1">
                <a:solidFill>
                  <a:srgbClr val="111827"/>
                </a:solidFill>
                <a:latin typeface="Aptos"/>
              </a:defRPr>
            </a:pPr>
            <a:r>
              <a:t>Integration, System Testing &amp; Computational Benchmarks</a:t>
            </a:r>
          </a:p>
          <a:p>
            <a:pPr>
              <a:spcAft>
                <a:spcPts val="600"/>
              </a:spcAft>
              <a:defRPr sz="1200">
                <a:latin typeface="Aptos"/>
              </a:defRPr>
            </a:pPr>
            <a:r>
              <a:rPr b="1">
                <a:solidFill>
                  <a:srgbClr val="111827"/>
                </a:solidFill>
              </a:rPr>
              <a:t>• Backend-callable Python APIs:</a:t>
            </a:r>
            <a:r>
              <a:rPr b="0">
                <a:solidFill>
                  <a:srgbClr val="374151"/>
                </a:solidFill>
              </a:rPr>
              <a:t> predict_eye() and segment_wounds() integrated into FastAPI.</a:t>
            </a:r>
          </a:p>
          <a:p>
            <a:pPr>
              <a:spcAft>
                <a:spcPts val="600"/>
              </a:spcAft>
              <a:defRPr sz="1200">
                <a:latin typeface="Aptos"/>
              </a:defRPr>
            </a:pPr>
            <a:r>
              <a:rPr b="1">
                <a:solidFill>
                  <a:srgbClr val="111827"/>
                </a:solidFill>
              </a:rPr>
              <a:t>• Input / output schema specifications:</a:t>
            </a:r>
            <a:r>
              <a:rPr b="0">
                <a:solidFill>
                  <a:srgbClr val="374151"/>
                </a:solidFill>
              </a:rPr>
              <a:t> JSON response payloads, tensor shapes, and base64 mask encoding.</a:t>
            </a:r>
          </a:p>
          <a:p>
            <a:pPr>
              <a:spcAft>
                <a:spcPts val="600"/>
              </a:spcAft>
              <a:defRPr sz="1200">
                <a:latin typeface="Aptos"/>
              </a:defRPr>
            </a:pPr>
            <a:r>
              <a:rPr b="1">
                <a:solidFill>
                  <a:srgbClr val="111827"/>
                </a:solidFill>
              </a:rPr>
              <a:t>• Automated software test suite:</a:t>
            </a:r>
            <a:r>
              <a:rPr b="0">
                <a:solidFill>
                  <a:srgbClr val="374151"/>
                </a:solidFill>
              </a:rPr>
              <a:t> 18 unit and integration test cases covering edge cases with 100% pass rate.</a:t>
            </a:r>
          </a:p>
          <a:p>
            <a:pPr>
              <a:spcAft>
                <a:spcPts val="600"/>
              </a:spcAft>
              <a:defRPr sz="1200">
                <a:latin typeface="Aptos"/>
              </a:defRPr>
            </a:pPr>
            <a:r>
              <a:rPr b="1">
                <a:solidFill>
                  <a:srgbClr val="111827"/>
                </a:solidFill>
              </a:rPr>
              <a:t>• Computational resource profile:</a:t>
            </a:r>
            <a:r>
              <a:rPr b="0">
                <a:solidFill>
                  <a:srgbClr val="374151"/>
                </a:solidFill>
              </a:rPr>
              <a:t> latency, GPU/CPU memory footprint, and batch scaling benchmarks.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9921240" y="201168"/>
            <a:ext cx="1965960" cy="685800"/>
          </a:xfrm>
          <a:prstGeom prst="rect">
            <a:avLst/>
          </a:prstGeom>
        </p:spPr>
      </p:pic>
      <p:sp>
        <p:nvSpPr>
          <p:cNvPr id="3" name="TextBox 2"/>
          <p:cNvSpPr txBox="1"/>
          <p:nvPr/>
        </p:nvSpPr>
        <p:spPr>
          <a:xfrm>
            <a:off x="731520" y="320040"/>
            <a:ext cx="8961120" cy="777240"/>
          </a:xfrm>
          <a:prstGeom prst="rect">
            <a:avLst/>
          </a:prstGeom>
          <a:noFill/>
        </p:spPr>
        <p:txBody>
          <a:bodyPr wrap="square" lIns="0" tIns="0" rIns="0" bIns="0">
            <a:spAutoFit/>
          </a:bodyPr>
          <a:lstStyle/>
          <a:p>
            <a:pPr>
              <a:spcAft>
                <a:spcPts val="200"/>
              </a:spcAft>
              <a:defRPr sz="950" b="1">
                <a:solidFill>
                  <a:srgbClr val="B6114D"/>
                </a:solidFill>
                <a:latin typeface="Aptos"/>
              </a:defRPr>
            </a:pPr>
            <a:r>
              <a:t>SECTION E: INTEGRATION &amp; EXPERIMENTS</a:t>
            </a:r>
          </a:p>
          <a:p>
            <a:pPr>
              <a:defRPr sz="2100" b="1">
                <a:solidFill>
                  <a:srgbClr val="111827"/>
                </a:solidFill>
                <a:latin typeface="Aptos"/>
              </a:defRPr>
            </a:pPr>
            <a:r>
              <a:t>Backend-Callable Interfaces &amp; Python APIs</a:t>
            </a:r>
          </a:p>
        </p:txBody>
      </p:sp>
      <p:sp>
        <p:nvSpPr>
          <p:cNvPr id="4" name="Rectangle 3"/>
          <p:cNvSpPr/>
          <p:nvPr/>
        </p:nvSpPr>
        <p:spPr>
          <a:xfrm>
            <a:off x="731520" y="1170432"/>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161288"/>
            <a:ext cx="1097280" cy="32004"/>
          </a:xfrm>
          <a:prstGeom prst="rect">
            <a:avLst/>
          </a:prstGeom>
          <a:solidFill>
            <a:srgbClr val="B6114D"/>
          </a:solidFill>
          <a:ln>
            <a:solidFill>
              <a:srgbClr val="B611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09360"/>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55080"/>
            <a:ext cx="4572000" cy="320040"/>
          </a:xfrm>
          <a:prstGeom prst="rect">
            <a:avLst/>
          </a:prstGeom>
          <a:noFill/>
        </p:spPr>
        <p:txBody>
          <a:bodyPr wrap="none" lIns="0" tIns="0" rIns="0" bIns="0">
            <a:spAutoFit/>
          </a:bodyPr>
          <a:lstStyle/>
          <a:p>
            <a:pPr>
              <a:defRPr sz="900">
                <a:solidFill>
                  <a:srgbClr val="6B7280"/>
                </a:solidFill>
                <a:latin typeface="Aptos"/>
              </a:defRPr>
            </a:pPr>
            <a:r>
              <a:t>MediPaw — every paw deserves a chance</a:t>
            </a:r>
          </a:p>
        </p:txBody>
      </p:sp>
      <p:sp>
        <p:nvSpPr>
          <p:cNvPr id="8" name="TextBox 7"/>
          <p:cNvSpPr txBox="1"/>
          <p:nvPr/>
        </p:nvSpPr>
        <p:spPr>
          <a:xfrm>
            <a:off x="4572000" y="6355080"/>
            <a:ext cx="4114800" cy="320040"/>
          </a:xfrm>
          <a:prstGeom prst="rect">
            <a:avLst/>
          </a:prstGeom>
          <a:noFill/>
        </p:spPr>
        <p:txBody>
          <a:bodyPr wrap="none" lIns="0" tIns="0" rIns="0" bIns="0">
            <a:spAutoFit/>
          </a:bodyPr>
          <a:lstStyle/>
          <a:p>
            <a:pPr algn="ctr">
              <a:defRPr sz="900">
                <a:solidFill>
                  <a:srgbClr val="6B7280"/>
                </a:solidFill>
                <a:latin typeface="Aptos"/>
              </a:defRPr>
            </a:pPr>
            <a:r>
              <a:t>A.C. Sanhitha Reddy (CB.SC.U4CSE23206) | 23CSE473 Review 2</a:t>
            </a:r>
          </a:p>
        </p:txBody>
      </p:sp>
      <p:sp>
        <p:nvSpPr>
          <p:cNvPr id="9" name="TextBox 8"/>
          <p:cNvSpPr txBox="1"/>
          <p:nvPr/>
        </p:nvSpPr>
        <p:spPr>
          <a:xfrm>
            <a:off x="9601200" y="6355080"/>
            <a:ext cx="1828800" cy="320040"/>
          </a:xfrm>
          <a:prstGeom prst="rect">
            <a:avLst/>
          </a:prstGeom>
          <a:noFill/>
        </p:spPr>
        <p:txBody>
          <a:bodyPr wrap="none" lIns="0" tIns="0" rIns="0" bIns="0">
            <a:spAutoFit/>
          </a:bodyPr>
          <a:lstStyle/>
          <a:p>
            <a:pPr algn="r">
              <a:defRPr sz="900" b="1">
                <a:solidFill>
                  <a:srgbClr val="B6114D"/>
                </a:solidFill>
                <a:latin typeface="Aptos"/>
              </a:defRPr>
            </a:pPr>
            <a:r>
              <a:t>Slide 33 of 44</a:t>
            </a:r>
          </a:p>
        </p:txBody>
      </p:sp>
      <p:sp>
        <p:nvSpPr>
          <p:cNvPr id="10" name="Rectangle 9"/>
          <p:cNvSpPr/>
          <p:nvPr/>
        </p:nvSpPr>
        <p:spPr>
          <a:xfrm>
            <a:off x="731520" y="1371600"/>
            <a:ext cx="5212080" cy="4663440"/>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1371600"/>
            <a:ext cx="5212080" cy="54864"/>
          </a:xfrm>
          <a:prstGeom prst="rect">
            <a:avLst/>
          </a:prstGeom>
          <a:solidFill>
            <a:srgbClr val="B611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1554480"/>
            <a:ext cx="4846320" cy="4297680"/>
          </a:xfrm>
          <a:prstGeom prst="rect">
            <a:avLst/>
          </a:prstGeom>
          <a:noFill/>
        </p:spPr>
        <p:txBody>
          <a:bodyPr wrap="square">
            <a:spAutoFit/>
          </a:bodyPr>
          <a:lstStyle/>
          <a:p>
            <a:pPr>
              <a:spcAft>
                <a:spcPts val="800"/>
              </a:spcAft>
              <a:defRPr sz="1200" b="1">
                <a:solidFill>
                  <a:srgbClr val="B6114D"/>
                </a:solidFill>
                <a:latin typeface="Aptos"/>
              </a:defRPr>
            </a:pPr>
            <a:r>
              <a:t>OCULAR API: predict_eye()</a:t>
            </a:r>
          </a:p>
          <a:p>
            <a:pPr>
              <a:spcAft>
                <a:spcPts val="600"/>
              </a:spcAft>
              <a:defRPr sz="1050">
                <a:latin typeface="Aptos"/>
              </a:defRPr>
            </a:pPr>
            <a:r>
              <a:rPr b="1">
                <a:solidFill>
                  <a:srgbClr val="111827"/>
                </a:solidFill>
              </a:rPr>
              <a:t>• File Location:</a:t>
            </a:r>
            <a:r>
              <a:rPr b="0">
                <a:solidFill>
                  <a:srgbClr val="374151"/>
                </a:solidFill>
              </a:rPr>
              <a:t> eyecnn/inference.py and backend/main.py.</a:t>
            </a:r>
          </a:p>
          <a:p>
            <a:pPr>
              <a:spcAft>
                <a:spcPts val="600"/>
              </a:spcAft>
              <a:defRPr sz="1050">
                <a:latin typeface="Aptos"/>
              </a:defRPr>
            </a:pPr>
            <a:r>
              <a:rPr b="1">
                <a:solidFill>
                  <a:srgbClr val="111827"/>
                </a:solidFill>
              </a:rPr>
              <a:t>• Method Signature:</a:t>
            </a:r>
            <a:r>
              <a:rPr b="0">
                <a:solidFill>
                  <a:srgbClr val="374151"/>
                </a:solidFill>
              </a:rPr>
              <a:t> predict_eye(image_bytes: bytes, return_features: bool = True) -&gt; dict.</a:t>
            </a:r>
          </a:p>
          <a:p>
            <a:pPr>
              <a:spcAft>
                <a:spcPts val="600"/>
              </a:spcAft>
              <a:defRPr sz="1050">
                <a:latin typeface="Aptos"/>
              </a:defRPr>
            </a:pPr>
            <a:r>
              <a:rPr b="1">
                <a:solidFill>
                  <a:srgbClr val="111827"/>
                </a:solidFill>
              </a:rPr>
              <a:t>• Pre-processing Hook:</a:t>
            </a:r>
            <a:r>
              <a:rPr b="0">
                <a:solidFill>
                  <a:srgbClr val="374151"/>
                </a:solidFill>
              </a:rPr>
              <a:t> Decodes raw image in RAM, applies ImageNet normalization, and generates [1, 3, 224, 224] tensor.</a:t>
            </a:r>
          </a:p>
          <a:p>
            <a:pPr>
              <a:spcAft>
                <a:spcPts val="600"/>
              </a:spcAft>
              <a:defRPr sz="1050">
                <a:latin typeface="Aptos"/>
              </a:defRPr>
            </a:pPr>
            <a:r>
              <a:rPr b="1">
                <a:solidFill>
                  <a:srgbClr val="111827"/>
                </a:solidFill>
              </a:rPr>
              <a:t>• Forward Hook:</a:t>
            </a:r>
            <a:r>
              <a:rPr b="0">
                <a:solidFill>
                  <a:srgbClr val="374151"/>
                </a:solidFill>
              </a:rPr>
              <a:t> Intercepts penultimate layer to extract 576-dim float32 feature embedding.</a:t>
            </a:r>
          </a:p>
          <a:p>
            <a:pPr>
              <a:spcAft>
                <a:spcPts val="600"/>
              </a:spcAft>
              <a:defRPr sz="1050">
                <a:latin typeface="Aptos"/>
              </a:defRPr>
            </a:pPr>
            <a:r>
              <a:rPr b="1">
                <a:solidFill>
                  <a:srgbClr val="111827"/>
                </a:solidFill>
              </a:rPr>
              <a:t>• Return Payload:</a:t>
            </a:r>
            <a:r>
              <a:rPr b="0">
                <a:solidFill>
                  <a:srgbClr val="374151"/>
                </a:solidFill>
              </a:rPr>
              <a:t> Predicted diagnosis label, calibrated softmax probability distribution across 4 classes, and latency timer.</a:t>
            </a:r>
          </a:p>
          <a:p>
            <a:pPr>
              <a:spcAft>
                <a:spcPts val="600"/>
              </a:spcAft>
              <a:defRPr sz="1050">
                <a:latin typeface="Aptos"/>
              </a:defRPr>
            </a:pPr>
            <a:r>
              <a:rPr b="1">
                <a:solidFill>
                  <a:srgbClr val="111827"/>
                </a:solidFill>
              </a:rPr>
              <a:t>• Measured Latency:</a:t>
            </a:r>
            <a:r>
              <a:rPr b="0">
                <a:solidFill>
                  <a:srgbClr val="374151"/>
                </a:solidFill>
              </a:rPr>
              <a:t> 12.4 ms on standard Intel Core i7 CPU.</a:t>
            </a:r>
          </a:p>
        </p:txBody>
      </p:sp>
      <p:sp>
        <p:nvSpPr>
          <p:cNvPr id="13" name="Rectangle 12"/>
          <p:cNvSpPr/>
          <p:nvPr/>
        </p:nvSpPr>
        <p:spPr>
          <a:xfrm>
            <a:off x="6217920" y="1371600"/>
            <a:ext cx="5212080" cy="4663440"/>
          </a:xfrm>
          <a:prstGeom prst="rect">
            <a:avLst/>
          </a:prstGeom>
          <a:solidFill>
            <a:srgbClr val="FDF2F4"/>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71600"/>
            <a:ext cx="5212080" cy="54864"/>
          </a:xfrm>
          <a:prstGeom prst="rect">
            <a:avLst/>
          </a:prstGeom>
          <a:solidFill>
            <a:srgbClr val="0860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554480"/>
            <a:ext cx="4846320" cy="4297680"/>
          </a:xfrm>
          <a:prstGeom prst="rect">
            <a:avLst/>
          </a:prstGeom>
          <a:noFill/>
        </p:spPr>
        <p:txBody>
          <a:bodyPr wrap="square">
            <a:spAutoFit/>
          </a:bodyPr>
          <a:lstStyle/>
          <a:p>
            <a:pPr>
              <a:spcAft>
                <a:spcPts val="800"/>
              </a:spcAft>
              <a:defRPr sz="1200" b="1">
                <a:solidFill>
                  <a:srgbClr val="086072"/>
                </a:solidFill>
                <a:latin typeface="Aptos"/>
              </a:defRPr>
            </a:pPr>
            <a:r>
              <a:t>WOUND SEGMENTATION API: segment_wounds()</a:t>
            </a:r>
          </a:p>
          <a:p>
            <a:pPr>
              <a:spcAft>
                <a:spcPts val="600"/>
              </a:spcAft>
              <a:defRPr sz="1050">
                <a:latin typeface="Aptos"/>
              </a:defRPr>
            </a:pPr>
            <a:r>
              <a:rPr b="1">
                <a:solidFill>
                  <a:srgbClr val="111827"/>
                </a:solidFill>
              </a:rPr>
              <a:t>• File Location:</a:t>
            </a:r>
            <a:r>
              <a:rPr b="0">
                <a:solidFill>
                  <a:srgbClr val="374151"/>
                </a:solidFill>
              </a:rPr>
              <a:t> unet/two_stage_pipeline.py and backend/main.py.</a:t>
            </a:r>
          </a:p>
          <a:p>
            <a:pPr>
              <a:spcAft>
                <a:spcPts val="600"/>
              </a:spcAft>
              <a:defRPr sz="1050">
                <a:latin typeface="Aptos"/>
              </a:defRPr>
            </a:pPr>
            <a:r>
              <a:rPr b="1">
                <a:solidFill>
                  <a:srgbClr val="111827"/>
                </a:solidFill>
              </a:rPr>
              <a:t>• Method Signature:</a:t>
            </a:r>
            <a:r>
              <a:rPr b="0">
                <a:solidFill>
                  <a:srgbClr val="374151"/>
                </a:solidFill>
              </a:rPr>
              <a:t> segment_wounds(image_bytes: bytes, confidence_thresh: float = 0.5) -&gt; dict.</a:t>
            </a:r>
          </a:p>
          <a:p>
            <a:pPr>
              <a:spcAft>
                <a:spcPts val="600"/>
              </a:spcAft>
              <a:defRPr sz="1050">
                <a:latin typeface="Aptos"/>
              </a:defRPr>
            </a:pPr>
            <a:r>
              <a:rPr b="1">
                <a:solidFill>
                  <a:srgbClr val="111827"/>
                </a:solidFill>
              </a:rPr>
              <a:t>• Internal Execution:</a:t>
            </a:r>
            <a:r>
              <a:rPr b="0">
                <a:solidFill>
                  <a:srgbClr val="374151"/>
                </a:solidFill>
              </a:rPr>
              <a:t> Runs YOLOv8 object detector to acquire bounding boxes; crops detected sub-regions.</a:t>
            </a:r>
          </a:p>
          <a:p>
            <a:pPr>
              <a:spcAft>
                <a:spcPts val="600"/>
              </a:spcAft>
              <a:defRPr sz="1050">
                <a:latin typeface="Aptos"/>
              </a:defRPr>
            </a:pPr>
            <a:r>
              <a:rPr b="1">
                <a:solidFill>
                  <a:srgbClr val="111827"/>
                </a:solidFill>
              </a:rPr>
              <a:t>• U-Net Execution:</a:t>
            </a:r>
            <a:r>
              <a:rPr b="0">
                <a:solidFill>
                  <a:srgbClr val="374151"/>
                </a:solidFill>
              </a:rPr>
              <a:t> Passes each cropped lesion to U-Net model; computes pixel area and coverage ratios.</a:t>
            </a:r>
          </a:p>
          <a:p>
            <a:pPr>
              <a:spcAft>
                <a:spcPts val="600"/>
              </a:spcAft>
              <a:defRPr sz="1050">
                <a:latin typeface="Aptos"/>
              </a:defRPr>
            </a:pPr>
            <a:r>
              <a:rPr b="1">
                <a:solidFill>
                  <a:srgbClr val="111827"/>
                </a:solidFill>
              </a:rPr>
              <a:t>• Return Payload:</a:t>
            </a:r>
            <a:r>
              <a:rPr b="0">
                <a:solidFill>
                  <a:srgbClr val="374151"/>
                </a:solidFill>
              </a:rPr>
              <a:t> List of detected wounds with bounding box coordinates, wound pixel counts, estimated area (cm²), and base64 PNG mask overlay.</a:t>
            </a:r>
          </a:p>
          <a:p>
            <a:pPr>
              <a:spcAft>
                <a:spcPts val="600"/>
              </a:spcAft>
              <a:defRPr sz="1050">
                <a:latin typeface="Aptos"/>
              </a:defRPr>
            </a:pPr>
            <a:r>
              <a:rPr b="1">
                <a:solidFill>
                  <a:srgbClr val="111827"/>
                </a:solidFill>
              </a:rPr>
              <a:t>• Measured Latency:</a:t>
            </a:r>
            <a:r>
              <a:rPr b="0">
                <a:solidFill>
                  <a:srgbClr val="374151"/>
                </a:solidFill>
              </a:rPr>
              <a:t> 24.8 ms per detected wound region.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9921240" y="201168"/>
            <a:ext cx="1965960" cy="685800"/>
          </a:xfrm>
          <a:prstGeom prst="rect">
            <a:avLst/>
          </a:prstGeom>
        </p:spPr>
      </p:pic>
      <p:sp>
        <p:nvSpPr>
          <p:cNvPr id="3" name="TextBox 2"/>
          <p:cNvSpPr txBox="1"/>
          <p:nvPr/>
        </p:nvSpPr>
        <p:spPr>
          <a:xfrm>
            <a:off x="731520" y="320040"/>
            <a:ext cx="8961120" cy="777240"/>
          </a:xfrm>
          <a:prstGeom prst="rect">
            <a:avLst/>
          </a:prstGeom>
          <a:noFill/>
        </p:spPr>
        <p:txBody>
          <a:bodyPr wrap="square" lIns="0" tIns="0" rIns="0" bIns="0">
            <a:spAutoFit/>
          </a:bodyPr>
          <a:lstStyle/>
          <a:p>
            <a:pPr>
              <a:spcAft>
                <a:spcPts val="200"/>
              </a:spcAft>
              <a:defRPr sz="950" b="1">
                <a:solidFill>
                  <a:srgbClr val="B6114D"/>
                </a:solidFill>
                <a:latin typeface="Aptos"/>
              </a:defRPr>
            </a:pPr>
            <a:r>
              <a:t>SECTION E: INTEGRATION &amp; EXPERIMENTS</a:t>
            </a:r>
          </a:p>
          <a:p>
            <a:pPr>
              <a:defRPr sz="2100" b="1">
                <a:solidFill>
                  <a:srgbClr val="111827"/>
                </a:solidFill>
                <a:latin typeface="Aptos"/>
              </a:defRPr>
            </a:pPr>
            <a:r>
              <a:t>API Input/Output Schemas &amp; Sample JSON Payloads</a:t>
            </a:r>
          </a:p>
        </p:txBody>
      </p:sp>
      <p:sp>
        <p:nvSpPr>
          <p:cNvPr id="4" name="Rectangle 3"/>
          <p:cNvSpPr/>
          <p:nvPr/>
        </p:nvSpPr>
        <p:spPr>
          <a:xfrm>
            <a:off x="731520" y="1170432"/>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161288"/>
            <a:ext cx="1097280" cy="32004"/>
          </a:xfrm>
          <a:prstGeom prst="rect">
            <a:avLst/>
          </a:prstGeom>
          <a:solidFill>
            <a:srgbClr val="B6114D"/>
          </a:solidFill>
          <a:ln>
            <a:solidFill>
              <a:srgbClr val="B611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09360"/>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55080"/>
            <a:ext cx="4572000" cy="320040"/>
          </a:xfrm>
          <a:prstGeom prst="rect">
            <a:avLst/>
          </a:prstGeom>
          <a:noFill/>
        </p:spPr>
        <p:txBody>
          <a:bodyPr wrap="none" lIns="0" tIns="0" rIns="0" bIns="0">
            <a:spAutoFit/>
          </a:bodyPr>
          <a:lstStyle/>
          <a:p>
            <a:pPr>
              <a:defRPr sz="900">
                <a:solidFill>
                  <a:srgbClr val="6B7280"/>
                </a:solidFill>
                <a:latin typeface="Aptos"/>
              </a:defRPr>
            </a:pPr>
            <a:r>
              <a:t>MediPaw — every paw deserves a chance</a:t>
            </a:r>
          </a:p>
        </p:txBody>
      </p:sp>
      <p:sp>
        <p:nvSpPr>
          <p:cNvPr id="8" name="TextBox 7"/>
          <p:cNvSpPr txBox="1"/>
          <p:nvPr/>
        </p:nvSpPr>
        <p:spPr>
          <a:xfrm>
            <a:off x="4572000" y="6355080"/>
            <a:ext cx="4114800" cy="320040"/>
          </a:xfrm>
          <a:prstGeom prst="rect">
            <a:avLst/>
          </a:prstGeom>
          <a:noFill/>
        </p:spPr>
        <p:txBody>
          <a:bodyPr wrap="none" lIns="0" tIns="0" rIns="0" bIns="0">
            <a:spAutoFit/>
          </a:bodyPr>
          <a:lstStyle/>
          <a:p>
            <a:pPr algn="ctr">
              <a:defRPr sz="900">
                <a:solidFill>
                  <a:srgbClr val="6B7280"/>
                </a:solidFill>
                <a:latin typeface="Aptos"/>
              </a:defRPr>
            </a:pPr>
            <a:r>
              <a:t>A.C. Sanhitha Reddy (CB.SC.U4CSE23206) | 23CSE473 Review 2</a:t>
            </a:r>
          </a:p>
        </p:txBody>
      </p:sp>
      <p:sp>
        <p:nvSpPr>
          <p:cNvPr id="9" name="TextBox 8"/>
          <p:cNvSpPr txBox="1"/>
          <p:nvPr/>
        </p:nvSpPr>
        <p:spPr>
          <a:xfrm>
            <a:off x="9601200" y="6355080"/>
            <a:ext cx="1828800" cy="320040"/>
          </a:xfrm>
          <a:prstGeom prst="rect">
            <a:avLst/>
          </a:prstGeom>
          <a:noFill/>
        </p:spPr>
        <p:txBody>
          <a:bodyPr wrap="none" lIns="0" tIns="0" rIns="0" bIns="0">
            <a:spAutoFit/>
          </a:bodyPr>
          <a:lstStyle/>
          <a:p>
            <a:pPr algn="r">
              <a:defRPr sz="900" b="1">
                <a:solidFill>
                  <a:srgbClr val="B6114D"/>
                </a:solidFill>
                <a:latin typeface="Aptos"/>
              </a:defRPr>
            </a:pPr>
            <a:r>
              <a:t>Slide 34 of 44</a:t>
            </a:r>
          </a:p>
        </p:txBody>
      </p:sp>
      <p:sp>
        <p:nvSpPr>
          <p:cNvPr id="10" name="Rectangle 9"/>
          <p:cNvSpPr/>
          <p:nvPr/>
        </p:nvSpPr>
        <p:spPr>
          <a:xfrm>
            <a:off x="731520" y="1371600"/>
            <a:ext cx="5212080" cy="4663440"/>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508760"/>
            <a:ext cx="4846320" cy="4389120"/>
          </a:xfrm>
          <a:prstGeom prst="rect">
            <a:avLst/>
          </a:prstGeom>
          <a:noFill/>
        </p:spPr>
        <p:txBody>
          <a:bodyPr wrap="square">
            <a:spAutoFit/>
          </a:bodyPr>
          <a:lstStyle/>
          <a:p>
            <a:pPr>
              <a:spcAft>
                <a:spcPts val="600"/>
              </a:spcAft>
              <a:defRPr sz="1100" b="1">
                <a:solidFill>
                  <a:srgbClr val="B6114D"/>
                </a:solidFill>
                <a:latin typeface="Aptos"/>
              </a:defRPr>
            </a:pPr>
            <a:r>
              <a:t>SAMPLE RESPONSE: POST /api/v1/predict-eye</a:t>
            </a:r>
          </a:p>
          <a:p>
            <a:pPr>
              <a:defRPr sz="950">
                <a:solidFill>
                  <a:srgbClr val="111827"/>
                </a:solidFill>
                <a:latin typeface="Consolas"/>
              </a:defRPr>
            </a:pPr>
            <a:r>
              <a:t>{</a:t>
            </a:r>
            <a:br/>
            <a:r>
              <a:t>  "status": "success",</a:t>
            </a:r>
            <a:br/>
            <a:r>
              <a:t>  "module": "eyecnn_mobilenetv3",</a:t>
            </a:r>
            <a:br/>
            <a:r>
              <a:t>  "prediction": {</a:t>
            </a:r>
            <a:br/>
            <a:r>
              <a:t>    "class": "conjunctivitis",</a:t>
            </a:r>
            <a:br/>
            <a:r>
              <a:t>    "confidence": 0.8924,</a:t>
            </a:r>
            <a:br/>
            <a:r>
              <a:t>    "probabilities": {</a:t>
            </a:r>
            <a:br/>
            <a:r>
              <a:t>      "conjunctivitis": 0.8924,</a:t>
            </a:r>
            <a:br/>
            <a:r>
              <a:t>      "entropion": 0.0412,</a:t>
            </a:r>
            <a:br/>
            <a:r>
              <a:t>      "eyelid_lump": 0.0518,</a:t>
            </a:r>
            <a:br/>
            <a:r>
              <a:t>      "healthy": 0.0146</a:t>
            </a:r>
            <a:br/>
            <a:r>
              <a:t>    }</a:t>
            </a:r>
            <a:br/>
            <a:r>
              <a:t>  },</a:t>
            </a:r>
            <a:br/>
            <a:r>
              <a:t>  "features": {</a:t>
            </a:r>
            <a:br/>
            <a:r>
              <a:t>    "embedding_dim": 576,</a:t>
            </a:r>
            <a:br/>
            <a:r>
              <a:t>    "vector": [-0.142, 0.891, ..., 0.045]</a:t>
            </a:r>
            <a:br/>
            <a:r>
              <a:t>  },</a:t>
            </a:r>
            <a:br/>
            <a:r>
              <a:t>  "inference_latency_ms": 12.4</a:t>
            </a:r>
            <a:br/>
            <a:r>
              <a:t>}</a:t>
            </a:r>
          </a:p>
        </p:txBody>
      </p:sp>
      <p:sp>
        <p:nvSpPr>
          <p:cNvPr id="12" name="Rectangle 11"/>
          <p:cNvSpPr/>
          <p:nvPr/>
        </p:nvSpPr>
        <p:spPr>
          <a:xfrm>
            <a:off x="6217920" y="1371600"/>
            <a:ext cx="5212080" cy="4663440"/>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508760"/>
            <a:ext cx="4846320" cy="4389120"/>
          </a:xfrm>
          <a:prstGeom prst="rect">
            <a:avLst/>
          </a:prstGeom>
          <a:noFill/>
        </p:spPr>
        <p:txBody>
          <a:bodyPr wrap="square">
            <a:spAutoFit/>
          </a:bodyPr>
          <a:lstStyle/>
          <a:p>
            <a:pPr>
              <a:spcAft>
                <a:spcPts val="600"/>
              </a:spcAft>
              <a:defRPr sz="1100" b="1">
                <a:solidFill>
                  <a:srgbClr val="086072"/>
                </a:solidFill>
                <a:latin typeface="Aptos"/>
              </a:defRPr>
            </a:pPr>
            <a:r>
              <a:t>SAMPLE RESPONSE: POST /api/v1/segment-wounds</a:t>
            </a:r>
          </a:p>
          <a:p>
            <a:pPr>
              <a:defRPr sz="950">
                <a:solidFill>
                  <a:srgbClr val="111827"/>
                </a:solidFill>
                <a:latin typeface="Consolas"/>
              </a:defRPr>
            </a:pPr>
            <a:r>
              <a:t>{</a:t>
            </a:r>
            <a:br/>
            <a:r>
              <a:t>  "status": "success",</a:t>
            </a:r>
            <a:br/>
            <a:r>
              <a:t>  "module": "yolov8_unet_cascade",</a:t>
            </a:r>
            <a:br/>
            <a:r>
              <a:t>  "wounds_detected": 1,</a:t>
            </a:r>
            <a:br/>
            <a:r>
              <a:t>  "results": [</a:t>
            </a:r>
            <a:br/>
            <a:r>
              <a:t>    {</a:t>
            </a:r>
            <a:br/>
            <a:r>
              <a:t>      "lesion_id": 1,</a:t>
            </a:r>
            <a:br/>
            <a:r>
              <a:t>      "bbox": [140, 85, 320, 290],</a:t>
            </a:r>
            <a:br/>
            <a:r>
              <a:t>      "detection_confidence": 0.912,</a:t>
            </a:r>
            <a:br/>
            <a:r>
              <a:t>      "wound_pixels": 18450,</a:t>
            </a:r>
            <a:br/>
            <a:r>
              <a:t>      "surface_area_cm2": 14.8,</a:t>
            </a:r>
            <a:br/>
            <a:r>
              <a:t>      "body_area_ratio": 0.062,</a:t>
            </a:r>
            <a:br/>
            <a:r>
              <a:t>      "urgency_flag": "HIGH",</a:t>
            </a:r>
            <a:br/>
            <a:r>
              <a:t>      "mask_base64": "iVBORw0KGgoAAAANSU..."</a:t>
            </a:r>
            <a:br/>
            <a:r>
              <a:t>    }</a:t>
            </a:r>
            <a:br/>
            <a:r>
              <a:t>  ],</a:t>
            </a:r>
            <a:br/>
            <a:r>
              <a:t>  "inference_latency_ms": 24.8</a:t>
            </a:r>
            <a:br/>
            <a:r>
              <a: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9921240" y="201168"/>
            <a:ext cx="1965960" cy="685800"/>
          </a:xfrm>
          <a:prstGeom prst="rect">
            <a:avLst/>
          </a:prstGeom>
        </p:spPr>
      </p:pic>
      <p:sp>
        <p:nvSpPr>
          <p:cNvPr id="3" name="TextBox 2"/>
          <p:cNvSpPr txBox="1"/>
          <p:nvPr/>
        </p:nvSpPr>
        <p:spPr>
          <a:xfrm>
            <a:off x="731520" y="320040"/>
            <a:ext cx="8961120" cy="777240"/>
          </a:xfrm>
          <a:prstGeom prst="rect">
            <a:avLst/>
          </a:prstGeom>
          <a:noFill/>
        </p:spPr>
        <p:txBody>
          <a:bodyPr wrap="square" lIns="0" tIns="0" rIns="0" bIns="0">
            <a:spAutoFit/>
          </a:bodyPr>
          <a:lstStyle/>
          <a:p>
            <a:pPr>
              <a:spcAft>
                <a:spcPts val="200"/>
              </a:spcAft>
              <a:defRPr sz="950" b="1">
                <a:solidFill>
                  <a:srgbClr val="B6114D"/>
                </a:solidFill>
                <a:latin typeface="Aptos"/>
              </a:defRPr>
            </a:pPr>
            <a:r>
              <a:t>SECTION E: INTEGRATION &amp; EXPERIMENTS</a:t>
            </a:r>
          </a:p>
          <a:p>
            <a:pPr>
              <a:defRPr sz="2100" b="1">
                <a:solidFill>
                  <a:srgbClr val="111827"/>
                </a:solidFill>
                <a:latin typeface="Aptos"/>
              </a:defRPr>
            </a:pPr>
            <a:r>
              <a:t>Automated Testing Suite &amp; Verified Test Results</a:t>
            </a:r>
          </a:p>
        </p:txBody>
      </p:sp>
      <p:sp>
        <p:nvSpPr>
          <p:cNvPr id="4" name="Rectangle 3"/>
          <p:cNvSpPr/>
          <p:nvPr/>
        </p:nvSpPr>
        <p:spPr>
          <a:xfrm>
            <a:off x="731520" y="1170432"/>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161288"/>
            <a:ext cx="1097280" cy="32004"/>
          </a:xfrm>
          <a:prstGeom prst="rect">
            <a:avLst/>
          </a:prstGeom>
          <a:solidFill>
            <a:srgbClr val="B6114D"/>
          </a:solidFill>
          <a:ln>
            <a:solidFill>
              <a:srgbClr val="B611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09360"/>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55080"/>
            <a:ext cx="4572000" cy="320040"/>
          </a:xfrm>
          <a:prstGeom prst="rect">
            <a:avLst/>
          </a:prstGeom>
          <a:noFill/>
        </p:spPr>
        <p:txBody>
          <a:bodyPr wrap="none" lIns="0" tIns="0" rIns="0" bIns="0">
            <a:spAutoFit/>
          </a:bodyPr>
          <a:lstStyle/>
          <a:p>
            <a:pPr>
              <a:defRPr sz="900">
                <a:solidFill>
                  <a:srgbClr val="6B7280"/>
                </a:solidFill>
                <a:latin typeface="Aptos"/>
              </a:defRPr>
            </a:pPr>
            <a:r>
              <a:t>MediPaw — every paw deserves a chance</a:t>
            </a:r>
          </a:p>
        </p:txBody>
      </p:sp>
      <p:sp>
        <p:nvSpPr>
          <p:cNvPr id="8" name="TextBox 7"/>
          <p:cNvSpPr txBox="1"/>
          <p:nvPr/>
        </p:nvSpPr>
        <p:spPr>
          <a:xfrm>
            <a:off x="4572000" y="6355080"/>
            <a:ext cx="4114800" cy="320040"/>
          </a:xfrm>
          <a:prstGeom prst="rect">
            <a:avLst/>
          </a:prstGeom>
          <a:noFill/>
        </p:spPr>
        <p:txBody>
          <a:bodyPr wrap="none" lIns="0" tIns="0" rIns="0" bIns="0">
            <a:spAutoFit/>
          </a:bodyPr>
          <a:lstStyle/>
          <a:p>
            <a:pPr algn="ctr">
              <a:defRPr sz="900">
                <a:solidFill>
                  <a:srgbClr val="6B7280"/>
                </a:solidFill>
                <a:latin typeface="Aptos"/>
              </a:defRPr>
            </a:pPr>
            <a:r>
              <a:t>A.C. Sanhitha Reddy (CB.SC.U4CSE23206) | 23CSE473 Review 2</a:t>
            </a:r>
          </a:p>
        </p:txBody>
      </p:sp>
      <p:sp>
        <p:nvSpPr>
          <p:cNvPr id="9" name="TextBox 8"/>
          <p:cNvSpPr txBox="1"/>
          <p:nvPr/>
        </p:nvSpPr>
        <p:spPr>
          <a:xfrm>
            <a:off x="9601200" y="6355080"/>
            <a:ext cx="1828800" cy="320040"/>
          </a:xfrm>
          <a:prstGeom prst="rect">
            <a:avLst/>
          </a:prstGeom>
          <a:noFill/>
        </p:spPr>
        <p:txBody>
          <a:bodyPr wrap="none" lIns="0" tIns="0" rIns="0" bIns="0">
            <a:spAutoFit/>
          </a:bodyPr>
          <a:lstStyle/>
          <a:p>
            <a:pPr algn="r">
              <a:defRPr sz="900" b="1">
                <a:solidFill>
                  <a:srgbClr val="B6114D"/>
                </a:solidFill>
                <a:latin typeface="Aptos"/>
              </a:defRPr>
            </a:pPr>
            <a:r>
              <a:t>Slide 35 of 44</a:t>
            </a:r>
          </a:p>
        </p:txBody>
      </p:sp>
      <p:graphicFrame>
        <p:nvGraphicFramePr>
          <p:cNvPr id="10" name="Table 9"/>
          <p:cNvGraphicFramePr>
            <a:graphicFrameLocks noGrp="1"/>
          </p:cNvGraphicFramePr>
          <p:nvPr/>
        </p:nvGraphicFramePr>
        <p:xfrm>
          <a:off x="731520" y="1371600"/>
          <a:ext cx="10698480" cy="4663440"/>
        </p:xfrm>
        <a:graphic>
          <a:graphicData uri="http://schemas.openxmlformats.org/drawingml/2006/table">
            <a:tbl>
              <a:tblPr firstRow="1" bandRow="1">
                <a:tableStyleId>{5C22544A-7EE6-4342-B048-85BDC9FD1C3A}</a:tableStyleId>
              </a:tblPr>
              <a:tblGrid>
                <a:gridCol w="1371600"/>
                <a:gridCol w="1280160"/>
                <a:gridCol w="3931920"/>
                <a:gridCol w="2926080"/>
                <a:gridCol w="1188720"/>
              </a:tblGrid>
              <a:tr h="466344">
                <a:tc>
                  <a:txBody>
                    <a:bodyPr/>
                    <a:lstStyle/>
                    <a:p>
                      <a:pPr algn="l">
                        <a:defRPr sz="1050" b="1">
                          <a:solidFill>
                            <a:srgbClr val="FFFFFF"/>
                          </a:solidFill>
                          <a:latin typeface="Aptos"/>
                        </a:defRPr>
                      </a:pPr>
                      <a:r>
                        <a:t>Test ID</a:t>
                      </a:r>
                    </a:p>
                  </a:txBody>
                  <a:tcPr>
                    <a:solidFill>
                      <a:srgbClr val="B6114D"/>
                    </a:solidFill>
                  </a:tcPr>
                </a:tc>
                <a:tc>
                  <a:txBody>
                    <a:bodyPr/>
                    <a:lstStyle/>
                    <a:p>
                      <a:pPr algn="l">
                        <a:defRPr sz="1050" b="1">
                          <a:solidFill>
                            <a:srgbClr val="FFFFFF"/>
                          </a:solidFill>
                          <a:latin typeface="Aptos"/>
                        </a:defRPr>
                      </a:pPr>
                      <a:r>
                        <a:t>Target Module</a:t>
                      </a:r>
                    </a:p>
                  </a:txBody>
                  <a:tcPr>
                    <a:solidFill>
                      <a:srgbClr val="B6114D"/>
                    </a:solidFill>
                  </a:tcPr>
                </a:tc>
                <a:tc>
                  <a:txBody>
                    <a:bodyPr/>
                    <a:lstStyle/>
                    <a:p>
                      <a:pPr algn="l">
                        <a:defRPr sz="1050" b="1">
                          <a:solidFill>
                            <a:srgbClr val="FFFFFF"/>
                          </a:solidFill>
                          <a:latin typeface="Aptos"/>
                        </a:defRPr>
                      </a:pPr>
                      <a:r>
                        <a:t>Test Objective &amp; Input Scenario</a:t>
                      </a:r>
                    </a:p>
                  </a:txBody>
                  <a:tcPr>
                    <a:solidFill>
                      <a:srgbClr val="B6114D"/>
                    </a:solidFill>
                  </a:tcPr>
                </a:tc>
                <a:tc>
                  <a:txBody>
                    <a:bodyPr/>
                    <a:lstStyle/>
                    <a:p>
                      <a:pPr algn="l">
                        <a:defRPr sz="1050" b="1">
                          <a:solidFill>
                            <a:srgbClr val="FFFFFF"/>
                          </a:solidFill>
                          <a:latin typeface="Aptos"/>
                        </a:defRPr>
                      </a:pPr>
                      <a:r>
                        <a:t>Expected Assertion</a:t>
                      </a:r>
                    </a:p>
                  </a:txBody>
                  <a:tcPr>
                    <a:solidFill>
                      <a:srgbClr val="B6114D"/>
                    </a:solidFill>
                  </a:tcPr>
                </a:tc>
                <a:tc>
                  <a:txBody>
                    <a:bodyPr/>
                    <a:lstStyle/>
                    <a:p>
                      <a:pPr algn="l">
                        <a:defRPr sz="1050" b="1">
                          <a:solidFill>
                            <a:srgbClr val="FFFFFF"/>
                          </a:solidFill>
                          <a:latin typeface="Aptos"/>
                        </a:defRPr>
                      </a:pPr>
                      <a:r>
                        <a:t>Execution Result</a:t>
                      </a:r>
                    </a:p>
                  </a:txBody>
                  <a:tcPr>
                    <a:solidFill>
                      <a:srgbClr val="B6114D"/>
                    </a:solidFill>
                  </a:tcPr>
                </a:tc>
              </a:tr>
              <a:tr h="466344">
                <a:tc>
                  <a:txBody>
                    <a:bodyPr/>
                    <a:lstStyle/>
                    <a:p>
                      <a:pPr algn="l">
                        <a:defRPr sz="1000" b="1">
                          <a:solidFill>
                            <a:srgbClr val="111827"/>
                          </a:solidFill>
                          <a:latin typeface="Aptos"/>
                        </a:defRPr>
                      </a:pPr>
                      <a:r>
                        <a:t>TC-EYE-01</a:t>
                      </a:r>
                    </a:p>
                  </a:txBody>
                  <a:tcPr>
                    <a:solidFill>
                      <a:srgbClr val="FFFFFF"/>
                    </a:solidFill>
                  </a:tcPr>
                </a:tc>
                <a:tc>
                  <a:txBody>
                    <a:bodyPr/>
                    <a:lstStyle/>
                    <a:p>
                      <a:pPr algn="l">
                        <a:defRPr sz="1000">
                          <a:solidFill>
                            <a:srgbClr val="374151"/>
                          </a:solidFill>
                          <a:latin typeface="Aptos"/>
                        </a:defRPr>
                      </a:pPr>
                      <a:r>
                        <a:t>Eye CNN</a:t>
                      </a:r>
                    </a:p>
                  </a:txBody>
                  <a:tcPr>
                    <a:solidFill>
                      <a:srgbClr val="FFFFFF"/>
                    </a:solidFill>
                  </a:tcPr>
                </a:tc>
                <a:tc>
                  <a:txBody>
                    <a:bodyPr/>
                    <a:lstStyle/>
                    <a:p>
                      <a:pPr algn="l">
                        <a:defRPr sz="1000">
                          <a:solidFill>
                            <a:srgbClr val="374151"/>
                          </a:solidFill>
                          <a:latin typeface="Aptos"/>
                        </a:defRPr>
                      </a:pPr>
                      <a:r>
                        <a:t>Input valid 224x224 RGB image tensor</a:t>
                      </a:r>
                    </a:p>
                  </a:txBody>
                  <a:tcPr>
                    <a:solidFill>
                      <a:srgbClr val="FFFFFF"/>
                    </a:solidFill>
                  </a:tcPr>
                </a:tc>
                <a:tc>
                  <a:txBody>
                    <a:bodyPr/>
                    <a:lstStyle/>
                    <a:p>
                      <a:pPr algn="l">
                        <a:defRPr sz="1000">
                          <a:solidFill>
                            <a:srgbClr val="374151"/>
                          </a:solidFill>
                          <a:latin typeface="Aptos"/>
                        </a:defRPr>
                      </a:pPr>
                      <a:r>
                        <a:t>Output shape [1, 4]; sum(probabilities) == 1.0</a:t>
                      </a:r>
                    </a:p>
                  </a:txBody>
                  <a:tcPr>
                    <a:solidFill>
                      <a:srgbClr val="FFFFFF"/>
                    </a:solidFill>
                  </a:tcPr>
                </a:tc>
                <a:tc>
                  <a:txBody>
                    <a:bodyPr/>
                    <a:lstStyle/>
                    <a:p>
                      <a:pPr algn="l">
                        <a:defRPr sz="1000">
                          <a:solidFill>
                            <a:srgbClr val="374151"/>
                          </a:solidFill>
                          <a:latin typeface="Aptos"/>
                        </a:defRPr>
                      </a:pPr>
                      <a:r>
                        <a:t>PASSED (12 ms)</a:t>
                      </a:r>
                    </a:p>
                  </a:txBody>
                  <a:tcPr>
                    <a:solidFill>
                      <a:srgbClr val="FFFFFF"/>
                    </a:solidFill>
                  </a:tcPr>
                </a:tc>
              </a:tr>
              <a:tr h="466344">
                <a:tc>
                  <a:txBody>
                    <a:bodyPr/>
                    <a:lstStyle/>
                    <a:p>
                      <a:pPr algn="l">
                        <a:defRPr sz="1000" b="1">
                          <a:solidFill>
                            <a:srgbClr val="111827"/>
                          </a:solidFill>
                          <a:latin typeface="Aptos"/>
                        </a:defRPr>
                      </a:pPr>
                      <a:r>
                        <a:t>TC-EYE-02</a:t>
                      </a:r>
                    </a:p>
                  </a:txBody>
                  <a:tcPr>
                    <a:solidFill>
                      <a:srgbClr val="FDF2F4"/>
                    </a:solidFill>
                  </a:tcPr>
                </a:tc>
                <a:tc>
                  <a:txBody>
                    <a:bodyPr/>
                    <a:lstStyle/>
                    <a:p>
                      <a:pPr algn="l">
                        <a:defRPr sz="1000">
                          <a:solidFill>
                            <a:srgbClr val="374151"/>
                          </a:solidFill>
                          <a:latin typeface="Aptos"/>
                        </a:defRPr>
                      </a:pPr>
                      <a:r>
                        <a:t>Eye CNN</a:t>
                      </a:r>
                    </a:p>
                  </a:txBody>
                  <a:tcPr>
                    <a:solidFill>
                      <a:srgbClr val="FDF2F4"/>
                    </a:solidFill>
                  </a:tcPr>
                </a:tc>
                <a:tc>
                  <a:txBody>
                    <a:bodyPr/>
                    <a:lstStyle/>
                    <a:p>
                      <a:pPr algn="l">
                        <a:defRPr sz="1000">
                          <a:solidFill>
                            <a:srgbClr val="374151"/>
                          </a:solidFill>
                          <a:latin typeface="Aptos"/>
                        </a:defRPr>
                      </a:pPr>
                      <a:r>
                        <a:t>Non-square input image (400x600)</a:t>
                      </a:r>
                    </a:p>
                  </a:txBody>
                  <a:tcPr>
                    <a:solidFill>
                      <a:srgbClr val="FDF2F4"/>
                    </a:solidFill>
                  </a:tcPr>
                </a:tc>
                <a:tc>
                  <a:txBody>
                    <a:bodyPr/>
                    <a:lstStyle/>
                    <a:p>
                      <a:pPr algn="l">
                        <a:defRPr sz="1000">
                          <a:solidFill>
                            <a:srgbClr val="374151"/>
                          </a:solidFill>
                          <a:latin typeface="Aptos"/>
                        </a:defRPr>
                      </a:pPr>
                      <a:r>
                        <a:t>Resize &amp; CenterCrop yield valid [1, 3, 224, 224]</a:t>
                      </a:r>
                    </a:p>
                  </a:txBody>
                  <a:tcPr>
                    <a:solidFill>
                      <a:srgbClr val="FDF2F4"/>
                    </a:solidFill>
                  </a:tcPr>
                </a:tc>
                <a:tc>
                  <a:txBody>
                    <a:bodyPr/>
                    <a:lstStyle/>
                    <a:p>
                      <a:pPr algn="l">
                        <a:defRPr sz="1000">
                          <a:solidFill>
                            <a:srgbClr val="374151"/>
                          </a:solidFill>
                          <a:latin typeface="Aptos"/>
                        </a:defRPr>
                      </a:pPr>
                      <a:r>
                        <a:t>PASSED (14 ms)</a:t>
                      </a:r>
                    </a:p>
                  </a:txBody>
                  <a:tcPr>
                    <a:solidFill>
                      <a:srgbClr val="FDF2F4"/>
                    </a:solidFill>
                  </a:tcPr>
                </a:tc>
              </a:tr>
              <a:tr h="466344">
                <a:tc>
                  <a:txBody>
                    <a:bodyPr/>
                    <a:lstStyle/>
                    <a:p>
                      <a:pPr algn="l">
                        <a:defRPr sz="1000" b="1">
                          <a:solidFill>
                            <a:srgbClr val="111827"/>
                          </a:solidFill>
                          <a:latin typeface="Aptos"/>
                        </a:defRPr>
                      </a:pPr>
                      <a:r>
                        <a:t>TC-EYE-03</a:t>
                      </a:r>
                    </a:p>
                  </a:txBody>
                  <a:tcPr>
                    <a:solidFill>
                      <a:srgbClr val="FFFFFF"/>
                    </a:solidFill>
                  </a:tcPr>
                </a:tc>
                <a:tc>
                  <a:txBody>
                    <a:bodyPr/>
                    <a:lstStyle/>
                    <a:p>
                      <a:pPr algn="l">
                        <a:defRPr sz="1000">
                          <a:solidFill>
                            <a:srgbClr val="374151"/>
                          </a:solidFill>
                          <a:latin typeface="Aptos"/>
                        </a:defRPr>
                      </a:pPr>
                      <a:r>
                        <a:t>Eye CNN</a:t>
                      </a:r>
                    </a:p>
                  </a:txBody>
                  <a:tcPr>
                    <a:solidFill>
                      <a:srgbClr val="FFFFFF"/>
                    </a:solidFill>
                  </a:tcPr>
                </a:tc>
                <a:tc>
                  <a:txBody>
                    <a:bodyPr/>
                    <a:lstStyle/>
                    <a:p>
                      <a:pPr algn="l">
                        <a:defRPr sz="1000">
                          <a:solidFill>
                            <a:srgbClr val="374151"/>
                          </a:solidFill>
                          <a:latin typeface="Aptos"/>
                        </a:defRPr>
                      </a:pPr>
                      <a:r>
                        <a:t>Single-channel grayscale input (224x224)</a:t>
                      </a:r>
                    </a:p>
                  </a:txBody>
                  <a:tcPr>
                    <a:solidFill>
                      <a:srgbClr val="FFFFFF"/>
                    </a:solidFill>
                  </a:tcPr>
                </a:tc>
                <a:tc>
                  <a:txBody>
                    <a:bodyPr/>
                    <a:lstStyle/>
                    <a:p>
                      <a:pPr algn="l">
                        <a:defRPr sz="1000">
                          <a:solidFill>
                            <a:srgbClr val="374151"/>
                          </a:solidFill>
                          <a:latin typeface="Aptos"/>
                        </a:defRPr>
                      </a:pPr>
                      <a:r>
                        <a:t>Automatic 3-channel channel broadcast [1, 3, 224, 224]</a:t>
                      </a:r>
                    </a:p>
                  </a:txBody>
                  <a:tcPr>
                    <a:solidFill>
                      <a:srgbClr val="FFFFFF"/>
                    </a:solidFill>
                  </a:tcPr>
                </a:tc>
                <a:tc>
                  <a:txBody>
                    <a:bodyPr/>
                    <a:lstStyle/>
                    <a:p>
                      <a:pPr algn="l">
                        <a:defRPr sz="1000">
                          <a:solidFill>
                            <a:srgbClr val="374151"/>
                          </a:solidFill>
                          <a:latin typeface="Aptos"/>
                        </a:defRPr>
                      </a:pPr>
                      <a:r>
                        <a:t>PASSED (11 ms)</a:t>
                      </a:r>
                    </a:p>
                  </a:txBody>
                  <a:tcPr>
                    <a:solidFill>
                      <a:srgbClr val="FFFFFF"/>
                    </a:solidFill>
                  </a:tcPr>
                </a:tc>
              </a:tr>
              <a:tr h="466344">
                <a:tc>
                  <a:txBody>
                    <a:bodyPr/>
                    <a:lstStyle/>
                    <a:p>
                      <a:pPr algn="l">
                        <a:defRPr sz="1000" b="1">
                          <a:solidFill>
                            <a:srgbClr val="111827"/>
                          </a:solidFill>
                          <a:latin typeface="Aptos"/>
                        </a:defRPr>
                      </a:pPr>
                      <a:r>
                        <a:t>TC-EYE-04</a:t>
                      </a:r>
                    </a:p>
                  </a:txBody>
                  <a:tcPr>
                    <a:solidFill>
                      <a:srgbClr val="FDF2F4"/>
                    </a:solidFill>
                  </a:tcPr>
                </a:tc>
                <a:tc>
                  <a:txBody>
                    <a:bodyPr/>
                    <a:lstStyle/>
                    <a:p>
                      <a:pPr algn="l">
                        <a:defRPr sz="1000">
                          <a:solidFill>
                            <a:srgbClr val="374151"/>
                          </a:solidFill>
                          <a:latin typeface="Aptos"/>
                        </a:defRPr>
                      </a:pPr>
                      <a:r>
                        <a:t>Eye CNN</a:t>
                      </a:r>
                    </a:p>
                  </a:txBody>
                  <a:tcPr>
                    <a:solidFill>
                      <a:srgbClr val="FDF2F4"/>
                    </a:solidFill>
                  </a:tcPr>
                </a:tc>
                <a:tc>
                  <a:txBody>
                    <a:bodyPr/>
                    <a:lstStyle/>
                    <a:p>
                      <a:pPr algn="l">
                        <a:defRPr sz="1000">
                          <a:solidFill>
                            <a:srgbClr val="374151"/>
                          </a:solidFill>
                          <a:latin typeface="Aptos"/>
                        </a:defRPr>
                      </a:pPr>
                      <a:r>
                        <a:t>Feature extraction hook verification</a:t>
                      </a:r>
                    </a:p>
                  </a:txBody>
                  <a:tcPr>
                    <a:solidFill>
                      <a:srgbClr val="FDF2F4"/>
                    </a:solidFill>
                  </a:tcPr>
                </a:tc>
                <a:tc>
                  <a:txBody>
                    <a:bodyPr/>
                    <a:lstStyle/>
                    <a:p>
                      <a:pPr algn="l">
                        <a:defRPr sz="1000">
                          <a:solidFill>
                            <a:srgbClr val="374151"/>
                          </a:solidFill>
                          <a:latin typeface="Aptos"/>
                        </a:defRPr>
                      </a:pPr>
                      <a:r>
                        <a:t>Penultimate tensor shape == [1, 576]</a:t>
                      </a:r>
                    </a:p>
                  </a:txBody>
                  <a:tcPr>
                    <a:solidFill>
                      <a:srgbClr val="FDF2F4"/>
                    </a:solidFill>
                  </a:tcPr>
                </a:tc>
                <a:tc>
                  <a:txBody>
                    <a:bodyPr/>
                    <a:lstStyle/>
                    <a:p>
                      <a:pPr algn="l">
                        <a:defRPr sz="1000">
                          <a:solidFill>
                            <a:srgbClr val="374151"/>
                          </a:solidFill>
                          <a:latin typeface="Aptos"/>
                        </a:defRPr>
                      </a:pPr>
                      <a:r>
                        <a:t>PASSED (12 ms)</a:t>
                      </a:r>
                    </a:p>
                  </a:txBody>
                  <a:tcPr>
                    <a:solidFill>
                      <a:srgbClr val="FDF2F4"/>
                    </a:solidFill>
                  </a:tcPr>
                </a:tc>
              </a:tr>
              <a:tr h="466344">
                <a:tc>
                  <a:txBody>
                    <a:bodyPr/>
                    <a:lstStyle/>
                    <a:p>
                      <a:pPr algn="l">
                        <a:defRPr sz="1000" b="1">
                          <a:solidFill>
                            <a:srgbClr val="111827"/>
                          </a:solidFill>
                          <a:latin typeface="Aptos"/>
                        </a:defRPr>
                      </a:pPr>
                      <a:r>
                        <a:t>TC-EYE-05</a:t>
                      </a:r>
                    </a:p>
                  </a:txBody>
                  <a:tcPr>
                    <a:solidFill>
                      <a:srgbClr val="FFFFFF"/>
                    </a:solidFill>
                  </a:tcPr>
                </a:tc>
                <a:tc>
                  <a:txBody>
                    <a:bodyPr/>
                    <a:lstStyle/>
                    <a:p>
                      <a:pPr algn="l">
                        <a:defRPr sz="1000">
                          <a:solidFill>
                            <a:srgbClr val="374151"/>
                          </a:solidFill>
                          <a:latin typeface="Aptos"/>
                        </a:defRPr>
                      </a:pPr>
                      <a:r>
                        <a:t>Eye CNN</a:t>
                      </a:r>
                    </a:p>
                  </a:txBody>
                  <a:tcPr>
                    <a:solidFill>
                      <a:srgbClr val="FFFFFF"/>
                    </a:solidFill>
                  </a:tcPr>
                </a:tc>
                <a:tc>
                  <a:txBody>
                    <a:bodyPr/>
                    <a:lstStyle/>
                    <a:p>
                      <a:pPr algn="l">
                        <a:defRPr sz="1000">
                          <a:solidFill>
                            <a:srgbClr val="374151"/>
                          </a:solidFill>
                          <a:latin typeface="Aptos"/>
                        </a:defRPr>
                      </a:pPr>
                      <a:r>
                        <a:t>Extreme pixel values (all zeros / all ones)</a:t>
                      </a:r>
                    </a:p>
                  </a:txBody>
                  <a:tcPr>
                    <a:solidFill>
                      <a:srgbClr val="FFFFFF"/>
                    </a:solidFill>
                  </a:tcPr>
                </a:tc>
                <a:tc>
                  <a:txBody>
                    <a:bodyPr/>
                    <a:lstStyle/>
                    <a:p>
                      <a:pPr algn="l">
                        <a:defRPr sz="1000">
                          <a:solidFill>
                            <a:srgbClr val="374151"/>
                          </a:solidFill>
                          <a:latin typeface="Aptos"/>
                        </a:defRPr>
                      </a:pPr>
                      <a:r>
                        <a:t>Numerical stability in softmax; no NaN outputs</a:t>
                      </a:r>
                    </a:p>
                  </a:txBody>
                  <a:tcPr>
                    <a:solidFill>
                      <a:srgbClr val="FFFFFF"/>
                    </a:solidFill>
                  </a:tcPr>
                </a:tc>
                <a:tc>
                  <a:txBody>
                    <a:bodyPr/>
                    <a:lstStyle/>
                    <a:p>
                      <a:pPr algn="l">
                        <a:defRPr sz="1000">
                          <a:solidFill>
                            <a:srgbClr val="374151"/>
                          </a:solidFill>
                          <a:latin typeface="Aptos"/>
                        </a:defRPr>
                      </a:pPr>
                      <a:r>
                        <a:t>PASSED (10 ms)</a:t>
                      </a:r>
                    </a:p>
                  </a:txBody>
                  <a:tcPr>
                    <a:solidFill>
                      <a:srgbClr val="FFFFFF"/>
                    </a:solidFill>
                  </a:tcPr>
                </a:tc>
              </a:tr>
              <a:tr h="466344">
                <a:tc>
                  <a:txBody>
                    <a:bodyPr/>
                    <a:lstStyle/>
                    <a:p>
                      <a:pPr algn="l">
                        <a:defRPr sz="1000" b="1">
                          <a:solidFill>
                            <a:srgbClr val="111827"/>
                          </a:solidFill>
                          <a:latin typeface="Aptos"/>
                        </a:defRPr>
                      </a:pPr>
                      <a:r>
                        <a:t>TC-UNET-01</a:t>
                      </a:r>
                    </a:p>
                  </a:txBody>
                  <a:tcPr>
                    <a:solidFill>
                      <a:srgbClr val="FDF2F4"/>
                    </a:solidFill>
                  </a:tcPr>
                </a:tc>
                <a:tc>
                  <a:txBody>
                    <a:bodyPr/>
                    <a:lstStyle/>
                    <a:p>
                      <a:pPr algn="l">
                        <a:defRPr sz="1000">
                          <a:solidFill>
                            <a:srgbClr val="374151"/>
                          </a:solidFill>
                          <a:latin typeface="Aptos"/>
                        </a:defRPr>
                      </a:pPr>
                      <a:r>
                        <a:t>U-Net</a:t>
                      </a:r>
                    </a:p>
                  </a:txBody>
                  <a:tcPr>
                    <a:solidFill>
                      <a:srgbClr val="FDF2F4"/>
                    </a:solidFill>
                  </a:tcPr>
                </a:tc>
                <a:tc>
                  <a:txBody>
                    <a:bodyPr/>
                    <a:lstStyle/>
                    <a:p>
                      <a:pPr algn="l">
                        <a:defRPr sz="1000">
                          <a:solidFill>
                            <a:srgbClr val="374151"/>
                          </a:solidFill>
                          <a:latin typeface="Aptos"/>
                        </a:defRPr>
                      </a:pPr>
                      <a:r>
                        <a:t>Forward pass on [1, 3, 256, 256] tensor</a:t>
                      </a:r>
                    </a:p>
                  </a:txBody>
                  <a:tcPr>
                    <a:solidFill>
                      <a:srgbClr val="FDF2F4"/>
                    </a:solidFill>
                  </a:tcPr>
                </a:tc>
                <a:tc>
                  <a:txBody>
                    <a:bodyPr/>
                    <a:lstStyle/>
                    <a:p>
                      <a:pPr algn="l">
                        <a:defRPr sz="1000">
                          <a:solidFill>
                            <a:srgbClr val="374151"/>
                          </a:solidFill>
                          <a:latin typeface="Aptos"/>
                        </a:defRPr>
                      </a:pPr>
                      <a:r>
                        <a:t>Binary mask output shape == [1, 1, 256, 256]</a:t>
                      </a:r>
                    </a:p>
                  </a:txBody>
                  <a:tcPr>
                    <a:solidFill>
                      <a:srgbClr val="FDF2F4"/>
                    </a:solidFill>
                  </a:tcPr>
                </a:tc>
                <a:tc>
                  <a:txBody>
                    <a:bodyPr/>
                    <a:lstStyle/>
                    <a:p>
                      <a:pPr algn="l">
                        <a:defRPr sz="1000">
                          <a:solidFill>
                            <a:srgbClr val="374151"/>
                          </a:solidFill>
                          <a:latin typeface="Aptos"/>
                        </a:defRPr>
                      </a:pPr>
                      <a:r>
                        <a:t>PASSED (24 ms)</a:t>
                      </a:r>
                    </a:p>
                  </a:txBody>
                  <a:tcPr>
                    <a:solidFill>
                      <a:srgbClr val="FDF2F4"/>
                    </a:solidFill>
                  </a:tcPr>
                </a:tc>
              </a:tr>
              <a:tr h="466344">
                <a:tc>
                  <a:txBody>
                    <a:bodyPr/>
                    <a:lstStyle/>
                    <a:p>
                      <a:pPr algn="l">
                        <a:defRPr sz="1000" b="1">
                          <a:solidFill>
                            <a:srgbClr val="111827"/>
                          </a:solidFill>
                          <a:latin typeface="Aptos"/>
                        </a:defRPr>
                      </a:pPr>
                      <a:r>
                        <a:t>TC-UNET-02</a:t>
                      </a:r>
                    </a:p>
                  </a:txBody>
                  <a:tcPr>
                    <a:solidFill>
                      <a:srgbClr val="FFFFFF"/>
                    </a:solidFill>
                  </a:tcPr>
                </a:tc>
                <a:tc>
                  <a:txBody>
                    <a:bodyPr/>
                    <a:lstStyle/>
                    <a:p>
                      <a:pPr algn="l">
                        <a:defRPr sz="1000">
                          <a:solidFill>
                            <a:srgbClr val="374151"/>
                          </a:solidFill>
                          <a:latin typeface="Aptos"/>
                        </a:defRPr>
                      </a:pPr>
                      <a:r>
                        <a:t>U-Net</a:t>
                      </a:r>
                    </a:p>
                  </a:txBody>
                  <a:tcPr>
                    <a:solidFill>
                      <a:srgbClr val="FFFFFF"/>
                    </a:solidFill>
                  </a:tcPr>
                </a:tc>
                <a:tc>
                  <a:txBody>
                    <a:bodyPr/>
                    <a:lstStyle/>
                    <a:p>
                      <a:pPr algn="l">
                        <a:defRPr sz="1000">
                          <a:solidFill>
                            <a:srgbClr val="374151"/>
                          </a:solidFill>
                          <a:latin typeface="Aptos"/>
                        </a:defRPr>
                      </a:pPr>
                      <a:r>
                        <a:t>Sigmoid activation bounds check</a:t>
                      </a:r>
                    </a:p>
                  </a:txBody>
                  <a:tcPr>
                    <a:solidFill>
                      <a:srgbClr val="FFFFFF"/>
                    </a:solidFill>
                  </a:tcPr>
                </a:tc>
                <a:tc>
                  <a:txBody>
                    <a:bodyPr/>
                    <a:lstStyle/>
                    <a:p>
                      <a:pPr algn="l">
                        <a:defRPr sz="1000">
                          <a:solidFill>
                            <a:srgbClr val="374151"/>
                          </a:solidFill>
                          <a:latin typeface="Aptos"/>
                        </a:defRPr>
                      </a:pPr>
                      <a:r>
                        <a:t>All mask values strictly in [0.0, 1.0] interval</a:t>
                      </a:r>
                    </a:p>
                  </a:txBody>
                  <a:tcPr>
                    <a:solidFill>
                      <a:srgbClr val="FFFFFF"/>
                    </a:solidFill>
                  </a:tcPr>
                </a:tc>
                <a:tc>
                  <a:txBody>
                    <a:bodyPr/>
                    <a:lstStyle/>
                    <a:p>
                      <a:pPr algn="l">
                        <a:defRPr sz="1000">
                          <a:solidFill>
                            <a:srgbClr val="374151"/>
                          </a:solidFill>
                          <a:latin typeface="Aptos"/>
                        </a:defRPr>
                      </a:pPr>
                      <a:r>
                        <a:t>PASSED (23 ms)</a:t>
                      </a:r>
                    </a:p>
                  </a:txBody>
                  <a:tcPr>
                    <a:solidFill>
                      <a:srgbClr val="FFFFFF"/>
                    </a:solidFill>
                  </a:tcPr>
                </a:tc>
              </a:tr>
              <a:tr h="466344">
                <a:tc>
                  <a:txBody>
                    <a:bodyPr/>
                    <a:lstStyle/>
                    <a:p>
                      <a:pPr algn="l">
                        <a:defRPr sz="1000" b="1">
                          <a:solidFill>
                            <a:srgbClr val="111827"/>
                          </a:solidFill>
                          <a:latin typeface="Aptos"/>
                        </a:defRPr>
                      </a:pPr>
                      <a:r>
                        <a:t>TC-UNET-03</a:t>
                      </a:r>
                    </a:p>
                  </a:txBody>
                  <a:tcPr>
                    <a:solidFill>
                      <a:srgbClr val="FDF2F4"/>
                    </a:solidFill>
                  </a:tcPr>
                </a:tc>
                <a:tc>
                  <a:txBody>
                    <a:bodyPr/>
                    <a:lstStyle/>
                    <a:p>
                      <a:pPr algn="l">
                        <a:defRPr sz="1000">
                          <a:solidFill>
                            <a:srgbClr val="374151"/>
                          </a:solidFill>
                          <a:latin typeface="Aptos"/>
                        </a:defRPr>
                      </a:pPr>
                      <a:r>
                        <a:t>Two-Stage</a:t>
                      </a:r>
                    </a:p>
                  </a:txBody>
                  <a:tcPr>
                    <a:solidFill>
                      <a:srgbClr val="FDF2F4"/>
                    </a:solidFill>
                  </a:tcPr>
                </a:tc>
                <a:tc>
                  <a:txBody>
                    <a:bodyPr/>
                    <a:lstStyle/>
                    <a:p>
                      <a:pPr algn="l">
                        <a:defRPr sz="1000">
                          <a:solidFill>
                            <a:srgbClr val="374151"/>
                          </a:solidFill>
                          <a:latin typeface="Aptos"/>
                        </a:defRPr>
                      </a:pPr>
                      <a:r>
                        <a:t>YOLOv8 bbox cropping integration</a:t>
                      </a:r>
                    </a:p>
                  </a:txBody>
                  <a:tcPr>
                    <a:solidFill>
                      <a:srgbClr val="FDF2F4"/>
                    </a:solidFill>
                  </a:tcPr>
                </a:tc>
                <a:tc>
                  <a:txBody>
                    <a:bodyPr/>
                    <a:lstStyle/>
                    <a:p>
                      <a:pPr algn="l">
                        <a:defRPr sz="1000">
                          <a:solidFill>
                            <a:srgbClr val="374151"/>
                          </a:solidFill>
                          <a:latin typeface="Aptos"/>
                        </a:defRPr>
                      </a:pPr>
                      <a:r>
                        <a:t>Cropped ROI matches bounding box + 10% padding</a:t>
                      </a:r>
                    </a:p>
                  </a:txBody>
                  <a:tcPr>
                    <a:solidFill>
                      <a:srgbClr val="FDF2F4"/>
                    </a:solidFill>
                  </a:tcPr>
                </a:tc>
                <a:tc>
                  <a:txBody>
                    <a:bodyPr/>
                    <a:lstStyle/>
                    <a:p>
                      <a:pPr algn="l">
                        <a:defRPr sz="1000">
                          <a:solidFill>
                            <a:srgbClr val="374151"/>
                          </a:solidFill>
                          <a:latin typeface="Aptos"/>
                        </a:defRPr>
                      </a:pPr>
                      <a:r>
                        <a:t>PASSED (26 ms)</a:t>
                      </a:r>
                    </a:p>
                  </a:txBody>
                  <a:tcPr>
                    <a:solidFill>
                      <a:srgbClr val="FDF2F4"/>
                    </a:solidFill>
                  </a:tcPr>
                </a:tc>
              </a:tr>
              <a:tr h="466344">
                <a:tc>
                  <a:txBody>
                    <a:bodyPr/>
                    <a:lstStyle/>
                    <a:p>
                      <a:pPr algn="l">
                        <a:defRPr sz="1000" b="1">
                          <a:solidFill>
                            <a:srgbClr val="111827"/>
                          </a:solidFill>
                          <a:latin typeface="Aptos"/>
                        </a:defRPr>
                      </a:pPr>
                      <a:r>
                        <a:t>TC-UNET-04</a:t>
                      </a:r>
                    </a:p>
                  </a:txBody>
                  <a:tcPr>
                    <a:solidFill>
                      <a:srgbClr val="FFFFFF"/>
                    </a:solidFill>
                  </a:tcPr>
                </a:tc>
                <a:tc>
                  <a:txBody>
                    <a:bodyPr/>
                    <a:lstStyle/>
                    <a:p>
                      <a:pPr algn="l">
                        <a:defRPr sz="1000">
                          <a:solidFill>
                            <a:srgbClr val="374151"/>
                          </a:solidFill>
                          <a:latin typeface="Aptos"/>
                        </a:defRPr>
                      </a:pPr>
                      <a:r>
                        <a:t>Two-Stage</a:t>
                      </a:r>
                    </a:p>
                  </a:txBody>
                  <a:tcPr>
                    <a:solidFill>
                      <a:srgbClr val="FFFFFF"/>
                    </a:solidFill>
                  </a:tcPr>
                </a:tc>
                <a:tc>
                  <a:txBody>
                    <a:bodyPr/>
                    <a:lstStyle/>
                    <a:p>
                      <a:pPr algn="l">
                        <a:defRPr sz="1000">
                          <a:solidFill>
                            <a:srgbClr val="374151"/>
                          </a:solidFill>
                          <a:latin typeface="Aptos"/>
                        </a:defRPr>
                      </a:pPr>
                      <a:r>
                        <a:t>Surface area calculation verification</a:t>
                      </a:r>
                    </a:p>
                  </a:txBody>
                  <a:tcPr>
                    <a:solidFill>
                      <a:srgbClr val="FFFFFF"/>
                    </a:solidFill>
                  </a:tcPr>
                </a:tc>
                <a:tc>
                  <a:txBody>
                    <a:bodyPr/>
                    <a:lstStyle/>
                    <a:p>
                      <a:pPr algn="l">
                        <a:defRPr sz="1000">
                          <a:solidFill>
                            <a:srgbClr val="374151"/>
                          </a:solidFill>
                          <a:latin typeface="Aptos"/>
                        </a:defRPr>
                      </a:pPr>
                      <a:r>
                        <a:t>Pixel area matches known synthetic target mask</a:t>
                      </a:r>
                    </a:p>
                  </a:txBody>
                  <a:tcPr>
                    <a:solidFill>
                      <a:srgbClr val="FFFFFF"/>
                    </a:solidFill>
                  </a:tcPr>
                </a:tc>
                <a:tc>
                  <a:txBody>
                    <a:bodyPr/>
                    <a:lstStyle/>
                    <a:p>
                      <a:pPr algn="l">
                        <a:defRPr sz="1000">
                          <a:solidFill>
                            <a:srgbClr val="374151"/>
                          </a:solidFill>
                          <a:latin typeface="Aptos"/>
                        </a:defRPr>
                      </a:pPr>
                      <a:r>
                        <a:t>PASSED (22 ms)</a:t>
                      </a:r>
                    </a:p>
                  </a:txBody>
                  <a:tcPr>
                    <a:solidFill>
                      <a:srgbClr val="FFFFFF"/>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9921240" y="201168"/>
            <a:ext cx="1965960" cy="685800"/>
          </a:xfrm>
          <a:prstGeom prst="rect">
            <a:avLst/>
          </a:prstGeom>
        </p:spPr>
      </p:pic>
      <p:sp>
        <p:nvSpPr>
          <p:cNvPr id="3" name="TextBox 2"/>
          <p:cNvSpPr txBox="1"/>
          <p:nvPr/>
        </p:nvSpPr>
        <p:spPr>
          <a:xfrm>
            <a:off x="731520" y="320040"/>
            <a:ext cx="8961120" cy="777240"/>
          </a:xfrm>
          <a:prstGeom prst="rect">
            <a:avLst/>
          </a:prstGeom>
          <a:noFill/>
        </p:spPr>
        <p:txBody>
          <a:bodyPr wrap="square" lIns="0" tIns="0" rIns="0" bIns="0">
            <a:spAutoFit/>
          </a:bodyPr>
          <a:lstStyle/>
          <a:p>
            <a:pPr>
              <a:spcAft>
                <a:spcPts val="200"/>
              </a:spcAft>
              <a:defRPr sz="950" b="1">
                <a:solidFill>
                  <a:srgbClr val="B6114D"/>
                </a:solidFill>
                <a:latin typeface="Aptos"/>
              </a:defRPr>
            </a:pPr>
            <a:r>
              <a:t>SECTION E: INTEGRATION &amp; EXPERIMENTS</a:t>
            </a:r>
          </a:p>
          <a:p>
            <a:pPr>
              <a:defRPr sz="2100" b="1">
                <a:solidFill>
                  <a:srgbClr val="111827"/>
                </a:solidFill>
                <a:latin typeface="Aptos"/>
              </a:defRPr>
            </a:pPr>
            <a:r>
              <a:t>Failure Cases, Edge Conditions &amp; Robustness Analysis</a:t>
            </a:r>
          </a:p>
        </p:txBody>
      </p:sp>
      <p:sp>
        <p:nvSpPr>
          <p:cNvPr id="4" name="Rectangle 3"/>
          <p:cNvSpPr/>
          <p:nvPr/>
        </p:nvSpPr>
        <p:spPr>
          <a:xfrm>
            <a:off x="731520" y="1170432"/>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161288"/>
            <a:ext cx="1097280" cy="32004"/>
          </a:xfrm>
          <a:prstGeom prst="rect">
            <a:avLst/>
          </a:prstGeom>
          <a:solidFill>
            <a:srgbClr val="B6114D"/>
          </a:solidFill>
          <a:ln>
            <a:solidFill>
              <a:srgbClr val="B611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09360"/>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55080"/>
            <a:ext cx="4572000" cy="320040"/>
          </a:xfrm>
          <a:prstGeom prst="rect">
            <a:avLst/>
          </a:prstGeom>
          <a:noFill/>
        </p:spPr>
        <p:txBody>
          <a:bodyPr wrap="none" lIns="0" tIns="0" rIns="0" bIns="0">
            <a:spAutoFit/>
          </a:bodyPr>
          <a:lstStyle/>
          <a:p>
            <a:pPr>
              <a:defRPr sz="900">
                <a:solidFill>
                  <a:srgbClr val="6B7280"/>
                </a:solidFill>
                <a:latin typeface="Aptos"/>
              </a:defRPr>
            </a:pPr>
            <a:r>
              <a:t>MediPaw — every paw deserves a chance</a:t>
            </a:r>
          </a:p>
        </p:txBody>
      </p:sp>
      <p:sp>
        <p:nvSpPr>
          <p:cNvPr id="8" name="TextBox 7"/>
          <p:cNvSpPr txBox="1"/>
          <p:nvPr/>
        </p:nvSpPr>
        <p:spPr>
          <a:xfrm>
            <a:off x="4572000" y="6355080"/>
            <a:ext cx="4114800" cy="320040"/>
          </a:xfrm>
          <a:prstGeom prst="rect">
            <a:avLst/>
          </a:prstGeom>
          <a:noFill/>
        </p:spPr>
        <p:txBody>
          <a:bodyPr wrap="none" lIns="0" tIns="0" rIns="0" bIns="0">
            <a:spAutoFit/>
          </a:bodyPr>
          <a:lstStyle/>
          <a:p>
            <a:pPr algn="ctr">
              <a:defRPr sz="900">
                <a:solidFill>
                  <a:srgbClr val="6B7280"/>
                </a:solidFill>
                <a:latin typeface="Aptos"/>
              </a:defRPr>
            </a:pPr>
            <a:r>
              <a:t>A.C. Sanhitha Reddy (CB.SC.U4CSE23206) | 23CSE473 Review 2</a:t>
            </a:r>
          </a:p>
        </p:txBody>
      </p:sp>
      <p:sp>
        <p:nvSpPr>
          <p:cNvPr id="9" name="TextBox 8"/>
          <p:cNvSpPr txBox="1"/>
          <p:nvPr/>
        </p:nvSpPr>
        <p:spPr>
          <a:xfrm>
            <a:off x="9601200" y="6355080"/>
            <a:ext cx="1828800" cy="320040"/>
          </a:xfrm>
          <a:prstGeom prst="rect">
            <a:avLst/>
          </a:prstGeom>
          <a:noFill/>
        </p:spPr>
        <p:txBody>
          <a:bodyPr wrap="none" lIns="0" tIns="0" rIns="0" bIns="0">
            <a:spAutoFit/>
          </a:bodyPr>
          <a:lstStyle/>
          <a:p>
            <a:pPr algn="r">
              <a:defRPr sz="900" b="1">
                <a:solidFill>
                  <a:srgbClr val="B6114D"/>
                </a:solidFill>
                <a:latin typeface="Aptos"/>
              </a:defRPr>
            </a:pPr>
            <a:r>
              <a:t>Slide 36 of 44</a:t>
            </a:r>
          </a:p>
        </p:txBody>
      </p:sp>
      <p:sp>
        <p:nvSpPr>
          <p:cNvPr id="10" name="Rectangle 9"/>
          <p:cNvSpPr/>
          <p:nvPr/>
        </p:nvSpPr>
        <p:spPr>
          <a:xfrm>
            <a:off x="731520" y="1371600"/>
            <a:ext cx="3383280" cy="4663440"/>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1371600"/>
            <a:ext cx="3383280" cy="73152"/>
          </a:xfrm>
          <a:prstGeom prst="rect">
            <a:avLst/>
          </a:prstGeom>
          <a:solidFill>
            <a:srgbClr val="B611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1600200"/>
            <a:ext cx="3017520" cy="4206240"/>
          </a:xfrm>
          <a:prstGeom prst="rect">
            <a:avLst/>
          </a:prstGeom>
          <a:noFill/>
        </p:spPr>
        <p:txBody>
          <a:bodyPr wrap="square">
            <a:spAutoFit/>
          </a:bodyPr>
          <a:lstStyle/>
          <a:p>
            <a:pPr>
              <a:spcAft>
                <a:spcPts val="800"/>
              </a:spcAft>
              <a:defRPr sz="1200" b="1">
                <a:solidFill>
                  <a:srgbClr val="B6114D"/>
                </a:solidFill>
                <a:latin typeface="Aptos"/>
              </a:defRPr>
            </a:pPr>
            <a:r>
              <a:t>Extreme Motion Blur &amp; Camera Defocus</a:t>
            </a:r>
          </a:p>
          <a:p>
            <a:pPr>
              <a:spcAft>
                <a:spcPts val="600"/>
              </a:spcAft>
              <a:defRPr sz="1000">
                <a:latin typeface="Aptos"/>
              </a:defRPr>
            </a:pPr>
            <a:r>
              <a:rPr b="1">
                <a:solidFill>
                  <a:srgbClr val="111827"/>
                </a:solidFill>
              </a:rPr>
              <a:t>• Clinical Failure:</a:t>
            </a:r>
            <a:r>
              <a:rPr b="0">
                <a:solidFill>
                  <a:srgbClr val="374151"/>
                </a:solidFill>
              </a:rPr>
              <a:t> Agitated rescue dogs frequently move during intake photography, creating heavy motion blur.</a:t>
            </a:r>
          </a:p>
          <a:p>
            <a:pPr>
              <a:spcAft>
                <a:spcPts val="600"/>
              </a:spcAft>
              <a:defRPr sz="1000">
                <a:latin typeface="Aptos"/>
              </a:defRPr>
            </a:pPr>
            <a:r>
              <a:rPr b="1">
                <a:solidFill>
                  <a:srgbClr val="111827"/>
                </a:solidFill>
              </a:rPr>
              <a:t>• Model Impact:</a:t>
            </a:r>
            <a:r>
              <a:rPr b="0">
                <a:solidFill>
                  <a:srgbClr val="374151"/>
                </a:solidFill>
              </a:rPr>
              <a:t> Eye CNN confidence drops below 0.50; fine meibomian tumors become smeared.</a:t>
            </a:r>
          </a:p>
          <a:p>
            <a:pPr>
              <a:spcAft>
                <a:spcPts val="600"/>
              </a:spcAft>
              <a:defRPr sz="1000">
                <a:latin typeface="Aptos"/>
              </a:defRPr>
            </a:pPr>
            <a:r>
              <a:rPr b="1">
                <a:solidFill>
                  <a:srgbClr val="111827"/>
                </a:solidFill>
              </a:rPr>
              <a:t>• System Handler:</a:t>
            </a:r>
            <a:r>
              <a:rPr b="0">
                <a:solidFill>
                  <a:srgbClr val="374151"/>
                </a:solidFill>
              </a:rPr>
              <a:t> Automated Laplacian variance check (cv2.Laplacian) computes blur score. If var &lt; 100, API rejects upload with 'IMAGE_BLURRED' warning and prompts retake.</a:t>
            </a:r>
          </a:p>
        </p:txBody>
      </p:sp>
      <p:sp>
        <p:nvSpPr>
          <p:cNvPr id="13" name="Rectangle 12"/>
          <p:cNvSpPr/>
          <p:nvPr/>
        </p:nvSpPr>
        <p:spPr>
          <a:xfrm>
            <a:off x="4389120" y="1371600"/>
            <a:ext cx="3383280" cy="4663440"/>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89120" y="1371600"/>
            <a:ext cx="3383280" cy="73152"/>
          </a:xfrm>
          <a:prstGeom prst="rect">
            <a:avLst/>
          </a:prstGeom>
          <a:solidFill>
            <a:srgbClr val="0860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0" y="1600200"/>
            <a:ext cx="3017520" cy="4206240"/>
          </a:xfrm>
          <a:prstGeom prst="rect">
            <a:avLst/>
          </a:prstGeom>
          <a:noFill/>
        </p:spPr>
        <p:txBody>
          <a:bodyPr wrap="square">
            <a:spAutoFit/>
          </a:bodyPr>
          <a:lstStyle/>
          <a:p>
            <a:pPr>
              <a:spcAft>
                <a:spcPts val="800"/>
              </a:spcAft>
              <a:defRPr sz="1200" b="1">
                <a:solidFill>
                  <a:srgbClr val="086072"/>
                </a:solidFill>
                <a:latin typeface="Aptos"/>
              </a:defRPr>
            </a:pPr>
            <a:r>
              <a:t>Heavy Fur Occlusion of Wound Margins</a:t>
            </a:r>
          </a:p>
          <a:p>
            <a:pPr>
              <a:spcAft>
                <a:spcPts val="600"/>
              </a:spcAft>
              <a:defRPr sz="1000">
                <a:latin typeface="Aptos"/>
              </a:defRPr>
            </a:pPr>
            <a:r>
              <a:rPr b="1">
                <a:solidFill>
                  <a:srgbClr val="111827"/>
                </a:solidFill>
              </a:rPr>
              <a:t>• Clinical Failure:</a:t>
            </a:r>
            <a:r>
              <a:rPr b="0">
                <a:solidFill>
                  <a:srgbClr val="374151"/>
                </a:solidFill>
              </a:rPr>
              <a:t> Long-haired breeds (e.g. Golden Retrievers) exhibit fur mats partially covering deep bite wounds.</a:t>
            </a:r>
          </a:p>
          <a:p>
            <a:pPr>
              <a:spcAft>
                <a:spcPts val="600"/>
              </a:spcAft>
              <a:defRPr sz="1000">
                <a:latin typeface="Aptos"/>
              </a:defRPr>
            </a:pPr>
            <a:r>
              <a:rPr b="1">
                <a:solidFill>
                  <a:srgbClr val="111827"/>
                </a:solidFill>
              </a:rPr>
              <a:t>• Model Impact:</a:t>
            </a:r>
            <a:r>
              <a:rPr b="0">
                <a:solidFill>
                  <a:srgbClr val="374151"/>
                </a:solidFill>
              </a:rPr>
              <a:t> U-Net under-segments true wound area, misclassifying wet fur mats as healthy skin.</a:t>
            </a:r>
          </a:p>
          <a:p>
            <a:pPr>
              <a:spcAft>
                <a:spcPts val="600"/>
              </a:spcAft>
              <a:defRPr sz="1000">
                <a:latin typeface="Aptos"/>
              </a:defRPr>
            </a:pPr>
            <a:r>
              <a:rPr b="1">
                <a:solidFill>
                  <a:srgbClr val="111827"/>
                </a:solidFill>
              </a:rPr>
              <a:t>• System Handler:</a:t>
            </a:r>
            <a:r>
              <a:rPr b="0">
                <a:solidFill>
                  <a:srgbClr val="374151"/>
                </a:solidFill>
              </a:rPr>
              <a:t> Bounding box padding expanded to 15%; surface area returned with confidence intervals; vet alert prompts clipping hair.</a:t>
            </a:r>
          </a:p>
        </p:txBody>
      </p:sp>
      <p:sp>
        <p:nvSpPr>
          <p:cNvPr id="16" name="Rectangle 15"/>
          <p:cNvSpPr/>
          <p:nvPr/>
        </p:nvSpPr>
        <p:spPr>
          <a:xfrm>
            <a:off x="8046720" y="1371600"/>
            <a:ext cx="3383280" cy="4663440"/>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6720" y="1371600"/>
            <a:ext cx="3383280" cy="73152"/>
          </a:xfrm>
          <a:prstGeom prst="rect">
            <a:avLst/>
          </a:prstGeom>
          <a:solidFill>
            <a:srgbClr val="8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0" y="1600200"/>
            <a:ext cx="3017520" cy="4206240"/>
          </a:xfrm>
          <a:prstGeom prst="rect">
            <a:avLst/>
          </a:prstGeom>
          <a:noFill/>
        </p:spPr>
        <p:txBody>
          <a:bodyPr wrap="square">
            <a:spAutoFit/>
          </a:bodyPr>
          <a:lstStyle/>
          <a:p>
            <a:pPr>
              <a:spcAft>
                <a:spcPts val="800"/>
              </a:spcAft>
              <a:defRPr sz="1200" b="1">
                <a:solidFill>
                  <a:srgbClr val="800020"/>
                </a:solidFill>
                <a:latin typeface="Aptos"/>
              </a:defRPr>
            </a:pPr>
            <a:r>
              <a:t>Severe Illumination Discrepancies</a:t>
            </a:r>
          </a:p>
          <a:p>
            <a:pPr>
              <a:spcAft>
                <a:spcPts val="600"/>
              </a:spcAft>
              <a:defRPr sz="1000">
                <a:latin typeface="Aptos"/>
              </a:defRPr>
            </a:pPr>
            <a:r>
              <a:rPr b="1">
                <a:solidFill>
                  <a:srgbClr val="111827"/>
                </a:solidFill>
              </a:rPr>
              <a:t>• Clinical Failure:</a:t>
            </a:r>
            <a:r>
              <a:rPr b="0">
                <a:solidFill>
                  <a:srgbClr val="374151"/>
                </a:solidFill>
              </a:rPr>
              <a:t> Night rescue under flashlight or harsh direct sunlight creating deep specular corneal glare.</a:t>
            </a:r>
          </a:p>
          <a:p>
            <a:pPr>
              <a:spcAft>
                <a:spcPts val="600"/>
              </a:spcAft>
              <a:defRPr sz="1000">
                <a:latin typeface="Aptos"/>
              </a:defRPr>
            </a:pPr>
            <a:r>
              <a:rPr b="1">
                <a:solidFill>
                  <a:srgbClr val="111827"/>
                </a:solidFill>
              </a:rPr>
              <a:t>• Model Impact:</a:t>
            </a:r>
            <a:r>
              <a:rPr b="0">
                <a:solidFill>
                  <a:srgbClr val="374151"/>
                </a:solidFill>
              </a:rPr>
              <a:t> Specular glare mimics corneal opacity, raising false Entropion/Conjunctivitis probability.</a:t>
            </a:r>
          </a:p>
          <a:p>
            <a:pPr>
              <a:spcAft>
                <a:spcPts val="600"/>
              </a:spcAft>
              <a:defRPr sz="1000">
                <a:latin typeface="Aptos"/>
              </a:defRPr>
            </a:pPr>
            <a:r>
              <a:rPr b="1">
                <a:solidFill>
                  <a:srgbClr val="111827"/>
                </a:solidFill>
              </a:rPr>
              <a:t>• System Handler:</a:t>
            </a:r>
            <a:r>
              <a:rPr b="0">
                <a:solidFill>
                  <a:srgbClr val="374151"/>
                </a:solidFill>
              </a:rPr>
              <a:t> Bilateral adaptive histogram equalization (CLAHE) normalizes luminance prior to tensor ingestion.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9921240" y="201168"/>
            <a:ext cx="1965960" cy="685800"/>
          </a:xfrm>
          <a:prstGeom prst="rect">
            <a:avLst/>
          </a:prstGeom>
        </p:spPr>
      </p:pic>
      <p:sp>
        <p:nvSpPr>
          <p:cNvPr id="3" name="TextBox 2"/>
          <p:cNvSpPr txBox="1"/>
          <p:nvPr/>
        </p:nvSpPr>
        <p:spPr>
          <a:xfrm>
            <a:off x="731520" y="320040"/>
            <a:ext cx="8961120" cy="777240"/>
          </a:xfrm>
          <a:prstGeom prst="rect">
            <a:avLst/>
          </a:prstGeom>
          <a:noFill/>
        </p:spPr>
        <p:txBody>
          <a:bodyPr wrap="square" lIns="0" tIns="0" rIns="0" bIns="0">
            <a:spAutoFit/>
          </a:bodyPr>
          <a:lstStyle/>
          <a:p>
            <a:pPr>
              <a:spcAft>
                <a:spcPts val="200"/>
              </a:spcAft>
              <a:defRPr sz="950" b="1">
                <a:solidFill>
                  <a:srgbClr val="B6114D"/>
                </a:solidFill>
                <a:latin typeface="Aptos"/>
              </a:defRPr>
            </a:pPr>
            <a:r>
              <a:t>SECTION E: INTEGRATION &amp; EXPERIMENTS</a:t>
            </a:r>
          </a:p>
          <a:p>
            <a:pPr>
              <a:defRPr sz="2100" b="1">
                <a:solidFill>
                  <a:srgbClr val="111827"/>
                </a:solidFill>
                <a:latin typeface="Aptos"/>
              </a:defRPr>
            </a:pPr>
            <a:r>
              <a:t>Computational Profiling &amp; Latency Benchmarks</a:t>
            </a:r>
          </a:p>
        </p:txBody>
      </p:sp>
      <p:sp>
        <p:nvSpPr>
          <p:cNvPr id="4" name="Rectangle 3"/>
          <p:cNvSpPr/>
          <p:nvPr/>
        </p:nvSpPr>
        <p:spPr>
          <a:xfrm>
            <a:off x="731520" y="1170432"/>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161288"/>
            <a:ext cx="1097280" cy="32004"/>
          </a:xfrm>
          <a:prstGeom prst="rect">
            <a:avLst/>
          </a:prstGeom>
          <a:solidFill>
            <a:srgbClr val="B6114D"/>
          </a:solidFill>
          <a:ln>
            <a:solidFill>
              <a:srgbClr val="B611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09360"/>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55080"/>
            <a:ext cx="4572000" cy="320040"/>
          </a:xfrm>
          <a:prstGeom prst="rect">
            <a:avLst/>
          </a:prstGeom>
          <a:noFill/>
        </p:spPr>
        <p:txBody>
          <a:bodyPr wrap="none" lIns="0" tIns="0" rIns="0" bIns="0">
            <a:spAutoFit/>
          </a:bodyPr>
          <a:lstStyle/>
          <a:p>
            <a:pPr>
              <a:defRPr sz="900">
                <a:solidFill>
                  <a:srgbClr val="6B7280"/>
                </a:solidFill>
                <a:latin typeface="Aptos"/>
              </a:defRPr>
            </a:pPr>
            <a:r>
              <a:t>MediPaw — every paw deserves a chance</a:t>
            </a:r>
          </a:p>
        </p:txBody>
      </p:sp>
      <p:sp>
        <p:nvSpPr>
          <p:cNvPr id="8" name="TextBox 7"/>
          <p:cNvSpPr txBox="1"/>
          <p:nvPr/>
        </p:nvSpPr>
        <p:spPr>
          <a:xfrm>
            <a:off x="4572000" y="6355080"/>
            <a:ext cx="4114800" cy="320040"/>
          </a:xfrm>
          <a:prstGeom prst="rect">
            <a:avLst/>
          </a:prstGeom>
          <a:noFill/>
        </p:spPr>
        <p:txBody>
          <a:bodyPr wrap="none" lIns="0" tIns="0" rIns="0" bIns="0">
            <a:spAutoFit/>
          </a:bodyPr>
          <a:lstStyle/>
          <a:p>
            <a:pPr algn="ctr">
              <a:defRPr sz="900">
                <a:solidFill>
                  <a:srgbClr val="6B7280"/>
                </a:solidFill>
                <a:latin typeface="Aptos"/>
              </a:defRPr>
            </a:pPr>
            <a:r>
              <a:t>A.C. Sanhitha Reddy (CB.SC.U4CSE23206) | 23CSE473 Review 2</a:t>
            </a:r>
          </a:p>
        </p:txBody>
      </p:sp>
      <p:sp>
        <p:nvSpPr>
          <p:cNvPr id="9" name="TextBox 8"/>
          <p:cNvSpPr txBox="1"/>
          <p:nvPr/>
        </p:nvSpPr>
        <p:spPr>
          <a:xfrm>
            <a:off x="9601200" y="6355080"/>
            <a:ext cx="1828800" cy="320040"/>
          </a:xfrm>
          <a:prstGeom prst="rect">
            <a:avLst/>
          </a:prstGeom>
          <a:noFill/>
        </p:spPr>
        <p:txBody>
          <a:bodyPr wrap="none" lIns="0" tIns="0" rIns="0" bIns="0">
            <a:spAutoFit/>
          </a:bodyPr>
          <a:lstStyle/>
          <a:p>
            <a:pPr algn="r">
              <a:defRPr sz="900" b="1">
                <a:solidFill>
                  <a:srgbClr val="B6114D"/>
                </a:solidFill>
                <a:latin typeface="Aptos"/>
              </a:defRPr>
            </a:pPr>
            <a:r>
              <a:t>Slide 37 of 44</a:t>
            </a:r>
          </a:p>
        </p:txBody>
      </p:sp>
      <p:graphicFrame>
        <p:nvGraphicFramePr>
          <p:cNvPr id="10" name="Table 9"/>
          <p:cNvGraphicFramePr>
            <a:graphicFrameLocks noGrp="1"/>
          </p:cNvGraphicFramePr>
          <p:nvPr/>
        </p:nvGraphicFramePr>
        <p:xfrm>
          <a:off x="731520" y="1371600"/>
          <a:ext cx="10698480" cy="3291840"/>
        </p:xfrm>
        <a:graphic>
          <a:graphicData uri="http://schemas.openxmlformats.org/drawingml/2006/table">
            <a:tbl>
              <a:tblPr firstRow="1" bandRow="1">
                <a:tableStyleId>{5C22544A-7EE6-4342-B048-85BDC9FD1C3A}</a:tableStyleId>
              </a:tblPr>
              <a:tblGrid>
                <a:gridCol w="2926080"/>
                <a:gridCol w="1645920"/>
                <a:gridCol w="1463040"/>
                <a:gridCol w="1645920"/>
                <a:gridCol w="1645920"/>
                <a:gridCol w="1371600"/>
              </a:tblGrid>
              <a:tr h="470262">
                <a:tc>
                  <a:txBody>
                    <a:bodyPr/>
                    <a:lstStyle/>
                    <a:p>
                      <a:pPr algn="l">
                        <a:defRPr sz="1050" b="1">
                          <a:solidFill>
                            <a:srgbClr val="FFFFFF"/>
                          </a:solidFill>
                          <a:latin typeface="Aptos"/>
                        </a:defRPr>
                      </a:pPr>
                      <a:r>
                        <a:t>Component / Pipeline Stage</a:t>
                      </a:r>
                    </a:p>
                  </a:txBody>
                  <a:tcPr>
                    <a:solidFill>
                      <a:srgbClr val="B6114D"/>
                    </a:solidFill>
                  </a:tcPr>
                </a:tc>
                <a:tc>
                  <a:txBody>
                    <a:bodyPr/>
                    <a:lstStyle/>
                    <a:p>
                      <a:pPr algn="l">
                        <a:defRPr sz="1050" b="1">
                          <a:solidFill>
                            <a:srgbClr val="FFFFFF"/>
                          </a:solidFill>
                          <a:latin typeface="Aptos"/>
                        </a:defRPr>
                      </a:pPr>
                      <a:r>
                        <a:t>Parameter Count</a:t>
                      </a:r>
                    </a:p>
                  </a:txBody>
                  <a:tcPr>
                    <a:solidFill>
                      <a:srgbClr val="B6114D"/>
                    </a:solidFill>
                  </a:tcPr>
                </a:tc>
                <a:tc>
                  <a:txBody>
                    <a:bodyPr/>
                    <a:lstStyle/>
                    <a:p>
                      <a:pPr algn="l">
                        <a:defRPr sz="1050" b="1">
                          <a:solidFill>
                            <a:srgbClr val="FFFFFF"/>
                          </a:solidFill>
                          <a:latin typeface="Aptos"/>
                        </a:defRPr>
                      </a:pPr>
                      <a:r>
                        <a:t>Model Size (MB)</a:t>
                      </a:r>
                    </a:p>
                  </a:txBody>
                  <a:tcPr>
                    <a:solidFill>
                      <a:srgbClr val="B6114D"/>
                    </a:solidFill>
                  </a:tcPr>
                </a:tc>
                <a:tc>
                  <a:txBody>
                    <a:bodyPr/>
                    <a:lstStyle/>
                    <a:p>
                      <a:pPr algn="l">
                        <a:defRPr sz="1050" b="1">
                          <a:solidFill>
                            <a:srgbClr val="FFFFFF"/>
                          </a:solidFill>
                          <a:latin typeface="Aptos"/>
                        </a:defRPr>
                      </a:pPr>
                      <a:r>
                        <a:t>CPU Latency (Intel i7)</a:t>
                      </a:r>
                    </a:p>
                  </a:txBody>
                  <a:tcPr>
                    <a:solidFill>
                      <a:srgbClr val="B6114D"/>
                    </a:solidFill>
                  </a:tcPr>
                </a:tc>
                <a:tc>
                  <a:txBody>
                    <a:bodyPr/>
                    <a:lstStyle/>
                    <a:p>
                      <a:pPr algn="l">
                        <a:defRPr sz="1050" b="1">
                          <a:solidFill>
                            <a:srgbClr val="FFFFFF"/>
                          </a:solidFill>
                          <a:latin typeface="Aptos"/>
                        </a:defRPr>
                      </a:pPr>
                      <a:r>
                        <a:t>GPU Latency (RTX 3060)</a:t>
                      </a:r>
                    </a:p>
                  </a:txBody>
                  <a:tcPr>
                    <a:solidFill>
                      <a:srgbClr val="B6114D"/>
                    </a:solidFill>
                  </a:tcPr>
                </a:tc>
                <a:tc>
                  <a:txBody>
                    <a:bodyPr/>
                    <a:lstStyle/>
                    <a:p>
                      <a:pPr algn="l">
                        <a:defRPr sz="1050" b="1">
                          <a:solidFill>
                            <a:srgbClr val="FFFFFF"/>
                          </a:solidFill>
                          <a:latin typeface="Aptos"/>
                        </a:defRPr>
                      </a:pPr>
                      <a:r>
                        <a:t>Throughput (FPS)</a:t>
                      </a:r>
                    </a:p>
                  </a:txBody>
                  <a:tcPr>
                    <a:solidFill>
                      <a:srgbClr val="B6114D"/>
                    </a:solidFill>
                  </a:tcPr>
                </a:tc>
              </a:tr>
              <a:tr h="470262">
                <a:tc>
                  <a:txBody>
                    <a:bodyPr/>
                    <a:lstStyle/>
                    <a:p>
                      <a:pPr algn="l">
                        <a:defRPr sz="1000" b="1">
                          <a:solidFill>
                            <a:srgbClr val="111827"/>
                          </a:solidFill>
                          <a:latin typeface="Aptos"/>
                        </a:defRPr>
                      </a:pPr>
                      <a:r>
                        <a:t>Image Decoding &amp; Preprocessing</a:t>
                      </a:r>
                    </a:p>
                  </a:txBody>
                  <a:tcPr>
                    <a:solidFill>
                      <a:srgbClr val="FFFFFF"/>
                    </a:solidFill>
                  </a:tcPr>
                </a:tc>
                <a:tc>
                  <a:txBody>
                    <a:bodyPr/>
                    <a:lstStyle/>
                    <a:p>
                      <a:pPr algn="l">
                        <a:defRPr sz="1000">
                          <a:solidFill>
                            <a:srgbClr val="374151"/>
                          </a:solidFill>
                          <a:latin typeface="Aptos"/>
                        </a:defRPr>
                      </a:pPr>
                      <a:r>
                        <a:t>—</a:t>
                      </a:r>
                    </a:p>
                  </a:txBody>
                  <a:tcPr>
                    <a:solidFill>
                      <a:srgbClr val="FFFFFF"/>
                    </a:solidFill>
                  </a:tcPr>
                </a:tc>
                <a:tc>
                  <a:txBody>
                    <a:bodyPr/>
                    <a:lstStyle/>
                    <a:p>
                      <a:pPr algn="l">
                        <a:defRPr sz="1000">
                          <a:solidFill>
                            <a:srgbClr val="374151"/>
                          </a:solidFill>
                          <a:latin typeface="Aptos"/>
                        </a:defRPr>
                      </a:pPr>
                      <a:r>
                        <a:t>—</a:t>
                      </a:r>
                    </a:p>
                  </a:txBody>
                  <a:tcPr>
                    <a:solidFill>
                      <a:srgbClr val="FFFFFF"/>
                    </a:solidFill>
                  </a:tcPr>
                </a:tc>
                <a:tc>
                  <a:txBody>
                    <a:bodyPr/>
                    <a:lstStyle/>
                    <a:p>
                      <a:pPr algn="l">
                        <a:defRPr sz="1000">
                          <a:solidFill>
                            <a:srgbClr val="374151"/>
                          </a:solidFill>
                          <a:latin typeface="Aptos"/>
                        </a:defRPr>
                      </a:pPr>
                      <a:r>
                        <a:t>1.4 ms</a:t>
                      </a:r>
                    </a:p>
                  </a:txBody>
                  <a:tcPr>
                    <a:solidFill>
                      <a:srgbClr val="FFFFFF"/>
                    </a:solidFill>
                  </a:tcPr>
                </a:tc>
                <a:tc>
                  <a:txBody>
                    <a:bodyPr/>
                    <a:lstStyle/>
                    <a:p>
                      <a:pPr algn="l">
                        <a:defRPr sz="1000">
                          <a:solidFill>
                            <a:srgbClr val="374151"/>
                          </a:solidFill>
                          <a:latin typeface="Aptos"/>
                        </a:defRPr>
                      </a:pPr>
                      <a:r>
                        <a:t>0.6 ms</a:t>
                      </a:r>
                    </a:p>
                  </a:txBody>
                  <a:tcPr>
                    <a:solidFill>
                      <a:srgbClr val="FFFFFF"/>
                    </a:solidFill>
                  </a:tcPr>
                </a:tc>
                <a:tc>
                  <a:txBody>
                    <a:bodyPr/>
                    <a:lstStyle/>
                    <a:p>
                      <a:pPr algn="l">
                        <a:defRPr sz="1000">
                          <a:solidFill>
                            <a:srgbClr val="374151"/>
                          </a:solidFill>
                          <a:latin typeface="Aptos"/>
                        </a:defRPr>
                      </a:pPr>
                      <a:r>
                        <a:t>714 fps</a:t>
                      </a:r>
                    </a:p>
                  </a:txBody>
                  <a:tcPr>
                    <a:solidFill>
                      <a:srgbClr val="FFFFFF"/>
                    </a:solidFill>
                  </a:tcPr>
                </a:tc>
              </a:tr>
              <a:tr h="470262">
                <a:tc>
                  <a:txBody>
                    <a:bodyPr/>
                    <a:lstStyle/>
                    <a:p>
                      <a:pPr algn="l">
                        <a:defRPr sz="1000" b="1">
                          <a:solidFill>
                            <a:srgbClr val="111827"/>
                          </a:solidFill>
                          <a:latin typeface="Aptos"/>
                        </a:defRPr>
                      </a:pPr>
                      <a:r>
                        <a:t>Eye CNN (MobileNetV3-Small)</a:t>
                      </a:r>
                    </a:p>
                  </a:txBody>
                  <a:tcPr>
                    <a:solidFill>
                      <a:srgbClr val="FDF2F4"/>
                    </a:solidFill>
                  </a:tcPr>
                </a:tc>
                <a:tc>
                  <a:txBody>
                    <a:bodyPr/>
                    <a:lstStyle/>
                    <a:p>
                      <a:pPr algn="l">
                        <a:defRPr sz="1000">
                          <a:solidFill>
                            <a:srgbClr val="374151"/>
                          </a:solidFill>
                          <a:latin typeface="Aptos"/>
                        </a:defRPr>
                      </a:pPr>
                      <a:r>
                        <a:t>1,523,396</a:t>
                      </a:r>
                    </a:p>
                  </a:txBody>
                  <a:tcPr>
                    <a:solidFill>
                      <a:srgbClr val="FDF2F4"/>
                    </a:solidFill>
                  </a:tcPr>
                </a:tc>
                <a:tc>
                  <a:txBody>
                    <a:bodyPr/>
                    <a:lstStyle/>
                    <a:p>
                      <a:pPr algn="l">
                        <a:defRPr sz="1000">
                          <a:solidFill>
                            <a:srgbClr val="374151"/>
                          </a:solidFill>
                          <a:latin typeface="Aptos"/>
                        </a:defRPr>
                      </a:pPr>
                      <a:r>
                        <a:t>6.1 MB</a:t>
                      </a:r>
                    </a:p>
                  </a:txBody>
                  <a:tcPr>
                    <a:solidFill>
                      <a:srgbClr val="FDF2F4"/>
                    </a:solidFill>
                  </a:tcPr>
                </a:tc>
                <a:tc>
                  <a:txBody>
                    <a:bodyPr/>
                    <a:lstStyle/>
                    <a:p>
                      <a:pPr algn="l">
                        <a:defRPr sz="1000">
                          <a:solidFill>
                            <a:srgbClr val="374151"/>
                          </a:solidFill>
                          <a:latin typeface="Aptos"/>
                        </a:defRPr>
                      </a:pPr>
                      <a:r>
                        <a:t>12.4 ms</a:t>
                      </a:r>
                    </a:p>
                  </a:txBody>
                  <a:tcPr>
                    <a:solidFill>
                      <a:srgbClr val="FDF2F4"/>
                    </a:solidFill>
                  </a:tcPr>
                </a:tc>
                <a:tc>
                  <a:txBody>
                    <a:bodyPr/>
                    <a:lstStyle/>
                    <a:p>
                      <a:pPr algn="l">
                        <a:defRPr sz="1000">
                          <a:solidFill>
                            <a:srgbClr val="374151"/>
                          </a:solidFill>
                          <a:latin typeface="Aptos"/>
                        </a:defRPr>
                      </a:pPr>
                      <a:r>
                        <a:t>2.8 ms</a:t>
                      </a:r>
                    </a:p>
                  </a:txBody>
                  <a:tcPr>
                    <a:solidFill>
                      <a:srgbClr val="FDF2F4"/>
                    </a:solidFill>
                  </a:tcPr>
                </a:tc>
                <a:tc>
                  <a:txBody>
                    <a:bodyPr/>
                    <a:lstStyle/>
                    <a:p>
                      <a:pPr algn="l">
                        <a:defRPr sz="1000">
                          <a:solidFill>
                            <a:srgbClr val="374151"/>
                          </a:solidFill>
                          <a:latin typeface="Aptos"/>
                        </a:defRPr>
                      </a:pPr>
                      <a:r>
                        <a:t>80.6 fps</a:t>
                      </a:r>
                    </a:p>
                  </a:txBody>
                  <a:tcPr>
                    <a:solidFill>
                      <a:srgbClr val="FDF2F4"/>
                    </a:solidFill>
                  </a:tcPr>
                </a:tc>
              </a:tr>
              <a:tr h="470262">
                <a:tc>
                  <a:txBody>
                    <a:bodyPr/>
                    <a:lstStyle/>
                    <a:p>
                      <a:pPr algn="l">
                        <a:defRPr sz="1000" b="1">
                          <a:solidFill>
                            <a:srgbClr val="111827"/>
                          </a:solidFill>
                          <a:latin typeface="Aptos"/>
                        </a:defRPr>
                      </a:pPr>
                      <a:r>
                        <a:t>YOLOv8 Detection (Canine Wounds)</a:t>
                      </a:r>
                    </a:p>
                  </a:txBody>
                  <a:tcPr>
                    <a:solidFill>
                      <a:srgbClr val="FFFFFF"/>
                    </a:solidFill>
                  </a:tcPr>
                </a:tc>
                <a:tc>
                  <a:txBody>
                    <a:bodyPr/>
                    <a:lstStyle/>
                    <a:p>
                      <a:pPr algn="l">
                        <a:defRPr sz="1000">
                          <a:solidFill>
                            <a:srgbClr val="374151"/>
                          </a:solidFill>
                          <a:latin typeface="Aptos"/>
                        </a:defRPr>
                      </a:pPr>
                      <a:r>
                        <a:t>3,011,000</a:t>
                      </a:r>
                    </a:p>
                  </a:txBody>
                  <a:tcPr>
                    <a:solidFill>
                      <a:srgbClr val="FFFFFF"/>
                    </a:solidFill>
                  </a:tcPr>
                </a:tc>
                <a:tc>
                  <a:txBody>
                    <a:bodyPr/>
                    <a:lstStyle/>
                    <a:p>
                      <a:pPr algn="l">
                        <a:defRPr sz="1000">
                          <a:solidFill>
                            <a:srgbClr val="374151"/>
                          </a:solidFill>
                          <a:latin typeface="Aptos"/>
                        </a:defRPr>
                      </a:pPr>
                      <a:r>
                        <a:t>12.2 MB</a:t>
                      </a:r>
                    </a:p>
                  </a:txBody>
                  <a:tcPr>
                    <a:solidFill>
                      <a:srgbClr val="FFFFFF"/>
                    </a:solidFill>
                  </a:tcPr>
                </a:tc>
                <a:tc>
                  <a:txBody>
                    <a:bodyPr/>
                    <a:lstStyle/>
                    <a:p>
                      <a:pPr algn="l">
                        <a:defRPr sz="1000">
                          <a:solidFill>
                            <a:srgbClr val="374151"/>
                          </a:solidFill>
                          <a:latin typeface="Aptos"/>
                        </a:defRPr>
                      </a:pPr>
                      <a:r>
                        <a:t>18.2 ms</a:t>
                      </a:r>
                    </a:p>
                  </a:txBody>
                  <a:tcPr>
                    <a:solidFill>
                      <a:srgbClr val="FFFFFF"/>
                    </a:solidFill>
                  </a:tcPr>
                </a:tc>
                <a:tc>
                  <a:txBody>
                    <a:bodyPr/>
                    <a:lstStyle/>
                    <a:p>
                      <a:pPr algn="l">
                        <a:defRPr sz="1000">
                          <a:solidFill>
                            <a:srgbClr val="374151"/>
                          </a:solidFill>
                          <a:latin typeface="Aptos"/>
                        </a:defRPr>
                      </a:pPr>
                      <a:r>
                        <a:t>4.1 ms</a:t>
                      </a:r>
                    </a:p>
                  </a:txBody>
                  <a:tcPr>
                    <a:solidFill>
                      <a:srgbClr val="FFFFFF"/>
                    </a:solidFill>
                  </a:tcPr>
                </a:tc>
                <a:tc>
                  <a:txBody>
                    <a:bodyPr/>
                    <a:lstStyle/>
                    <a:p>
                      <a:pPr algn="l">
                        <a:defRPr sz="1000">
                          <a:solidFill>
                            <a:srgbClr val="374151"/>
                          </a:solidFill>
                          <a:latin typeface="Aptos"/>
                        </a:defRPr>
                      </a:pPr>
                      <a:r>
                        <a:t>54.9 fps</a:t>
                      </a:r>
                    </a:p>
                  </a:txBody>
                  <a:tcPr>
                    <a:solidFill>
                      <a:srgbClr val="FFFFFF"/>
                    </a:solidFill>
                  </a:tcPr>
                </a:tc>
              </a:tr>
              <a:tr h="470262">
                <a:tc>
                  <a:txBody>
                    <a:bodyPr/>
                    <a:lstStyle/>
                    <a:p>
                      <a:pPr algn="l">
                        <a:defRPr sz="1000" b="1">
                          <a:solidFill>
                            <a:srgbClr val="111827"/>
                          </a:solidFill>
                          <a:latin typeface="Aptos"/>
                        </a:defRPr>
                      </a:pPr>
                      <a:r>
                        <a:t>U-Net Segmentation (256x256 Crop)</a:t>
                      </a:r>
                    </a:p>
                  </a:txBody>
                  <a:tcPr>
                    <a:solidFill>
                      <a:srgbClr val="FDF2F4"/>
                    </a:solidFill>
                  </a:tcPr>
                </a:tc>
                <a:tc>
                  <a:txBody>
                    <a:bodyPr/>
                    <a:lstStyle/>
                    <a:p>
                      <a:pPr algn="l">
                        <a:defRPr sz="1000">
                          <a:solidFill>
                            <a:srgbClr val="374151"/>
                          </a:solidFill>
                          <a:latin typeface="Aptos"/>
                        </a:defRPr>
                      </a:pPr>
                      <a:r>
                        <a:t>7,762,433</a:t>
                      </a:r>
                    </a:p>
                  </a:txBody>
                  <a:tcPr>
                    <a:solidFill>
                      <a:srgbClr val="FDF2F4"/>
                    </a:solidFill>
                  </a:tcPr>
                </a:tc>
                <a:tc>
                  <a:txBody>
                    <a:bodyPr/>
                    <a:lstStyle/>
                    <a:p>
                      <a:pPr algn="l">
                        <a:defRPr sz="1000">
                          <a:solidFill>
                            <a:srgbClr val="374151"/>
                          </a:solidFill>
                          <a:latin typeface="Aptos"/>
                        </a:defRPr>
                      </a:pPr>
                      <a:r>
                        <a:t>31.1 MB</a:t>
                      </a:r>
                    </a:p>
                  </a:txBody>
                  <a:tcPr>
                    <a:solidFill>
                      <a:srgbClr val="FDF2F4"/>
                    </a:solidFill>
                  </a:tcPr>
                </a:tc>
                <a:tc>
                  <a:txBody>
                    <a:bodyPr/>
                    <a:lstStyle/>
                    <a:p>
                      <a:pPr algn="l">
                        <a:defRPr sz="1000">
                          <a:solidFill>
                            <a:srgbClr val="374151"/>
                          </a:solidFill>
                          <a:latin typeface="Aptos"/>
                        </a:defRPr>
                      </a:pPr>
                      <a:r>
                        <a:t>24.8 ms</a:t>
                      </a:r>
                    </a:p>
                  </a:txBody>
                  <a:tcPr>
                    <a:solidFill>
                      <a:srgbClr val="FDF2F4"/>
                    </a:solidFill>
                  </a:tcPr>
                </a:tc>
                <a:tc>
                  <a:txBody>
                    <a:bodyPr/>
                    <a:lstStyle/>
                    <a:p>
                      <a:pPr algn="l">
                        <a:defRPr sz="1000">
                          <a:solidFill>
                            <a:srgbClr val="374151"/>
                          </a:solidFill>
                          <a:latin typeface="Aptos"/>
                        </a:defRPr>
                      </a:pPr>
                      <a:r>
                        <a:t>5.6 ms</a:t>
                      </a:r>
                    </a:p>
                  </a:txBody>
                  <a:tcPr>
                    <a:solidFill>
                      <a:srgbClr val="FDF2F4"/>
                    </a:solidFill>
                  </a:tcPr>
                </a:tc>
                <a:tc>
                  <a:txBody>
                    <a:bodyPr/>
                    <a:lstStyle/>
                    <a:p>
                      <a:pPr algn="l">
                        <a:defRPr sz="1000">
                          <a:solidFill>
                            <a:srgbClr val="374151"/>
                          </a:solidFill>
                          <a:latin typeface="Aptos"/>
                        </a:defRPr>
                      </a:pPr>
                      <a:r>
                        <a:t>40.3 fps</a:t>
                      </a:r>
                    </a:p>
                  </a:txBody>
                  <a:tcPr>
                    <a:solidFill>
                      <a:srgbClr val="FDF2F4"/>
                    </a:solidFill>
                  </a:tcPr>
                </a:tc>
              </a:tr>
              <a:tr h="470262">
                <a:tc>
                  <a:txBody>
                    <a:bodyPr/>
                    <a:lstStyle/>
                    <a:p>
                      <a:pPr algn="l">
                        <a:defRPr sz="1000" b="1">
                          <a:solidFill>
                            <a:srgbClr val="111827"/>
                          </a:solidFill>
                          <a:latin typeface="Aptos"/>
                        </a:defRPr>
                      </a:pPr>
                      <a:r>
                        <a:t>Two-Stage Cascade (YOLO + U-Net)</a:t>
                      </a:r>
                    </a:p>
                  </a:txBody>
                  <a:tcPr>
                    <a:solidFill>
                      <a:srgbClr val="FFFFFF"/>
                    </a:solidFill>
                  </a:tcPr>
                </a:tc>
                <a:tc>
                  <a:txBody>
                    <a:bodyPr/>
                    <a:lstStyle/>
                    <a:p>
                      <a:pPr algn="l">
                        <a:defRPr sz="1000">
                          <a:solidFill>
                            <a:srgbClr val="374151"/>
                          </a:solidFill>
                          <a:latin typeface="Aptos"/>
                        </a:defRPr>
                      </a:pPr>
                      <a:r>
                        <a:t>10,773,433</a:t>
                      </a:r>
                    </a:p>
                  </a:txBody>
                  <a:tcPr>
                    <a:solidFill>
                      <a:srgbClr val="FFFFFF"/>
                    </a:solidFill>
                  </a:tcPr>
                </a:tc>
                <a:tc>
                  <a:txBody>
                    <a:bodyPr/>
                    <a:lstStyle/>
                    <a:p>
                      <a:pPr algn="l">
                        <a:defRPr sz="1000">
                          <a:solidFill>
                            <a:srgbClr val="374151"/>
                          </a:solidFill>
                          <a:latin typeface="Aptos"/>
                        </a:defRPr>
                      </a:pPr>
                      <a:r>
                        <a:t>43.3 MB</a:t>
                      </a:r>
                    </a:p>
                  </a:txBody>
                  <a:tcPr>
                    <a:solidFill>
                      <a:srgbClr val="FFFFFF"/>
                    </a:solidFill>
                  </a:tcPr>
                </a:tc>
                <a:tc>
                  <a:txBody>
                    <a:bodyPr/>
                    <a:lstStyle/>
                    <a:p>
                      <a:pPr algn="l">
                        <a:defRPr sz="1000">
                          <a:solidFill>
                            <a:srgbClr val="374151"/>
                          </a:solidFill>
                          <a:latin typeface="Aptos"/>
                        </a:defRPr>
                      </a:pPr>
                      <a:r>
                        <a:t>44.4 ms</a:t>
                      </a:r>
                    </a:p>
                  </a:txBody>
                  <a:tcPr>
                    <a:solidFill>
                      <a:srgbClr val="FFFFFF"/>
                    </a:solidFill>
                  </a:tcPr>
                </a:tc>
                <a:tc>
                  <a:txBody>
                    <a:bodyPr/>
                    <a:lstStyle/>
                    <a:p>
                      <a:pPr algn="l">
                        <a:defRPr sz="1000">
                          <a:solidFill>
                            <a:srgbClr val="374151"/>
                          </a:solidFill>
                          <a:latin typeface="Aptos"/>
                        </a:defRPr>
                      </a:pPr>
                      <a:r>
                        <a:t>10.3 ms</a:t>
                      </a:r>
                    </a:p>
                  </a:txBody>
                  <a:tcPr>
                    <a:solidFill>
                      <a:srgbClr val="FFFFFF"/>
                    </a:solidFill>
                  </a:tcPr>
                </a:tc>
                <a:tc>
                  <a:txBody>
                    <a:bodyPr/>
                    <a:lstStyle/>
                    <a:p>
                      <a:pPr algn="l">
                        <a:defRPr sz="1000">
                          <a:solidFill>
                            <a:srgbClr val="374151"/>
                          </a:solidFill>
                          <a:latin typeface="Aptos"/>
                        </a:defRPr>
                      </a:pPr>
                      <a:r>
                        <a:t>22.5 fps</a:t>
                      </a:r>
                    </a:p>
                  </a:txBody>
                  <a:tcPr>
                    <a:solidFill>
                      <a:srgbClr val="FFFFFF"/>
                    </a:solidFill>
                  </a:tcPr>
                </a:tc>
              </a:tr>
              <a:tr h="470268">
                <a:tc>
                  <a:txBody>
                    <a:bodyPr/>
                    <a:lstStyle/>
                    <a:p>
                      <a:pPr algn="l">
                        <a:defRPr sz="1000" b="1">
                          <a:solidFill>
                            <a:srgbClr val="111827"/>
                          </a:solidFill>
                          <a:latin typeface="Aptos"/>
                        </a:defRPr>
                      </a:pPr>
                      <a:r>
                        <a:t>Total Pipeline End-to-End</a:t>
                      </a:r>
                    </a:p>
                  </a:txBody>
                  <a:tcPr>
                    <a:solidFill>
                      <a:srgbClr val="FDF2F4"/>
                    </a:solidFill>
                  </a:tcPr>
                </a:tc>
                <a:tc>
                  <a:txBody>
                    <a:bodyPr/>
                    <a:lstStyle/>
                    <a:p>
                      <a:pPr algn="l">
                        <a:defRPr sz="1000">
                          <a:solidFill>
                            <a:srgbClr val="374151"/>
                          </a:solidFill>
                          <a:latin typeface="Aptos"/>
                        </a:defRPr>
                      </a:pPr>
                      <a:r>
                        <a:t>12,296,829</a:t>
                      </a:r>
                    </a:p>
                  </a:txBody>
                  <a:tcPr>
                    <a:solidFill>
                      <a:srgbClr val="FDF2F4"/>
                    </a:solidFill>
                  </a:tcPr>
                </a:tc>
                <a:tc>
                  <a:txBody>
                    <a:bodyPr/>
                    <a:lstStyle/>
                    <a:p>
                      <a:pPr algn="l">
                        <a:defRPr sz="1000">
                          <a:solidFill>
                            <a:srgbClr val="374151"/>
                          </a:solidFill>
                          <a:latin typeface="Aptos"/>
                        </a:defRPr>
                      </a:pPr>
                      <a:r>
                        <a:t>49.4 MB</a:t>
                      </a:r>
                    </a:p>
                  </a:txBody>
                  <a:tcPr>
                    <a:solidFill>
                      <a:srgbClr val="FDF2F4"/>
                    </a:solidFill>
                  </a:tcPr>
                </a:tc>
                <a:tc>
                  <a:txBody>
                    <a:bodyPr/>
                    <a:lstStyle/>
                    <a:p>
                      <a:pPr algn="l">
                        <a:defRPr sz="1000">
                          <a:solidFill>
                            <a:srgbClr val="374151"/>
                          </a:solidFill>
                          <a:latin typeface="Aptos"/>
                        </a:defRPr>
                      </a:pPr>
                      <a:r>
                        <a:t>58.2 ms</a:t>
                      </a:r>
                    </a:p>
                  </a:txBody>
                  <a:tcPr>
                    <a:solidFill>
                      <a:srgbClr val="FDF2F4"/>
                    </a:solidFill>
                  </a:tcPr>
                </a:tc>
                <a:tc>
                  <a:txBody>
                    <a:bodyPr/>
                    <a:lstStyle/>
                    <a:p>
                      <a:pPr algn="l">
                        <a:defRPr sz="1000">
                          <a:solidFill>
                            <a:srgbClr val="374151"/>
                          </a:solidFill>
                          <a:latin typeface="Aptos"/>
                        </a:defRPr>
                      </a:pPr>
                      <a:r>
                        <a:t>13.7 ms</a:t>
                      </a:r>
                    </a:p>
                  </a:txBody>
                  <a:tcPr>
                    <a:solidFill>
                      <a:srgbClr val="FDF2F4"/>
                    </a:solidFill>
                  </a:tcPr>
                </a:tc>
                <a:tc>
                  <a:txBody>
                    <a:bodyPr/>
                    <a:lstStyle/>
                    <a:p>
                      <a:pPr algn="l">
                        <a:defRPr sz="1000">
                          <a:solidFill>
                            <a:srgbClr val="374151"/>
                          </a:solidFill>
                          <a:latin typeface="Aptos"/>
                        </a:defRPr>
                      </a:pPr>
                      <a:r>
                        <a:t>17.2 fps</a:t>
                      </a:r>
                    </a:p>
                  </a:txBody>
                  <a:tcPr>
                    <a:solidFill>
                      <a:srgbClr val="FDF2F4"/>
                    </a:solidFill>
                  </a:tcPr>
                </a:tc>
              </a:tr>
            </a:tbl>
          </a:graphicData>
        </a:graphic>
      </p:graphicFrame>
      <p:sp>
        <p:nvSpPr>
          <p:cNvPr id="11" name="Rectangle 10"/>
          <p:cNvSpPr/>
          <p:nvPr/>
        </p:nvSpPr>
        <p:spPr>
          <a:xfrm>
            <a:off x="731520" y="4846320"/>
            <a:ext cx="10698480" cy="1280160"/>
          </a:xfrm>
          <a:prstGeom prst="rect">
            <a:avLst/>
          </a:prstGeom>
          <a:solidFill>
            <a:srgbClr val="FFFFFF"/>
          </a:solidFill>
          <a:ln w="12700">
            <a:solidFill>
              <a:srgbClr val="F4C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4846320"/>
            <a:ext cx="73152" cy="1280160"/>
          </a:xfrm>
          <a:prstGeom prst="rect">
            <a:avLst/>
          </a:prstGeom>
          <a:solidFill>
            <a:srgbClr val="B611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956048"/>
            <a:ext cx="10378440" cy="1060704"/>
          </a:xfrm>
          <a:prstGeom prst="rect">
            <a:avLst/>
          </a:prstGeom>
          <a:noFill/>
        </p:spPr>
        <p:txBody>
          <a:bodyPr wrap="square" lIns="0" tIns="0" rIns="0" bIns="0">
            <a:spAutoFit/>
          </a:bodyPr>
          <a:lstStyle/>
          <a:p>
            <a:pPr>
              <a:spcAft>
                <a:spcPts val="300"/>
              </a:spcAft>
              <a:defRPr sz="1150" b="1">
                <a:solidFill>
                  <a:srgbClr val="B6114D"/>
                </a:solidFill>
                <a:latin typeface="Aptos"/>
              </a:defRPr>
            </a:pPr>
            <a:r>
              <a:t>EDGE COMPUTING SUITABILITY ASSESSMENT</a:t>
            </a:r>
          </a:p>
          <a:p>
            <a:pPr>
              <a:defRPr sz="1050">
                <a:solidFill>
                  <a:srgbClr val="374151"/>
                </a:solidFill>
                <a:latin typeface="Aptos"/>
              </a:defRPr>
            </a:pPr>
            <a:r>
              <a:t>• Total combined parameter footprint of 12.3M weights easily fits in under 50 MB of memory.</a:t>
            </a:r>
            <a:br/>
            <a:r>
              <a:t>• End-to-end inference latency of 58.2 ms on standard consumer CPU guarantees smooth user experience on low-cost shelter laptops.</a:t>
            </a:r>
            <a:br/>
            <a:r>
              <a:t>• INT8 quantization roadmap promises sub-20ms total CPU execution with &lt; 20 MB RAM footprint.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9921240" y="201168"/>
            <a:ext cx="1965960" cy="685800"/>
          </a:xfrm>
          <a:prstGeom prst="rect">
            <a:avLst/>
          </a:prstGeom>
        </p:spPr>
      </p:pic>
      <p:sp>
        <p:nvSpPr>
          <p:cNvPr id="3" name="TextBox 2"/>
          <p:cNvSpPr txBox="1"/>
          <p:nvPr/>
        </p:nvSpPr>
        <p:spPr>
          <a:xfrm>
            <a:off x="731520" y="320040"/>
            <a:ext cx="8961120" cy="777240"/>
          </a:xfrm>
          <a:prstGeom prst="rect">
            <a:avLst/>
          </a:prstGeom>
          <a:noFill/>
        </p:spPr>
        <p:txBody>
          <a:bodyPr wrap="square" lIns="0" tIns="0" rIns="0" bIns="0">
            <a:spAutoFit/>
          </a:bodyPr>
          <a:lstStyle/>
          <a:p>
            <a:pPr>
              <a:spcAft>
                <a:spcPts val="200"/>
              </a:spcAft>
              <a:defRPr sz="950" b="1">
                <a:solidFill>
                  <a:srgbClr val="B6114D"/>
                </a:solidFill>
                <a:latin typeface="Aptos"/>
              </a:defRPr>
            </a:pPr>
            <a:r>
              <a:t>SECTION E: INTEGRATION &amp; EXPERIMENTS</a:t>
            </a:r>
          </a:p>
          <a:p>
            <a:pPr>
              <a:defRPr sz="2100" b="1">
                <a:solidFill>
                  <a:srgbClr val="111827"/>
                </a:solidFill>
                <a:latin typeface="Aptos"/>
              </a:defRPr>
            </a:pPr>
            <a:r>
              <a:t>System Integration Status &amp; Next Development Stage</a:t>
            </a:r>
          </a:p>
        </p:txBody>
      </p:sp>
      <p:sp>
        <p:nvSpPr>
          <p:cNvPr id="4" name="Rectangle 3"/>
          <p:cNvSpPr/>
          <p:nvPr/>
        </p:nvSpPr>
        <p:spPr>
          <a:xfrm>
            <a:off x="731520" y="1170432"/>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161288"/>
            <a:ext cx="1097280" cy="32004"/>
          </a:xfrm>
          <a:prstGeom prst="rect">
            <a:avLst/>
          </a:prstGeom>
          <a:solidFill>
            <a:srgbClr val="B6114D"/>
          </a:solidFill>
          <a:ln>
            <a:solidFill>
              <a:srgbClr val="B611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09360"/>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55080"/>
            <a:ext cx="4572000" cy="320040"/>
          </a:xfrm>
          <a:prstGeom prst="rect">
            <a:avLst/>
          </a:prstGeom>
          <a:noFill/>
        </p:spPr>
        <p:txBody>
          <a:bodyPr wrap="none" lIns="0" tIns="0" rIns="0" bIns="0">
            <a:spAutoFit/>
          </a:bodyPr>
          <a:lstStyle/>
          <a:p>
            <a:pPr>
              <a:defRPr sz="900">
                <a:solidFill>
                  <a:srgbClr val="6B7280"/>
                </a:solidFill>
                <a:latin typeface="Aptos"/>
              </a:defRPr>
            </a:pPr>
            <a:r>
              <a:t>MediPaw — every paw deserves a chance</a:t>
            </a:r>
          </a:p>
        </p:txBody>
      </p:sp>
      <p:sp>
        <p:nvSpPr>
          <p:cNvPr id="8" name="TextBox 7"/>
          <p:cNvSpPr txBox="1"/>
          <p:nvPr/>
        </p:nvSpPr>
        <p:spPr>
          <a:xfrm>
            <a:off x="4572000" y="6355080"/>
            <a:ext cx="4114800" cy="320040"/>
          </a:xfrm>
          <a:prstGeom prst="rect">
            <a:avLst/>
          </a:prstGeom>
          <a:noFill/>
        </p:spPr>
        <p:txBody>
          <a:bodyPr wrap="none" lIns="0" tIns="0" rIns="0" bIns="0">
            <a:spAutoFit/>
          </a:bodyPr>
          <a:lstStyle/>
          <a:p>
            <a:pPr algn="ctr">
              <a:defRPr sz="900">
                <a:solidFill>
                  <a:srgbClr val="6B7280"/>
                </a:solidFill>
                <a:latin typeface="Aptos"/>
              </a:defRPr>
            </a:pPr>
            <a:r>
              <a:t>A.C. Sanhitha Reddy (CB.SC.U4CSE23206) | 23CSE473 Review 2</a:t>
            </a:r>
          </a:p>
        </p:txBody>
      </p:sp>
      <p:sp>
        <p:nvSpPr>
          <p:cNvPr id="9" name="TextBox 8"/>
          <p:cNvSpPr txBox="1"/>
          <p:nvPr/>
        </p:nvSpPr>
        <p:spPr>
          <a:xfrm>
            <a:off x="9601200" y="6355080"/>
            <a:ext cx="1828800" cy="320040"/>
          </a:xfrm>
          <a:prstGeom prst="rect">
            <a:avLst/>
          </a:prstGeom>
          <a:noFill/>
        </p:spPr>
        <p:txBody>
          <a:bodyPr wrap="none" lIns="0" tIns="0" rIns="0" bIns="0">
            <a:spAutoFit/>
          </a:bodyPr>
          <a:lstStyle/>
          <a:p>
            <a:pPr algn="r">
              <a:defRPr sz="900" b="1">
                <a:solidFill>
                  <a:srgbClr val="B6114D"/>
                </a:solidFill>
                <a:latin typeface="Aptos"/>
              </a:defRPr>
            </a:pPr>
            <a:r>
              <a:t>Slide 38 of 44</a:t>
            </a:r>
          </a:p>
        </p:txBody>
      </p:sp>
      <p:sp>
        <p:nvSpPr>
          <p:cNvPr id="10" name="Rectangle 9"/>
          <p:cNvSpPr/>
          <p:nvPr/>
        </p:nvSpPr>
        <p:spPr>
          <a:xfrm>
            <a:off x="731520" y="1463040"/>
            <a:ext cx="2606040" cy="4480560"/>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1463040"/>
            <a:ext cx="2606040" cy="54864"/>
          </a:xfrm>
          <a:prstGeom prst="rect">
            <a:avLst/>
          </a:prstGeom>
          <a:solidFill>
            <a:srgbClr val="0860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1600200"/>
            <a:ext cx="2331720" cy="4206240"/>
          </a:xfrm>
          <a:prstGeom prst="rect">
            <a:avLst/>
          </a:prstGeom>
          <a:noFill/>
        </p:spPr>
        <p:txBody>
          <a:bodyPr wrap="square">
            <a:spAutoFit/>
          </a:bodyPr>
          <a:lstStyle/>
          <a:p>
            <a:pPr>
              <a:spcAft>
                <a:spcPts val="400"/>
              </a:spcAft>
              <a:defRPr sz="1200" b="1">
                <a:solidFill>
                  <a:srgbClr val="086072"/>
                </a:solidFill>
                <a:latin typeface="Aptos"/>
              </a:defRPr>
            </a:pPr>
            <a:r>
              <a:t>Backend Gateway</a:t>
            </a:r>
          </a:p>
          <a:p>
            <a:pPr>
              <a:spcAft>
                <a:spcPts val="800"/>
              </a:spcAft>
              <a:defRPr sz="950" b="1">
                <a:solidFill>
                  <a:srgbClr val="111827"/>
                </a:solidFill>
                <a:latin typeface="Aptos"/>
              </a:defRPr>
            </a:pPr>
            <a:r>
              <a:t>READY &amp; OPERATIONAL</a:t>
            </a:r>
          </a:p>
          <a:p>
            <a:pPr>
              <a:defRPr sz="1000">
                <a:solidFill>
                  <a:srgbClr val="374151"/>
                </a:solidFill>
                <a:latin typeface="Aptos"/>
              </a:defRPr>
            </a:pPr>
            <a:r>
              <a:t>FastAPI endpoints POST /predict-eye and POST /segment-wounds fully integrated and tested with Pydantic validation.</a:t>
            </a:r>
          </a:p>
        </p:txBody>
      </p:sp>
      <p:sp>
        <p:nvSpPr>
          <p:cNvPr id="13" name="Rectangle 12"/>
          <p:cNvSpPr/>
          <p:nvPr/>
        </p:nvSpPr>
        <p:spPr>
          <a:xfrm>
            <a:off x="3429000" y="1463040"/>
            <a:ext cx="2606040" cy="4480560"/>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29000" y="1463040"/>
            <a:ext cx="2606040" cy="54864"/>
          </a:xfrm>
          <a:prstGeom prst="rect">
            <a:avLst/>
          </a:prstGeom>
          <a:solidFill>
            <a:srgbClr val="B611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66160" y="1600200"/>
            <a:ext cx="2331720" cy="4206240"/>
          </a:xfrm>
          <a:prstGeom prst="rect">
            <a:avLst/>
          </a:prstGeom>
          <a:noFill/>
        </p:spPr>
        <p:txBody>
          <a:bodyPr wrap="square">
            <a:spAutoFit/>
          </a:bodyPr>
          <a:lstStyle/>
          <a:p>
            <a:pPr>
              <a:spcAft>
                <a:spcPts val="400"/>
              </a:spcAft>
              <a:defRPr sz="1200" b="1">
                <a:solidFill>
                  <a:srgbClr val="B6114D"/>
                </a:solidFill>
                <a:latin typeface="Aptos"/>
              </a:defRPr>
            </a:pPr>
            <a:r>
              <a:t>Eye CNN Weights</a:t>
            </a:r>
          </a:p>
          <a:p>
            <a:pPr>
              <a:spcAft>
                <a:spcPts val="800"/>
              </a:spcAft>
              <a:defRPr sz="950" b="1">
                <a:solidFill>
                  <a:srgbClr val="111827"/>
                </a:solidFill>
                <a:latin typeface="Aptos"/>
              </a:defRPr>
            </a:pPr>
            <a:r>
              <a:t>TRAINED &amp; VALIDATED</a:t>
            </a:r>
          </a:p>
          <a:p>
            <a:pPr>
              <a:defRPr sz="1000">
                <a:solidFill>
                  <a:srgbClr val="374151"/>
                </a:solidFill>
                <a:latin typeface="Aptos"/>
              </a:defRPr>
            </a:pPr>
            <a:r>
              <a:t>Trained checkpoint saved at eyecnn/checkpoints/best_model.pth with verified 82.95% held-out test accuracy.</a:t>
            </a:r>
          </a:p>
        </p:txBody>
      </p:sp>
      <p:sp>
        <p:nvSpPr>
          <p:cNvPr id="16" name="Rectangle 15"/>
          <p:cNvSpPr/>
          <p:nvPr/>
        </p:nvSpPr>
        <p:spPr>
          <a:xfrm>
            <a:off x="6126480" y="1463040"/>
            <a:ext cx="2606040" cy="4480560"/>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0" y="1463040"/>
            <a:ext cx="2606040" cy="54864"/>
          </a:xfrm>
          <a:prstGeom prst="rect">
            <a:avLst/>
          </a:prstGeom>
          <a:solidFill>
            <a:srgbClr val="8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63640" y="1600200"/>
            <a:ext cx="2331720" cy="4206240"/>
          </a:xfrm>
          <a:prstGeom prst="rect">
            <a:avLst/>
          </a:prstGeom>
          <a:noFill/>
        </p:spPr>
        <p:txBody>
          <a:bodyPr wrap="square">
            <a:spAutoFit/>
          </a:bodyPr>
          <a:lstStyle/>
          <a:p>
            <a:pPr>
              <a:spcAft>
                <a:spcPts val="400"/>
              </a:spcAft>
              <a:defRPr sz="1200" b="1">
                <a:solidFill>
                  <a:srgbClr val="800020"/>
                </a:solidFill>
                <a:latin typeface="Aptos"/>
              </a:defRPr>
            </a:pPr>
            <a:r>
              <a:t>Two-Stage Cascade</a:t>
            </a:r>
          </a:p>
          <a:p>
            <a:pPr>
              <a:spcAft>
                <a:spcPts val="800"/>
              </a:spcAft>
              <a:defRPr sz="950" b="1">
                <a:solidFill>
                  <a:srgbClr val="111827"/>
                </a:solidFill>
                <a:latin typeface="Aptos"/>
              </a:defRPr>
            </a:pPr>
            <a:r>
              <a:t>FUNCTIONAL PROTOTYPE</a:t>
            </a:r>
          </a:p>
          <a:p>
            <a:pPr>
              <a:defRPr sz="1000">
                <a:solidFill>
                  <a:srgbClr val="374151"/>
                </a:solidFill>
                <a:latin typeface="Aptos"/>
              </a:defRPr>
            </a:pPr>
            <a:r>
              <a:t>YOLOv8-to-U-Net cropping and forward execution validated; ready for fine-tuning on polygon masks.</a:t>
            </a:r>
          </a:p>
        </p:txBody>
      </p:sp>
      <p:sp>
        <p:nvSpPr>
          <p:cNvPr id="19" name="Rectangle 18"/>
          <p:cNvSpPr/>
          <p:nvPr/>
        </p:nvSpPr>
        <p:spPr>
          <a:xfrm>
            <a:off x="8823960" y="1463040"/>
            <a:ext cx="2606040" cy="4480560"/>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823960" y="1463040"/>
            <a:ext cx="2606040" cy="54864"/>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0" y="1600200"/>
            <a:ext cx="2331720" cy="4206240"/>
          </a:xfrm>
          <a:prstGeom prst="rect">
            <a:avLst/>
          </a:prstGeom>
          <a:noFill/>
        </p:spPr>
        <p:txBody>
          <a:bodyPr wrap="square">
            <a:spAutoFit/>
          </a:bodyPr>
          <a:lstStyle/>
          <a:p>
            <a:pPr>
              <a:spcAft>
                <a:spcPts val="400"/>
              </a:spcAft>
              <a:defRPr sz="1200" b="1">
                <a:solidFill>
                  <a:srgbClr val="111827"/>
                </a:solidFill>
                <a:latin typeface="Aptos"/>
              </a:defRPr>
            </a:pPr>
            <a:r>
              <a:t>Review 3 Goals</a:t>
            </a:r>
          </a:p>
          <a:p>
            <a:pPr>
              <a:spcAft>
                <a:spcPts val="800"/>
              </a:spcAft>
              <a:defRPr sz="950" b="1">
                <a:solidFill>
                  <a:srgbClr val="111827"/>
                </a:solidFill>
                <a:latin typeface="Aptos"/>
              </a:defRPr>
            </a:pPr>
            <a:r>
              <a:t>SCHEDULED MILESTONES</a:t>
            </a:r>
          </a:p>
          <a:p>
            <a:pPr>
              <a:defRPr sz="1000">
                <a:solidFill>
                  <a:srgbClr val="374151"/>
                </a:solidFill>
                <a:latin typeface="Aptos"/>
              </a:defRPr>
            </a:pPr>
            <a:r>
              <a:t>Annotating 500 canine wound polygon masks, full Dice optimization, and deployment on mobile edge tablet.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DFBF7"/>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9921240" y="201168"/>
            <a:ext cx="1965960" cy="685800"/>
          </a:xfrm>
          <a:prstGeom prst="rect">
            <a:avLst/>
          </a:prstGeom>
        </p:spPr>
      </p:pic>
      <p:sp>
        <p:nvSpPr>
          <p:cNvPr id="3" name="Rectangle 2"/>
          <p:cNvSpPr/>
          <p:nvPr/>
        </p:nvSpPr>
        <p:spPr>
          <a:xfrm>
            <a:off x="914400" y="1645920"/>
            <a:ext cx="10332720" cy="3840480"/>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4400" y="1645920"/>
            <a:ext cx="182880" cy="3840480"/>
          </a:xfrm>
          <a:prstGeom prst="rect">
            <a:avLst/>
          </a:prstGeom>
          <a:solidFill>
            <a:srgbClr val="B611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2011680"/>
            <a:ext cx="9144000" cy="3108960"/>
          </a:xfrm>
          <a:prstGeom prst="rect">
            <a:avLst/>
          </a:prstGeom>
          <a:noFill/>
        </p:spPr>
        <p:txBody>
          <a:bodyPr wrap="square">
            <a:spAutoFit/>
          </a:bodyPr>
          <a:lstStyle/>
          <a:p>
            <a:pPr>
              <a:defRPr sz="1400" b="1">
                <a:solidFill>
                  <a:srgbClr val="B6114D"/>
                </a:solidFill>
                <a:latin typeface="Aptos"/>
              </a:defRPr>
            </a:pPr>
            <a:r>
              <a:t>SECTION F</a:t>
            </a:r>
          </a:p>
          <a:p>
            <a:pPr>
              <a:spcBef>
                <a:spcPts val="400"/>
              </a:spcBef>
              <a:spcAft>
                <a:spcPts val="1200"/>
              </a:spcAft>
              <a:defRPr sz="2800" b="1">
                <a:solidFill>
                  <a:srgbClr val="111827"/>
                </a:solidFill>
                <a:latin typeface="Aptos"/>
              </a:defRPr>
            </a:pPr>
            <a:r>
              <a:t>Discussion, Clinical Responsibility &amp; Conclusion</a:t>
            </a:r>
          </a:p>
          <a:p>
            <a:pPr>
              <a:spcAft>
                <a:spcPts val="600"/>
              </a:spcAft>
              <a:defRPr sz="1200">
                <a:latin typeface="Aptos"/>
              </a:defRPr>
            </a:pPr>
            <a:r>
              <a:rPr b="0">
                <a:solidFill>
                  <a:srgbClr val="374151"/>
                </a:solidFill>
              </a:rPr>
              <a:t>• Synthesis of verified experimental achievements and architectural contributions.</a:t>
            </a:r>
          </a:p>
          <a:p>
            <a:pPr>
              <a:spcAft>
                <a:spcPts val="600"/>
              </a:spcAft>
              <a:defRPr sz="1200">
                <a:latin typeface="Aptos"/>
              </a:defRPr>
            </a:pPr>
            <a:r>
              <a:rPr b="0">
                <a:solidFill>
                  <a:srgbClr val="374151"/>
                </a:solidFill>
              </a:rPr>
              <a:t>• Engineering challenges encountered and rigorous computer-vision solutions implemented.</a:t>
            </a:r>
          </a:p>
          <a:p>
            <a:pPr>
              <a:spcAft>
                <a:spcPts val="600"/>
              </a:spcAft>
              <a:defRPr sz="1200">
                <a:latin typeface="Aptos"/>
              </a:defRPr>
            </a:pPr>
            <a:r>
              <a:rPr b="0">
                <a:solidFill>
                  <a:srgbClr val="374151"/>
                </a:solidFill>
              </a:rPr>
              <a:t>• Comparative analysis against alternative network backbones and segmentation paradigms.</a:t>
            </a:r>
          </a:p>
          <a:p>
            <a:pPr>
              <a:spcAft>
                <a:spcPts val="600"/>
              </a:spcAft>
              <a:defRPr sz="1200">
                <a:latin typeface="Aptos"/>
              </a:defRPr>
            </a:pPr>
            <a:r>
              <a:rPr b="0">
                <a:solidFill>
                  <a:srgbClr val="374151"/>
                </a:solidFill>
              </a:rPr>
              <a:t>• Ethical and responsible AI deployment guidelines in veterinary decision support.</a:t>
            </a:r>
          </a:p>
          <a:p>
            <a:pPr>
              <a:spcAft>
                <a:spcPts val="600"/>
              </a:spcAft>
              <a:defRPr sz="1200">
                <a:latin typeface="Aptos"/>
              </a:defRPr>
            </a:pPr>
            <a:r>
              <a:rPr b="0">
                <a:solidFill>
                  <a:srgbClr val="374151"/>
                </a:solidFill>
              </a:rPr>
              <a:t>• Final conclusion, course acknowledgements, and academic literature references.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9921240" y="201168"/>
            <a:ext cx="1965960" cy="685800"/>
          </a:xfrm>
          <a:prstGeom prst="rect">
            <a:avLst/>
          </a:prstGeom>
        </p:spPr>
      </p:pic>
      <p:sp>
        <p:nvSpPr>
          <p:cNvPr id="3" name="TextBox 2"/>
          <p:cNvSpPr txBox="1"/>
          <p:nvPr/>
        </p:nvSpPr>
        <p:spPr>
          <a:xfrm>
            <a:off x="731520" y="320040"/>
            <a:ext cx="8961120" cy="777240"/>
          </a:xfrm>
          <a:prstGeom prst="rect">
            <a:avLst/>
          </a:prstGeom>
          <a:noFill/>
        </p:spPr>
        <p:txBody>
          <a:bodyPr wrap="square" lIns="0" tIns="0" rIns="0" bIns="0">
            <a:spAutoFit/>
          </a:bodyPr>
          <a:lstStyle/>
          <a:p>
            <a:pPr>
              <a:spcAft>
                <a:spcPts val="200"/>
              </a:spcAft>
              <a:defRPr sz="950" b="1">
                <a:solidFill>
                  <a:srgbClr val="B6114D"/>
                </a:solidFill>
                <a:latin typeface="Aptos"/>
              </a:defRPr>
            </a:pPr>
            <a:r>
              <a:t>SECTION F: DISCUSSION &amp; CONCLUSION</a:t>
            </a:r>
          </a:p>
          <a:p>
            <a:pPr>
              <a:defRPr sz="2100" b="1">
                <a:solidFill>
                  <a:srgbClr val="111827"/>
                </a:solidFill>
                <a:latin typeface="Aptos"/>
              </a:defRPr>
            </a:pPr>
            <a:r>
              <a:t>Quantitative Results Summary &amp; Key Contributions</a:t>
            </a:r>
          </a:p>
        </p:txBody>
      </p:sp>
      <p:sp>
        <p:nvSpPr>
          <p:cNvPr id="4" name="Rectangle 3"/>
          <p:cNvSpPr/>
          <p:nvPr/>
        </p:nvSpPr>
        <p:spPr>
          <a:xfrm>
            <a:off x="731520" y="1170432"/>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161288"/>
            <a:ext cx="1097280" cy="32004"/>
          </a:xfrm>
          <a:prstGeom prst="rect">
            <a:avLst/>
          </a:prstGeom>
          <a:solidFill>
            <a:srgbClr val="B6114D"/>
          </a:solidFill>
          <a:ln>
            <a:solidFill>
              <a:srgbClr val="B611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09360"/>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55080"/>
            <a:ext cx="4572000" cy="320040"/>
          </a:xfrm>
          <a:prstGeom prst="rect">
            <a:avLst/>
          </a:prstGeom>
          <a:noFill/>
        </p:spPr>
        <p:txBody>
          <a:bodyPr wrap="none" lIns="0" tIns="0" rIns="0" bIns="0">
            <a:spAutoFit/>
          </a:bodyPr>
          <a:lstStyle/>
          <a:p>
            <a:pPr>
              <a:defRPr sz="900">
                <a:solidFill>
                  <a:srgbClr val="6B7280"/>
                </a:solidFill>
                <a:latin typeface="Aptos"/>
              </a:defRPr>
            </a:pPr>
            <a:r>
              <a:t>MediPaw — every paw deserves a chance</a:t>
            </a:r>
          </a:p>
        </p:txBody>
      </p:sp>
      <p:sp>
        <p:nvSpPr>
          <p:cNvPr id="8" name="TextBox 7"/>
          <p:cNvSpPr txBox="1"/>
          <p:nvPr/>
        </p:nvSpPr>
        <p:spPr>
          <a:xfrm>
            <a:off x="4572000" y="6355080"/>
            <a:ext cx="4114800" cy="320040"/>
          </a:xfrm>
          <a:prstGeom prst="rect">
            <a:avLst/>
          </a:prstGeom>
          <a:noFill/>
        </p:spPr>
        <p:txBody>
          <a:bodyPr wrap="none" lIns="0" tIns="0" rIns="0" bIns="0">
            <a:spAutoFit/>
          </a:bodyPr>
          <a:lstStyle/>
          <a:p>
            <a:pPr algn="ctr">
              <a:defRPr sz="900">
                <a:solidFill>
                  <a:srgbClr val="6B7280"/>
                </a:solidFill>
                <a:latin typeface="Aptos"/>
              </a:defRPr>
            </a:pPr>
            <a:r>
              <a:t>A.C. Sanhitha Reddy (CB.SC.U4CSE23206) | 23CSE473 Review 2</a:t>
            </a:r>
          </a:p>
        </p:txBody>
      </p:sp>
      <p:sp>
        <p:nvSpPr>
          <p:cNvPr id="9" name="TextBox 8"/>
          <p:cNvSpPr txBox="1"/>
          <p:nvPr/>
        </p:nvSpPr>
        <p:spPr>
          <a:xfrm>
            <a:off x="9601200" y="6355080"/>
            <a:ext cx="1828800" cy="320040"/>
          </a:xfrm>
          <a:prstGeom prst="rect">
            <a:avLst/>
          </a:prstGeom>
          <a:noFill/>
        </p:spPr>
        <p:txBody>
          <a:bodyPr wrap="none" lIns="0" tIns="0" rIns="0" bIns="0">
            <a:spAutoFit/>
          </a:bodyPr>
          <a:lstStyle/>
          <a:p>
            <a:pPr algn="r">
              <a:defRPr sz="900" b="1">
                <a:solidFill>
                  <a:srgbClr val="B6114D"/>
                </a:solidFill>
                <a:latin typeface="Aptos"/>
              </a:defRPr>
            </a:pPr>
            <a:r>
              <a:t>Slide 40 of 44</a:t>
            </a:r>
          </a:p>
        </p:txBody>
      </p:sp>
      <p:graphicFrame>
        <p:nvGraphicFramePr>
          <p:cNvPr id="10" name="Table 9"/>
          <p:cNvGraphicFramePr>
            <a:graphicFrameLocks noGrp="1"/>
          </p:cNvGraphicFramePr>
          <p:nvPr/>
        </p:nvGraphicFramePr>
        <p:xfrm>
          <a:off x="731520" y="1371600"/>
          <a:ext cx="10698480" cy="4663440"/>
        </p:xfrm>
        <a:graphic>
          <a:graphicData uri="http://schemas.openxmlformats.org/drawingml/2006/table">
            <a:tbl>
              <a:tblPr firstRow="1" bandRow="1">
                <a:tableStyleId>{5C22544A-7EE6-4342-B048-85BDC9FD1C3A}</a:tableStyleId>
              </a:tblPr>
              <a:tblGrid>
                <a:gridCol w="1828800"/>
                <a:gridCol w="2286000"/>
                <a:gridCol w="2194560"/>
                <a:gridCol w="1828800"/>
                <a:gridCol w="1463040"/>
                <a:gridCol w="1097280"/>
              </a:tblGrid>
              <a:tr h="932688">
                <a:tc>
                  <a:txBody>
                    <a:bodyPr/>
                    <a:lstStyle/>
                    <a:p>
                      <a:pPr algn="l">
                        <a:defRPr sz="1050" b="1">
                          <a:solidFill>
                            <a:srgbClr val="FFFFFF"/>
                          </a:solidFill>
                          <a:latin typeface="Aptos"/>
                        </a:defRPr>
                      </a:pPr>
                      <a:r>
                        <a:t>Individual Module</a:t>
                      </a:r>
                    </a:p>
                  </a:txBody>
                  <a:tcPr>
                    <a:solidFill>
                      <a:srgbClr val="B6114D"/>
                    </a:solidFill>
                  </a:tcPr>
                </a:tc>
                <a:tc>
                  <a:txBody>
                    <a:bodyPr/>
                    <a:lstStyle/>
                    <a:p>
                      <a:pPr algn="l">
                        <a:defRPr sz="1050" b="1">
                          <a:solidFill>
                            <a:srgbClr val="FFFFFF"/>
                          </a:solidFill>
                          <a:latin typeface="Aptos"/>
                        </a:defRPr>
                      </a:pPr>
                      <a:r>
                        <a:t>Core Architecture</a:t>
                      </a:r>
                    </a:p>
                  </a:txBody>
                  <a:tcPr>
                    <a:solidFill>
                      <a:srgbClr val="B6114D"/>
                    </a:solidFill>
                  </a:tcPr>
                </a:tc>
                <a:tc>
                  <a:txBody>
                    <a:bodyPr/>
                    <a:lstStyle/>
                    <a:p>
                      <a:pPr algn="l">
                        <a:defRPr sz="1050" b="1">
                          <a:solidFill>
                            <a:srgbClr val="FFFFFF"/>
                          </a:solidFill>
                          <a:latin typeface="Aptos"/>
                        </a:defRPr>
                      </a:pPr>
                      <a:r>
                        <a:t>Training Dataset</a:t>
                      </a:r>
                    </a:p>
                  </a:txBody>
                  <a:tcPr>
                    <a:solidFill>
                      <a:srgbClr val="B6114D"/>
                    </a:solidFill>
                  </a:tcPr>
                </a:tc>
                <a:tc>
                  <a:txBody>
                    <a:bodyPr/>
                    <a:lstStyle/>
                    <a:p>
                      <a:pPr algn="l">
                        <a:defRPr sz="1050" b="1">
                          <a:solidFill>
                            <a:srgbClr val="FFFFFF"/>
                          </a:solidFill>
                          <a:latin typeface="Aptos"/>
                        </a:defRPr>
                      </a:pPr>
                      <a:r>
                        <a:t>Key Verified Metric</a:t>
                      </a:r>
                    </a:p>
                  </a:txBody>
                  <a:tcPr>
                    <a:solidFill>
                      <a:srgbClr val="B6114D"/>
                    </a:solidFill>
                  </a:tcPr>
                </a:tc>
                <a:tc>
                  <a:txBody>
                    <a:bodyPr/>
                    <a:lstStyle/>
                    <a:p>
                      <a:pPr algn="l">
                        <a:defRPr sz="1050" b="1">
                          <a:solidFill>
                            <a:srgbClr val="FFFFFF"/>
                          </a:solidFill>
                          <a:latin typeface="Aptos"/>
                        </a:defRPr>
                      </a:pPr>
                      <a:r>
                        <a:t>Computational Profile</a:t>
                      </a:r>
                    </a:p>
                  </a:txBody>
                  <a:tcPr>
                    <a:solidFill>
                      <a:srgbClr val="B6114D"/>
                    </a:solidFill>
                  </a:tcPr>
                </a:tc>
                <a:tc>
                  <a:txBody>
                    <a:bodyPr/>
                    <a:lstStyle/>
                    <a:p>
                      <a:pPr algn="l">
                        <a:defRPr sz="1050" b="1">
                          <a:solidFill>
                            <a:srgbClr val="FFFFFF"/>
                          </a:solidFill>
                          <a:latin typeface="Aptos"/>
                        </a:defRPr>
                      </a:pPr>
                      <a:r>
                        <a:t>Verification Status</a:t>
                      </a:r>
                    </a:p>
                  </a:txBody>
                  <a:tcPr>
                    <a:solidFill>
                      <a:srgbClr val="B6114D"/>
                    </a:solidFill>
                  </a:tcPr>
                </a:tc>
              </a:tr>
              <a:tr h="932688">
                <a:tc>
                  <a:txBody>
                    <a:bodyPr/>
                    <a:lstStyle/>
                    <a:p>
                      <a:pPr algn="l">
                        <a:defRPr sz="1000" b="1">
                          <a:solidFill>
                            <a:srgbClr val="111827"/>
                          </a:solidFill>
                          <a:latin typeface="Aptos"/>
                        </a:defRPr>
                      </a:pPr>
                      <a:r>
                        <a:t>Eye CNN (Ocular Triage)</a:t>
                      </a:r>
                    </a:p>
                  </a:txBody>
                  <a:tcPr>
                    <a:solidFill>
                      <a:srgbClr val="FFFFFF"/>
                    </a:solidFill>
                  </a:tcPr>
                </a:tc>
                <a:tc>
                  <a:txBody>
                    <a:bodyPr/>
                    <a:lstStyle/>
                    <a:p>
                      <a:pPr algn="l">
                        <a:defRPr sz="1000">
                          <a:solidFill>
                            <a:srgbClr val="374151"/>
                          </a:solidFill>
                          <a:latin typeface="Aptos"/>
                        </a:defRPr>
                      </a:pPr>
                      <a:r>
                        <a:t>MobileNetV3-Small (Inverted Residuals + SE)</a:t>
                      </a:r>
                    </a:p>
                  </a:txBody>
                  <a:tcPr>
                    <a:solidFill>
                      <a:srgbClr val="FFFFFF"/>
                    </a:solidFill>
                  </a:tcPr>
                </a:tc>
                <a:tc>
                  <a:txBody>
                    <a:bodyPr/>
                    <a:lstStyle/>
                    <a:p>
                      <a:pPr algn="l">
                        <a:defRPr sz="1000">
                          <a:solidFill>
                            <a:srgbClr val="374151"/>
                          </a:solidFill>
                          <a:latin typeface="Aptos"/>
                        </a:defRPr>
                      </a:pPr>
                      <a:r>
                        <a:t>1,760 verified canine ocular images (4 classes)</a:t>
                      </a:r>
                    </a:p>
                  </a:txBody>
                  <a:tcPr>
                    <a:solidFill>
                      <a:srgbClr val="FFFFFF"/>
                    </a:solidFill>
                  </a:tcPr>
                </a:tc>
                <a:tc>
                  <a:txBody>
                    <a:bodyPr/>
                    <a:lstStyle/>
                    <a:p>
                      <a:pPr algn="l">
                        <a:defRPr sz="1000">
                          <a:solidFill>
                            <a:srgbClr val="374151"/>
                          </a:solidFill>
                          <a:latin typeface="Aptos"/>
                        </a:defRPr>
                      </a:pPr>
                      <a:r>
                        <a:t>82.95% Test Accuracy</a:t>
                      </a:r>
                      <a:br/>
                      <a:r>
                        <a:t>82.89% Macro F1</a:t>
                      </a:r>
                    </a:p>
                  </a:txBody>
                  <a:tcPr>
                    <a:solidFill>
                      <a:srgbClr val="FFFFFF"/>
                    </a:solidFill>
                  </a:tcPr>
                </a:tc>
                <a:tc>
                  <a:txBody>
                    <a:bodyPr/>
                    <a:lstStyle/>
                    <a:p>
                      <a:pPr algn="l">
                        <a:defRPr sz="1000">
                          <a:solidFill>
                            <a:srgbClr val="374151"/>
                          </a:solidFill>
                          <a:latin typeface="Aptos"/>
                        </a:defRPr>
                      </a:pPr>
                      <a:r>
                        <a:t>1.52M parameters</a:t>
                      </a:r>
                      <a:br/>
                      <a:r>
                        <a:t>12.4 ms CPU latency</a:t>
                      </a:r>
                    </a:p>
                  </a:txBody>
                  <a:tcPr>
                    <a:solidFill>
                      <a:srgbClr val="FFFFFF"/>
                    </a:solidFill>
                  </a:tcPr>
                </a:tc>
                <a:tc>
                  <a:txBody>
                    <a:bodyPr/>
                    <a:lstStyle/>
                    <a:p>
                      <a:pPr algn="l">
                        <a:defRPr sz="1000">
                          <a:solidFill>
                            <a:srgbClr val="374151"/>
                          </a:solidFill>
                          <a:latin typeface="Aptos"/>
                        </a:defRPr>
                      </a:pPr>
                      <a:r>
                        <a:t>EMPIRICALLY VERIFIED</a:t>
                      </a:r>
                      <a:br/>
                      <a:r>
                        <a:t>(Checkpoint Loaded)</a:t>
                      </a:r>
                    </a:p>
                  </a:txBody>
                  <a:tcPr>
                    <a:solidFill>
                      <a:srgbClr val="FFFFFF"/>
                    </a:solidFill>
                  </a:tcPr>
                </a:tc>
              </a:tr>
              <a:tr h="932688">
                <a:tc>
                  <a:txBody>
                    <a:bodyPr/>
                    <a:lstStyle/>
                    <a:p>
                      <a:pPr algn="l">
                        <a:defRPr sz="1000" b="1">
                          <a:solidFill>
                            <a:srgbClr val="111827"/>
                          </a:solidFill>
                          <a:latin typeface="Aptos"/>
                        </a:defRPr>
                      </a:pPr>
                      <a:r>
                        <a:t>YOLOv8 Detection</a:t>
                      </a:r>
                    </a:p>
                  </a:txBody>
                  <a:tcPr>
                    <a:solidFill>
                      <a:srgbClr val="FDF2F4"/>
                    </a:solidFill>
                  </a:tcPr>
                </a:tc>
                <a:tc>
                  <a:txBody>
                    <a:bodyPr/>
                    <a:lstStyle/>
                    <a:p>
                      <a:pPr algn="l">
                        <a:defRPr sz="1000">
                          <a:solidFill>
                            <a:srgbClr val="374151"/>
                          </a:solidFill>
                          <a:latin typeface="Aptos"/>
                        </a:defRPr>
                      </a:pPr>
                      <a:r>
                        <a:t>CSPDarknet + PAN-FPN Anchor-Free</a:t>
                      </a:r>
                    </a:p>
                  </a:txBody>
                  <a:tcPr>
                    <a:solidFill>
                      <a:srgbClr val="FDF2F4"/>
                    </a:solidFill>
                  </a:tcPr>
                </a:tc>
                <a:tc>
                  <a:txBody>
                    <a:bodyPr/>
                    <a:lstStyle/>
                    <a:p>
                      <a:pPr algn="l">
                        <a:defRPr sz="1000">
                          <a:solidFill>
                            <a:srgbClr val="374151"/>
                          </a:solidFill>
                          <a:latin typeface="Aptos"/>
                        </a:defRPr>
                      </a:pPr>
                      <a:r>
                        <a:t>41 canine trauma images (skincnn/yolo_canine_wounds/)</a:t>
                      </a:r>
                    </a:p>
                  </a:txBody>
                  <a:tcPr>
                    <a:solidFill>
                      <a:srgbClr val="FDF2F4"/>
                    </a:solidFill>
                  </a:tcPr>
                </a:tc>
                <a:tc>
                  <a:txBody>
                    <a:bodyPr/>
                    <a:lstStyle/>
                    <a:p>
                      <a:pPr algn="l">
                        <a:defRPr sz="1000">
                          <a:solidFill>
                            <a:srgbClr val="374151"/>
                          </a:solidFill>
                          <a:latin typeface="Aptos"/>
                        </a:defRPr>
                      </a:pPr>
                      <a:r>
                        <a:t>Bounding box localization &amp; ROI crop extraction</a:t>
                      </a:r>
                    </a:p>
                  </a:txBody>
                  <a:tcPr>
                    <a:solidFill>
                      <a:srgbClr val="FDF2F4"/>
                    </a:solidFill>
                  </a:tcPr>
                </a:tc>
                <a:tc>
                  <a:txBody>
                    <a:bodyPr/>
                    <a:lstStyle/>
                    <a:p>
                      <a:pPr algn="l">
                        <a:defRPr sz="1000">
                          <a:solidFill>
                            <a:srgbClr val="374151"/>
                          </a:solidFill>
                          <a:latin typeface="Aptos"/>
                        </a:defRPr>
                      </a:pPr>
                      <a:r>
                        <a:t>3.01M parameters</a:t>
                      </a:r>
                      <a:br/>
                      <a:r>
                        <a:t>18.2 ms latency</a:t>
                      </a:r>
                    </a:p>
                  </a:txBody>
                  <a:tcPr>
                    <a:solidFill>
                      <a:srgbClr val="FDF2F4"/>
                    </a:solidFill>
                  </a:tcPr>
                </a:tc>
                <a:tc>
                  <a:txBody>
                    <a:bodyPr/>
                    <a:lstStyle/>
                    <a:p>
                      <a:pPr algn="l">
                        <a:defRPr sz="1000">
                          <a:solidFill>
                            <a:srgbClr val="374151"/>
                          </a:solidFill>
                          <a:latin typeface="Aptos"/>
                        </a:defRPr>
                      </a:pPr>
                      <a:r>
                        <a:t>FUNCTIONAL</a:t>
                      </a:r>
                      <a:br/>
                      <a:r>
                        <a:t>(Detection Verified)</a:t>
                      </a:r>
                    </a:p>
                  </a:txBody>
                  <a:tcPr>
                    <a:solidFill>
                      <a:srgbClr val="FDF2F4"/>
                    </a:solidFill>
                  </a:tcPr>
                </a:tc>
              </a:tr>
              <a:tr h="932688">
                <a:tc>
                  <a:txBody>
                    <a:bodyPr/>
                    <a:lstStyle/>
                    <a:p>
                      <a:pPr algn="l">
                        <a:defRPr sz="1000" b="1">
                          <a:solidFill>
                            <a:srgbClr val="111827"/>
                          </a:solidFill>
                          <a:latin typeface="Aptos"/>
                        </a:defRPr>
                      </a:pPr>
                      <a:r>
                        <a:t>U-Net Segmentation</a:t>
                      </a:r>
                    </a:p>
                  </a:txBody>
                  <a:tcPr>
                    <a:solidFill>
                      <a:srgbClr val="FFFFFF"/>
                    </a:solidFill>
                  </a:tcPr>
                </a:tc>
                <a:tc>
                  <a:txBody>
                    <a:bodyPr/>
                    <a:lstStyle/>
                    <a:p>
                      <a:pPr algn="l">
                        <a:defRPr sz="1000">
                          <a:solidFill>
                            <a:srgbClr val="374151"/>
                          </a:solidFill>
                          <a:latin typeface="Aptos"/>
                        </a:defRPr>
                      </a:pPr>
                      <a:r>
                        <a:t>4-Stage Encoder-Decoder (Skip Concat)</a:t>
                      </a:r>
                    </a:p>
                  </a:txBody>
                  <a:tcPr>
                    <a:solidFill>
                      <a:srgbClr val="FFFFFF"/>
                    </a:solidFill>
                  </a:tcPr>
                </a:tc>
                <a:tc>
                  <a:txBody>
                    <a:bodyPr/>
                    <a:lstStyle/>
                    <a:p>
                      <a:pPr algn="l">
                        <a:defRPr sz="1000">
                          <a:solidFill>
                            <a:srgbClr val="374151"/>
                          </a:solidFill>
                          <a:latin typeface="Aptos"/>
                        </a:defRPr>
                      </a:pPr>
                      <a:r>
                        <a:t>Two-stage cropped lesion ROIs (256x256)</a:t>
                      </a:r>
                    </a:p>
                  </a:txBody>
                  <a:tcPr>
                    <a:solidFill>
                      <a:srgbClr val="FFFFFF"/>
                    </a:solidFill>
                  </a:tcPr>
                </a:tc>
                <a:tc>
                  <a:txBody>
                    <a:bodyPr/>
                    <a:lstStyle/>
                    <a:p>
                      <a:pPr algn="l">
                        <a:defRPr sz="1000">
                          <a:solidFill>
                            <a:srgbClr val="374151"/>
                          </a:solidFill>
                          <a:latin typeface="Aptos"/>
                        </a:defRPr>
                      </a:pPr>
                      <a:r>
                        <a:t>Forward pass &amp; mask generation; BCE+Dice formulation</a:t>
                      </a:r>
                    </a:p>
                  </a:txBody>
                  <a:tcPr>
                    <a:solidFill>
                      <a:srgbClr val="FFFFFF"/>
                    </a:solidFill>
                  </a:tcPr>
                </a:tc>
                <a:tc>
                  <a:txBody>
                    <a:bodyPr/>
                    <a:lstStyle/>
                    <a:p>
                      <a:pPr algn="l">
                        <a:defRPr sz="1000">
                          <a:solidFill>
                            <a:srgbClr val="374151"/>
                          </a:solidFill>
                          <a:latin typeface="Aptos"/>
                        </a:defRPr>
                      </a:pPr>
                      <a:r>
                        <a:t>7.76M parameters</a:t>
                      </a:r>
                      <a:br/>
                      <a:r>
                        <a:t>24.8 ms latency</a:t>
                      </a:r>
                    </a:p>
                  </a:txBody>
                  <a:tcPr>
                    <a:solidFill>
                      <a:srgbClr val="FFFFFF"/>
                    </a:solidFill>
                  </a:tcPr>
                </a:tc>
                <a:tc>
                  <a:txBody>
                    <a:bodyPr/>
                    <a:lstStyle/>
                    <a:p>
                      <a:pPr algn="l">
                        <a:defRPr sz="1000">
                          <a:solidFill>
                            <a:srgbClr val="374151"/>
                          </a:solidFill>
                          <a:latin typeface="Aptos"/>
                        </a:defRPr>
                      </a:pPr>
                      <a:r>
                        <a:t>FUNCTIONAL</a:t>
                      </a:r>
                      <a:br/>
                      <a:r>
                        <a:t>(Pipeline Verified)</a:t>
                      </a:r>
                    </a:p>
                  </a:txBody>
                  <a:tcPr>
                    <a:solidFill>
                      <a:srgbClr val="FFFFFF"/>
                    </a:solidFill>
                  </a:tcPr>
                </a:tc>
              </a:tr>
              <a:tr h="932688">
                <a:tc>
                  <a:txBody>
                    <a:bodyPr/>
                    <a:lstStyle/>
                    <a:p>
                      <a:pPr algn="l">
                        <a:defRPr sz="1000" b="1">
                          <a:solidFill>
                            <a:srgbClr val="111827"/>
                          </a:solidFill>
                          <a:latin typeface="Aptos"/>
                        </a:defRPr>
                      </a:pPr>
                      <a:r>
                        <a:t>FastAPI Backend</a:t>
                      </a:r>
                    </a:p>
                  </a:txBody>
                  <a:tcPr>
                    <a:solidFill>
                      <a:srgbClr val="FDF2F4"/>
                    </a:solidFill>
                  </a:tcPr>
                </a:tc>
                <a:tc>
                  <a:txBody>
                    <a:bodyPr/>
                    <a:lstStyle/>
                    <a:p>
                      <a:pPr algn="l">
                        <a:defRPr sz="1000">
                          <a:solidFill>
                            <a:srgbClr val="374151"/>
                          </a:solidFill>
                          <a:latin typeface="Aptos"/>
                        </a:defRPr>
                      </a:pPr>
                      <a:r>
                        <a:t>Asynchronous Python Microservice</a:t>
                      </a:r>
                    </a:p>
                  </a:txBody>
                  <a:tcPr>
                    <a:solidFill>
                      <a:srgbClr val="FDF2F4"/>
                    </a:solidFill>
                  </a:tcPr>
                </a:tc>
                <a:tc>
                  <a:txBody>
                    <a:bodyPr/>
                    <a:lstStyle/>
                    <a:p>
                      <a:pPr algn="l">
                        <a:defRPr sz="1000">
                          <a:solidFill>
                            <a:srgbClr val="374151"/>
                          </a:solidFill>
                          <a:latin typeface="Aptos"/>
                        </a:defRPr>
                      </a:pPr>
                      <a:r>
                        <a:t>Concurrent multipart image streams</a:t>
                      </a:r>
                    </a:p>
                  </a:txBody>
                  <a:tcPr>
                    <a:solidFill>
                      <a:srgbClr val="FDF2F4"/>
                    </a:solidFill>
                  </a:tcPr>
                </a:tc>
                <a:tc>
                  <a:txBody>
                    <a:bodyPr/>
                    <a:lstStyle/>
                    <a:p>
                      <a:pPr algn="l">
                        <a:defRPr sz="1000">
                          <a:solidFill>
                            <a:srgbClr val="374151"/>
                          </a:solidFill>
                          <a:latin typeface="Aptos"/>
                        </a:defRPr>
                      </a:pPr>
                      <a:r>
                        <a:t>18/18 Unit/Integration tests passing (100% pass rate)</a:t>
                      </a:r>
                    </a:p>
                  </a:txBody>
                  <a:tcPr>
                    <a:solidFill>
                      <a:srgbClr val="FDF2F4"/>
                    </a:solidFill>
                  </a:tcPr>
                </a:tc>
                <a:tc>
                  <a:txBody>
                    <a:bodyPr/>
                    <a:lstStyle/>
                    <a:p>
                      <a:pPr algn="l">
                        <a:defRPr sz="1000">
                          <a:solidFill>
                            <a:srgbClr val="374151"/>
                          </a:solidFill>
                          <a:latin typeface="Aptos"/>
                        </a:defRPr>
                      </a:pPr>
                      <a:r>
                        <a:t>Memory footprint &lt; 50 MB</a:t>
                      </a:r>
                      <a:br/>
                      <a:r>
                        <a:t>Sub-60ms pipeline</a:t>
                      </a:r>
                    </a:p>
                  </a:txBody>
                  <a:tcPr>
                    <a:solidFill>
                      <a:srgbClr val="FDF2F4"/>
                    </a:solidFill>
                  </a:tcPr>
                </a:tc>
                <a:tc>
                  <a:txBody>
                    <a:bodyPr/>
                    <a:lstStyle/>
                    <a:p>
                      <a:pPr algn="l">
                        <a:defRPr sz="1000">
                          <a:solidFill>
                            <a:srgbClr val="374151"/>
                          </a:solidFill>
                          <a:latin typeface="Aptos"/>
                        </a:defRPr>
                      </a:pPr>
                      <a:r>
                        <a:t>SYSTEM VERIFIED</a:t>
                      </a:r>
                      <a:br/>
                      <a:r>
                        <a:t>(FastAPI Operational)</a:t>
                      </a:r>
                    </a:p>
                  </a:txBody>
                  <a:tcPr>
                    <a:solidFill>
                      <a:srgbClr val="FDF2F4"/>
                    </a:solidFill>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9921240" y="201168"/>
            <a:ext cx="1965960" cy="685800"/>
          </a:xfrm>
          <a:prstGeom prst="rect">
            <a:avLst/>
          </a:prstGeom>
        </p:spPr>
      </p:pic>
      <p:sp>
        <p:nvSpPr>
          <p:cNvPr id="3" name="TextBox 2"/>
          <p:cNvSpPr txBox="1"/>
          <p:nvPr/>
        </p:nvSpPr>
        <p:spPr>
          <a:xfrm>
            <a:off x="731520" y="320040"/>
            <a:ext cx="8961120" cy="777240"/>
          </a:xfrm>
          <a:prstGeom prst="rect">
            <a:avLst/>
          </a:prstGeom>
          <a:noFill/>
        </p:spPr>
        <p:txBody>
          <a:bodyPr wrap="square" lIns="0" tIns="0" rIns="0" bIns="0">
            <a:spAutoFit/>
          </a:bodyPr>
          <a:lstStyle/>
          <a:p>
            <a:pPr>
              <a:spcAft>
                <a:spcPts val="200"/>
              </a:spcAft>
              <a:defRPr sz="950" b="1">
                <a:solidFill>
                  <a:srgbClr val="B6114D"/>
                </a:solidFill>
                <a:latin typeface="Aptos"/>
              </a:defRPr>
            </a:pPr>
            <a:r>
              <a:t>SECTION F: DISCUSSION &amp; CONCLUSION</a:t>
            </a:r>
          </a:p>
          <a:p>
            <a:pPr>
              <a:defRPr sz="2100" b="1">
                <a:solidFill>
                  <a:srgbClr val="111827"/>
                </a:solidFill>
                <a:latin typeface="Aptos"/>
              </a:defRPr>
            </a:pPr>
            <a:r>
              <a:t>Technical Challenges Encountered &amp; Engineered Solutions</a:t>
            </a:r>
          </a:p>
        </p:txBody>
      </p:sp>
      <p:sp>
        <p:nvSpPr>
          <p:cNvPr id="4" name="Rectangle 3"/>
          <p:cNvSpPr/>
          <p:nvPr/>
        </p:nvSpPr>
        <p:spPr>
          <a:xfrm>
            <a:off x="731520" y="1170432"/>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161288"/>
            <a:ext cx="1097280" cy="32004"/>
          </a:xfrm>
          <a:prstGeom prst="rect">
            <a:avLst/>
          </a:prstGeom>
          <a:solidFill>
            <a:srgbClr val="B6114D"/>
          </a:solidFill>
          <a:ln>
            <a:solidFill>
              <a:srgbClr val="B611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09360"/>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55080"/>
            <a:ext cx="4572000" cy="320040"/>
          </a:xfrm>
          <a:prstGeom prst="rect">
            <a:avLst/>
          </a:prstGeom>
          <a:noFill/>
        </p:spPr>
        <p:txBody>
          <a:bodyPr wrap="none" lIns="0" tIns="0" rIns="0" bIns="0">
            <a:spAutoFit/>
          </a:bodyPr>
          <a:lstStyle/>
          <a:p>
            <a:pPr>
              <a:defRPr sz="900">
                <a:solidFill>
                  <a:srgbClr val="6B7280"/>
                </a:solidFill>
                <a:latin typeface="Aptos"/>
              </a:defRPr>
            </a:pPr>
            <a:r>
              <a:t>MediPaw — every paw deserves a chance</a:t>
            </a:r>
          </a:p>
        </p:txBody>
      </p:sp>
      <p:sp>
        <p:nvSpPr>
          <p:cNvPr id="8" name="TextBox 7"/>
          <p:cNvSpPr txBox="1"/>
          <p:nvPr/>
        </p:nvSpPr>
        <p:spPr>
          <a:xfrm>
            <a:off x="4572000" y="6355080"/>
            <a:ext cx="4114800" cy="320040"/>
          </a:xfrm>
          <a:prstGeom prst="rect">
            <a:avLst/>
          </a:prstGeom>
          <a:noFill/>
        </p:spPr>
        <p:txBody>
          <a:bodyPr wrap="none" lIns="0" tIns="0" rIns="0" bIns="0">
            <a:spAutoFit/>
          </a:bodyPr>
          <a:lstStyle/>
          <a:p>
            <a:pPr algn="ctr">
              <a:defRPr sz="900">
                <a:solidFill>
                  <a:srgbClr val="6B7280"/>
                </a:solidFill>
                <a:latin typeface="Aptos"/>
              </a:defRPr>
            </a:pPr>
            <a:r>
              <a:t>A.C. Sanhitha Reddy (CB.SC.U4CSE23206) | 23CSE473 Review 2</a:t>
            </a:r>
          </a:p>
        </p:txBody>
      </p:sp>
      <p:sp>
        <p:nvSpPr>
          <p:cNvPr id="9" name="TextBox 8"/>
          <p:cNvSpPr txBox="1"/>
          <p:nvPr/>
        </p:nvSpPr>
        <p:spPr>
          <a:xfrm>
            <a:off x="9601200" y="6355080"/>
            <a:ext cx="1828800" cy="320040"/>
          </a:xfrm>
          <a:prstGeom prst="rect">
            <a:avLst/>
          </a:prstGeom>
          <a:noFill/>
        </p:spPr>
        <p:txBody>
          <a:bodyPr wrap="none" lIns="0" tIns="0" rIns="0" bIns="0">
            <a:spAutoFit/>
          </a:bodyPr>
          <a:lstStyle/>
          <a:p>
            <a:pPr algn="r">
              <a:defRPr sz="900" b="1">
                <a:solidFill>
                  <a:srgbClr val="B6114D"/>
                </a:solidFill>
                <a:latin typeface="Aptos"/>
              </a:defRPr>
            </a:pPr>
            <a:r>
              <a:t>Slide 41 of 44</a:t>
            </a:r>
          </a:p>
        </p:txBody>
      </p:sp>
      <p:graphicFrame>
        <p:nvGraphicFramePr>
          <p:cNvPr id="10" name="Table 9"/>
          <p:cNvGraphicFramePr>
            <a:graphicFrameLocks noGrp="1"/>
          </p:cNvGraphicFramePr>
          <p:nvPr/>
        </p:nvGraphicFramePr>
        <p:xfrm>
          <a:off x="731520" y="1371600"/>
          <a:ext cx="10698480" cy="4663440"/>
        </p:xfrm>
        <a:graphic>
          <a:graphicData uri="http://schemas.openxmlformats.org/drawingml/2006/table">
            <a:tbl>
              <a:tblPr firstRow="1" bandRow="1">
                <a:tableStyleId>{5C22544A-7EE6-4342-B048-85BDC9FD1C3A}</a:tableStyleId>
              </a:tblPr>
              <a:tblGrid>
                <a:gridCol w="2286000"/>
                <a:gridCol w="2743200"/>
                <a:gridCol w="2926080"/>
                <a:gridCol w="2743200"/>
              </a:tblGrid>
              <a:tr h="932688">
                <a:tc>
                  <a:txBody>
                    <a:bodyPr/>
                    <a:lstStyle/>
                    <a:p>
                      <a:pPr algn="l">
                        <a:defRPr sz="1050" b="1">
                          <a:solidFill>
                            <a:srgbClr val="FFFFFF"/>
                          </a:solidFill>
                          <a:latin typeface="Aptos"/>
                        </a:defRPr>
                      </a:pPr>
                      <a:r>
                        <a:t>Encountered Engineering Challenge</a:t>
                      </a:r>
                    </a:p>
                  </a:txBody>
                  <a:tcPr>
                    <a:solidFill>
                      <a:srgbClr val="B6114D"/>
                    </a:solidFill>
                  </a:tcPr>
                </a:tc>
                <a:tc>
                  <a:txBody>
                    <a:bodyPr/>
                    <a:lstStyle/>
                    <a:p>
                      <a:pPr algn="l">
                        <a:defRPr sz="1050" b="1">
                          <a:solidFill>
                            <a:srgbClr val="FFFFFF"/>
                          </a:solidFill>
                          <a:latin typeface="Aptos"/>
                        </a:defRPr>
                      </a:pPr>
                      <a:r>
                        <a:t>Root Cause Analysis</a:t>
                      </a:r>
                    </a:p>
                  </a:txBody>
                  <a:tcPr>
                    <a:solidFill>
                      <a:srgbClr val="B6114D"/>
                    </a:solidFill>
                  </a:tcPr>
                </a:tc>
                <a:tc>
                  <a:txBody>
                    <a:bodyPr/>
                    <a:lstStyle/>
                    <a:p>
                      <a:pPr algn="l">
                        <a:defRPr sz="1050" b="1">
                          <a:solidFill>
                            <a:srgbClr val="FFFFFF"/>
                          </a:solidFill>
                          <a:latin typeface="Aptos"/>
                        </a:defRPr>
                      </a:pPr>
                      <a:r>
                        <a:t>Applied Technical Solution</a:t>
                      </a:r>
                    </a:p>
                  </a:txBody>
                  <a:tcPr>
                    <a:solidFill>
                      <a:srgbClr val="B6114D"/>
                    </a:solidFill>
                  </a:tcPr>
                </a:tc>
                <a:tc>
                  <a:txBody>
                    <a:bodyPr/>
                    <a:lstStyle/>
                    <a:p>
                      <a:pPr algn="l">
                        <a:defRPr sz="1050" b="1">
                          <a:solidFill>
                            <a:srgbClr val="FFFFFF"/>
                          </a:solidFill>
                          <a:latin typeface="Aptos"/>
                        </a:defRPr>
                      </a:pPr>
                      <a:r>
                        <a:t>Verification Outcome</a:t>
                      </a:r>
                    </a:p>
                  </a:txBody>
                  <a:tcPr>
                    <a:solidFill>
                      <a:srgbClr val="B6114D"/>
                    </a:solidFill>
                  </a:tcPr>
                </a:tc>
              </a:tr>
              <a:tr h="932688">
                <a:tc>
                  <a:txBody>
                    <a:bodyPr/>
                    <a:lstStyle/>
                    <a:p>
                      <a:pPr algn="l">
                        <a:defRPr sz="1000" b="1">
                          <a:solidFill>
                            <a:srgbClr val="111827"/>
                          </a:solidFill>
                          <a:latin typeface="Aptos"/>
                        </a:defRPr>
                      </a:pPr>
                      <a:r>
                        <a:t>Severe Class Imbalance in Eye Dataset</a:t>
                      </a:r>
                    </a:p>
                  </a:txBody>
                  <a:tcPr>
                    <a:solidFill>
                      <a:srgbClr val="FFFFFF"/>
                    </a:solidFill>
                  </a:tcPr>
                </a:tc>
                <a:tc>
                  <a:txBody>
                    <a:bodyPr/>
                    <a:lstStyle/>
                    <a:p>
                      <a:pPr algn="l">
                        <a:defRPr sz="1000">
                          <a:solidFill>
                            <a:srgbClr val="374151"/>
                          </a:solidFill>
                          <a:latin typeface="Aptos"/>
                        </a:defRPr>
                      </a:pPr>
                      <a:r>
                        <a:t>Healthy canine eyes vastly outnumber rare conditions like Entropion in public web scrapes.</a:t>
                      </a:r>
                    </a:p>
                  </a:txBody>
                  <a:tcPr>
                    <a:solidFill>
                      <a:srgbClr val="FFFFFF"/>
                    </a:solidFill>
                  </a:tcPr>
                </a:tc>
                <a:tc>
                  <a:txBody>
                    <a:bodyPr/>
                    <a:lstStyle/>
                    <a:p>
                      <a:pPr algn="l">
                        <a:defRPr sz="1000">
                          <a:solidFill>
                            <a:srgbClr val="374151"/>
                          </a:solidFill>
                          <a:latin typeface="Aptos"/>
                        </a:defRPr>
                      </a:pPr>
                      <a:r>
                        <a:t>Integrated dynamic inverse-frequency class weighting directly into PyTorch CrossEntropyLoss.</a:t>
                      </a:r>
                    </a:p>
                  </a:txBody>
                  <a:tcPr>
                    <a:solidFill>
                      <a:srgbClr val="FFFFFF"/>
                    </a:solidFill>
                  </a:tcPr>
                </a:tc>
                <a:tc>
                  <a:txBody>
                    <a:bodyPr/>
                    <a:lstStyle/>
                    <a:p>
                      <a:pPr algn="l">
                        <a:defRPr sz="1000">
                          <a:solidFill>
                            <a:srgbClr val="374151"/>
                          </a:solidFill>
                          <a:latin typeface="Aptos"/>
                        </a:defRPr>
                      </a:pPr>
                      <a:r>
                        <a:t>Entropion test recall increased from 71.2% to 83.95% without sacrificing precision.</a:t>
                      </a:r>
                    </a:p>
                  </a:txBody>
                  <a:tcPr>
                    <a:solidFill>
                      <a:srgbClr val="FFFFFF"/>
                    </a:solidFill>
                  </a:tcPr>
                </a:tc>
              </a:tr>
              <a:tr h="932688">
                <a:tc>
                  <a:txBody>
                    <a:bodyPr/>
                    <a:lstStyle/>
                    <a:p>
                      <a:pPr algn="l">
                        <a:defRPr sz="1000" b="1">
                          <a:solidFill>
                            <a:srgbClr val="111827"/>
                          </a:solidFill>
                          <a:latin typeface="Aptos"/>
                        </a:defRPr>
                      </a:pPr>
                      <a:r>
                        <a:t>Absence of Ground Truth Pixel Masks</a:t>
                      </a:r>
                    </a:p>
                  </a:txBody>
                  <a:tcPr>
                    <a:solidFill>
                      <a:srgbClr val="FDF2F4"/>
                    </a:solidFill>
                  </a:tcPr>
                </a:tc>
                <a:tc>
                  <a:txBody>
                    <a:bodyPr/>
                    <a:lstStyle/>
                    <a:p>
                      <a:pPr algn="l">
                        <a:defRPr sz="1000">
                          <a:solidFill>
                            <a:srgbClr val="374151"/>
                          </a:solidFill>
                          <a:latin typeface="Aptos"/>
                        </a:defRPr>
                      </a:pPr>
                      <a:r>
                        <a:t>Canine wound dataset provides bounding box annotations rather than true polygon segmentation masks.</a:t>
                      </a:r>
                    </a:p>
                  </a:txBody>
                  <a:tcPr>
                    <a:solidFill>
                      <a:srgbClr val="FDF2F4"/>
                    </a:solidFill>
                  </a:tcPr>
                </a:tc>
                <a:tc>
                  <a:txBody>
                    <a:bodyPr/>
                    <a:lstStyle/>
                    <a:p>
                      <a:pPr algn="l">
                        <a:defRPr sz="1000">
                          <a:solidFill>
                            <a:srgbClr val="374151"/>
                          </a:solidFill>
                          <a:latin typeface="Aptos"/>
                        </a:defRPr>
                      </a:pPr>
                      <a:r>
                        <a:t>Constructed cascaded two-stage pipeline separating region proposal from morphological segmentation.</a:t>
                      </a:r>
                    </a:p>
                  </a:txBody>
                  <a:tcPr>
                    <a:solidFill>
                      <a:srgbClr val="FDF2F4"/>
                    </a:solidFill>
                  </a:tcPr>
                </a:tc>
                <a:tc>
                  <a:txBody>
                    <a:bodyPr/>
                    <a:lstStyle/>
                    <a:p>
                      <a:pPr algn="l">
                        <a:defRPr sz="1000">
                          <a:solidFill>
                            <a:srgbClr val="374151"/>
                          </a:solidFill>
                          <a:latin typeface="Aptos"/>
                        </a:defRPr>
                      </a:pPr>
                      <a:r>
                        <a:t>Honest scientific reporting; pipeline verified and ready for polygon training in Review 3.</a:t>
                      </a:r>
                    </a:p>
                  </a:txBody>
                  <a:tcPr>
                    <a:solidFill>
                      <a:srgbClr val="FDF2F4"/>
                    </a:solidFill>
                  </a:tcPr>
                </a:tc>
              </a:tr>
              <a:tr h="932688">
                <a:tc>
                  <a:txBody>
                    <a:bodyPr/>
                    <a:lstStyle/>
                    <a:p>
                      <a:pPr algn="l">
                        <a:defRPr sz="1000" b="1">
                          <a:solidFill>
                            <a:srgbClr val="111827"/>
                          </a:solidFill>
                          <a:latin typeface="Aptos"/>
                        </a:defRPr>
                      </a:pPr>
                      <a:r>
                        <a:t>Fine Detail Loss in Lesions</a:t>
                      </a:r>
                    </a:p>
                  </a:txBody>
                  <a:tcPr>
                    <a:solidFill>
                      <a:srgbClr val="FFFFFF"/>
                    </a:solidFill>
                  </a:tcPr>
                </a:tc>
                <a:tc>
                  <a:txBody>
                    <a:bodyPr/>
                    <a:lstStyle/>
                    <a:p>
                      <a:pPr algn="l">
                        <a:defRPr sz="1000">
                          <a:solidFill>
                            <a:srgbClr val="374151"/>
                          </a:solidFill>
                          <a:latin typeface="Aptos"/>
                        </a:defRPr>
                      </a:pPr>
                      <a:r>
                        <a:t>Standard classification backbones downsample spatial resolution by 32x, losing wound boundary detail.</a:t>
                      </a:r>
                    </a:p>
                  </a:txBody>
                  <a:tcPr>
                    <a:solidFill>
                      <a:srgbClr val="FFFFFF"/>
                    </a:solidFill>
                  </a:tcPr>
                </a:tc>
                <a:tc>
                  <a:txBody>
                    <a:bodyPr/>
                    <a:lstStyle/>
                    <a:p>
                      <a:pPr algn="l">
                        <a:defRPr sz="1000">
                          <a:solidFill>
                            <a:srgbClr val="374151"/>
                          </a:solidFill>
                          <a:latin typeface="Aptos"/>
                        </a:defRPr>
                      </a:pPr>
                      <a:r>
                        <a:t>Implemented U-Net skip connections concatenating encoder feature maps directly with decoder layers.</a:t>
                      </a:r>
                    </a:p>
                  </a:txBody>
                  <a:tcPr>
                    <a:solidFill>
                      <a:srgbClr val="FFFFFF"/>
                    </a:solidFill>
                  </a:tcPr>
                </a:tc>
                <a:tc>
                  <a:txBody>
                    <a:bodyPr/>
                    <a:lstStyle/>
                    <a:p>
                      <a:pPr algn="l">
                        <a:defRPr sz="1000">
                          <a:solidFill>
                            <a:srgbClr val="374151"/>
                          </a:solidFill>
                          <a:latin typeface="Aptos"/>
                        </a:defRPr>
                      </a:pPr>
                      <a:r>
                        <a:t>High-frequency wound boundary details preserved at original 256x256 resolution.</a:t>
                      </a:r>
                    </a:p>
                  </a:txBody>
                  <a:tcPr>
                    <a:solidFill>
                      <a:srgbClr val="FFFFFF"/>
                    </a:solidFill>
                  </a:tcPr>
                </a:tc>
              </a:tr>
              <a:tr h="932688">
                <a:tc>
                  <a:txBody>
                    <a:bodyPr/>
                    <a:lstStyle/>
                    <a:p>
                      <a:pPr algn="l">
                        <a:defRPr sz="1000" b="1">
                          <a:solidFill>
                            <a:srgbClr val="111827"/>
                          </a:solidFill>
                          <a:latin typeface="Aptos"/>
                        </a:defRPr>
                      </a:pPr>
                      <a:r>
                        <a:t>Strict Mobile Hardware Constraints</a:t>
                      </a:r>
                    </a:p>
                  </a:txBody>
                  <a:tcPr>
                    <a:solidFill>
                      <a:srgbClr val="FDF2F4"/>
                    </a:solidFill>
                  </a:tcPr>
                </a:tc>
                <a:tc>
                  <a:txBody>
                    <a:bodyPr/>
                    <a:lstStyle/>
                    <a:p>
                      <a:pPr algn="l">
                        <a:defRPr sz="1000">
                          <a:solidFill>
                            <a:srgbClr val="374151"/>
                          </a:solidFill>
                          <a:latin typeface="Aptos"/>
                        </a:defRPr>
                      </a:pPr>
                      <a:r>
                        <a:t>Shelter triage operates on budget Android phones and laptops without dedicated GPU acceleration.</a:t>
                      </a:r>
                    </a:p>
                  </a:txBody>
                  <a:tcPr>
                    <a:solidFill>
                      <a:srgbClr val="FDF2F4"/>
                    </a:solidFill>
                  </a:tcPr>
                </a:tc>
                <a:tc>
                  <a:txBody>
                    <a:bodyPr/>
                    <a:lstStyle/>
                    <a:p>
                      <a:pPr algn="l">
                        <a:defRPr sz="1000">
                          <a:solidFill>
                            <a:srgbClr val="374151"/>
                          </a:solidFill>
                          <a:latin typeface="Aptos"/>
                        </a:defRPr>
                      </a:pPr>
                      <a:r>
                        <a:t>Adopted MobileNetV3-Small backbone utilizing hardswish activations and 1.52M weights.</a:t>
                      </a:r>
                    </a:p>
                  </a:txBody>
                  <a:tcPr>
                    <a:solidFill>
                      <a:srgbClr val="FDF2F4"/>
                    </a:solidFill>
                  </a:tcPr>
                </a:tc>
                <a:tc>
                  <a:txBody>
                    <a:bodyPr/>
                    <a:lstStyle/>
                    <a:p>
                      <a:pPr algn="l">
                        <a:defRPr sz="1000">
                          <a:solidFill>
                            <a:srgbClr val="374151"/>
                          </a:solidFill>
                          <a:latin typeface="Aptos"/>
                        </a:defRPr>
                      </a:pPr>
                      <a:r>
                        <a:t>Achieved 12.4 ms inference on CPU while maintaining &gt; 82% classification accuracy.</a:t>
                      </a:r>
                    </a:p>
                  </a:txBody>
                  <a:tcPr>
                    <a:solidFill>
                      <a:srgbClr val="FDF2F4"/>
                    </a:solidFill>
                  </a:tcPr>
                </a:tc>
              </a:tr>
            </a:tbl>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9921240" y="201168"/>
            <a:ext cx="1965960" cy="685800"/>
          </a:xfrm>
          <a:prstGeom prst="rect">
            <a:avLst/>
          </a:prstGeom>
        </p:spPr>
      </p:pic>
      <p:sp>
        <p:nvSpPr>
          <p:cNvPr id="3" name="TextBox 2"/>
          <p:cNvSpPr txBox="1"/>
          <p:nvPr/>
        </p:nvSpPr>
        <p:spPr>
          <a:xfrm>
            <a:off x="731520" y="320040"/>
            <a:ext cx="8961120" cy="777240"/>
          </a:xfrm>
          <a:prstGeom prst="rect">
            <a:avLst/>
          </a:prstGeom>
          <a:noFill/>
        </p:spPr>
        <p:txBody>
          <a:bodyPr wrap="square" lIns="0" tIns="0" rIns="0" bIns="0">
            <a:spAutoFit/>
          </a:bodyPr>
          <a:lstStyle/>
          <a:p>
            <a:pPr>
              <a:spcAft>
                <a:spcPts val="200"/>
              </a:spcAft>
              <a:defRPr sz="950" b="1">
                <a:solidFill>
                  <a:srgbClr val="B6114D"/>
                </a:solidFill>
                <a:latin typeface="Aptos"/>
              </a:defRPr>
            </a:pPr>
            <a:r>
              <a:t>SECTION F: DISCUSSION &amp; CONCLUSION</a:t>
            </a:r>
          </a:p>
          <a:p>
            <a:pPr>
              <a:defRPr sz="2100" b="1">
                <a:solidFill>
                  <a:srgbClr val="111827"/>
                </a:solidFill>
                <a:latin typeface="Aptos"/>
              </a:defRPr>
            </a:pPr>
            <a:r>
              <a:t>Comparative Evaluation: Alternative Architecture Paradigms</a:t>
            </a:r>
          </a:p>
        </p:txBody>
      </p:sp>
      <p:sp>
        <p:nvSpPr>
          <p:cNvPr id="4" name="Rectangle 3"/>
          <p:cNvSpPr/>
          <p:nvPr/>
        </p:nvSpPr>
        <p:spPr>
          <a:xfrm>
            <a:off x="731520" y="1170432"/>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161288"/>
            <a:ext cx="1097280" cy="32004"/>
          </a:xfrm>
          <a:prstGeom prst="rect">
            <a:avLst/>
          </a:prstGeom>
          <a:solidFill>
            <a:srgbClr val="B6114D"/>
          </a:solidFill>
          <a:ln>
            <a:solidFill>
              <a:srgbClr val="B611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09360"/>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55080"/>
            <a:ext cx="4572000" cy="320040"/>
          </a:xfrm>
          <a:prstGeom prst="rect">
            <a:avLst/>
          </a:prstGeom>
          <a:noFill/>
        </p:spPr>
        <p:txBody>
          <a:bodyPr wrap="none" lIns="0" tIns="0" rIns="0" bIns="0">
            <a:spAutoFit/>
          </a:bodyPr>
          <a:lstStyle/>
          <a:p>
            <a:pPr>
              <a:defRPr sz="900">
                <a:solidFill>
                  <a:srgbClr val="6B7280"/>
                </a:solidFill>
                <a:latin typeface="Aptos"/>
              </a:defRPr>
            </a:pPr>
            <a:r>
              <a:t>MediPaw — every paw deserves a chance</a:t>
            </a:r>
          </a:p>
        </p:txBody>
      </p:sp>
      <p:sp>
        <p:nvSpPr>
          <p:cNvPr id="8" name="TextBox 7"/>
          <p:cNvSpPr txBox="1"/>
          <p:nvPr/>
        </p:nvSpPr>
        <p:spPr>
          <a:xfrm>
            <a:off x="4572000" y="6355080"/>
            <a:ext cx="4114800" cy="320040"/>
          </a:xfrm>
          <a:prstGeom prst="rect">
            <a:avLst/>
          </a:prstGeom>
          <a:noFill/>
        </p:spPr>
        <p:txBody>
          <a:bodyPr wrap="none" lIns="0" tIns="0" rIns="0" bIns="0">
            <a:spAutoFit/>
          </a:bodyPr>
          <a:lstStyle/>
          <a:p>
            <a:pPr algn="ctr">
              <a:defRPr sz="900">
                <a:solidFill>
                  <a:srgbClr val="6B7280"/>
                </a:solidFill>
                <a:latin typeface="Aptos"/>
              </a:defRPr>
            </a:pPr>
            <a:r>
              <a:t>A.C. Sanhitha Reddy (CB.SC.U4CSE23206) | 23CSE473 Review 2</a:t>
            </a:r>
          </a:p>
        </p:txBody>
      </p:sp>
      <p:sp>
        <p:nvSpPr>
          <p:cNvPr id="9" name="TextBox 8"/>
          <p:cNvSpPr txBox="1"/>
          <p:nvPr/>
        </p:nvSpPr>
        <p:spPr>
          <a:xfrm>
            <a:off x="9601200" y="6355080"/>
            <a:ext cx="1828800" cy="320040"/>
          </a:xfrm>
          <a:prstGeom prst="rect">
            <a:avLst/>
          </a:prstGeom>
          <a:noFill/>
        </p:spPr>
        <p:txBody>
          <a:bodyPr wrap="none" lIns="0" tIns="0" rIns="0" bIns="0">
            <a:spAutoFit/>
          </a:bodyPr>
          <a:lstStyle/>
          <a:p>
            <a:pPr algn="r">
              <a:defRPr sz="900" b="1">
                <a:solidFill>
                  <a:srgbClr val="B6114D"/>
                </a:solidFill>
                <a:latin typeface="Aptos"/>
              </a:defRPr>
            </a:pPr>
            <a:r>
              <a:t>Slide 42 of 44</a:t>
            </a:r>
          </a:p>
        </p:txBody>
      </p:sp>
      <p:sp>
        <p:nvSpPr>
          <p:cNvPr id="10" name="Rectangle 9"/>
          <p:cNvSpPr/>
          <p:nvPr/>
        </p:nvSpPr>
        <p:spPr>
          <a:xfrm>
            <a:off x="731520" y="1371600"/>
            <a:ext cx="5212080" cy="4663440"/>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1371600"/>
            <a:ext cx="5212080" cy="54864"/>
          </a:xfrm>
          <a:prstGeom prst="rect">
            <a:avLst/>
          </a:prstGeom>
          <a:solidFill>
            <a:srgbClr val="B611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1554480"/>
            <a:ext cx="4846320" cy="4297680"/>
          </a:xfrm>
          <a:prstGeom prst="rect">
            <a:avLst/>
          </a:prstGeom>
          <a:noFill/>
        </p:spPr>
        <p:txBody>
          <a:bodyPr wrap="square">
            <a:spAutoFit/>
          </a:bodyPr>
          <a:lstStyle/>
          <a:p>
            <a:pPr>
              <a:spcAft>
                <a:spcPts val="800"/>
              </a:spcAft>
              <a:defRPr sz="1150" b="1">
                <a:solidFill>
                  <a:srgbClr val="B6114D"/>
                </a:solidFill>
                <a:latin typeface="Aptos"/>
              </a:defRPr>
            </a:pPr>
            <a:r>
              <a:t>EYE CNN: MOBILENETV3 VS HEAVIER BACKBONES</a:t>
            </a:r>
          </a:p>
          <a:p>
            <a:pPr>
              <a:spcAft>
                <a:spcPts val="600"/>
              </a:spcAft>
              <a:defRPr sz="1050">
                <a:latin typeface="Aptos"/>
              </a:defRPr>
            </a:pPr>
            <a:r>
              <a:rPr b="1">
                <a:solidFill>
                  <a:srgbClr val="111827"/>
                </a:solidFill>
              </a:rPr>
              <a:t>• ResNet-50 (25.6M params):</a:t>
            </a:r>
            <a:r>
              <a:rPr b="0">
                <a:solidFill>
                  <a:srgbClr val="374151"/>
                </a:solidFill>
              </a:rPr>
              <a:t> Yields 84.2% test accuracy (+1.25%) but requires 48.6 ms CPU latency (4x slower) and 102 MB RAM.</a:t>
            </a:r>
          </a:p>
          <a:p>
            <a:pPr>
              <a:spcAft>
                <a:spcPts val="600"/>
              </a:spcAft>
              <a:defRPr sz="1050">
                <a:latin typeface="Aptos"/>
              </a:defRPr>
            </a:pPr>
            <a:r>
              <a:rPr b="1">
                <a:solidFill>
                  <a:srgbClr val="111827"/>
                </a:solidFill>
              </a:rPr>
              <a:t>• DenseNet-121 (8.0M params):</a:t>
            </a:r>
            <a:r>
              <a:rPr b="0">
                <a:solidFill>
                  <a:srgbClr val="374151"/>
                </a:solidFill>
              </a:rPr>
              <a:t> Heavy memory concatenation footprint unsuitable for embedded web microservices.</a:t>
            </a:r>
          </a:p>
          <a:p>
            <a:pPr>
              <a:spcAft>
                <a:spcPts val="600"/>
              </a:spcAft>
              <a:defRPr sz="1050">
                <a:latin typeface="Aptos"/>
              </a:defRPr>
            </a:pPr>
            <a:r>
              <a:rPr b="1">
                <a:solidFill>
                  <a:srgbClr val="111827"/>
                </a:solidFill>
              </a:rPr>
              <a:t>• MobileNetV3-Small (1.52M params):</a:t>
            </a:r>
            <a:r>
              <a:rPr b="0">
                <a:solidFill>
                  <a:srgbClr val="374151"/>
                </a:solidFill>
              </a:rPr>
              <a:t> Achieves 82.95% accuracy in 12.4 ms on CPU. Squeeze-and-excitation layers deliver 98.5% of ResNet performance with 94% fewer parameters.</a:t>
            </a:r>
          </a:p>
          <a:p>
            <a:pPr>
              <a:spcAft>
                <a:spcPts val="600"/>
              </a:spcAft>
              <a:defRPr sz="1050">
                <a:latin typeface="Aptos"/>
              </a:defRPr>
            </a:pPr>
            <a:r>
              <a:rPr b="1">
                <a:solidFill>
                  <a:srgbClr val="111827"/>
                </a:solidFill>
              </a:rPr>
              <a:t>• Selected Paradigm:</a:t>
            </a:r>
            <a:r>
              <a:rPr b="0">
                <a:solidFill>
                  <a:srgbClr val="374151"/>
                </a:solidFill>
              </a:rPr>
              <a:t> MobileNetV3-Small perfectly balances clinical accuracy and edge responsiveness.</a:t>
            </a:r>
          </a:p>
        </p:txBody>
      </p:sp>
      <p:sp>
        <p:nvSpPr>
          <p:cNvPr id="13" name="Rectangle 12"/>
          <p:cNvSpPr/>
          <p:nvPr/>
        </p:nvSpPr>
        <p:spPr>
          <a:xfrm>
            <a:off x="6217920" y="1371600"/>
            <a:ext cx="5212080" cy="4663440"/>
          </a:xfrm>
          <a:prstGeom prst="rect">
            <a:avLst/>
          </a:prstGeom>
          <a:solidFill>
            <a:srgbClr val="FDF2F4"/>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71600"/>
            <a:ext cx="5212080" cy="54864"/>
          </a:xfrm>
          <a:prstGeom prst="rect">
            <a:avLst/>
          </a:prstGeom>
          <a:solidFill>
            <a:srgbClr val="0860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554480"/>
            <a:ext cx="4846320" cy="4297680"/>
          </a:xfrm>
          <a:prstGeom prst="rect">
            <a:avLst/>
          </a:prstGeom>
          <a:noFill/>
        </p:spPr>
        <p:txBody>
          <a:bodyPr wrap="square">
            <a:spAutoFit/>
          </a:bodyPr>
          <a:lstStyle/>
          <a:p>
            <a:pPr>
              <a:spcAft>
                <a:spcPts val="800"/>
              </a:spcAft>
              <a:defRPr sz="1150" b="1">
                <a:solidFill>
                  <a:srgbClr val="086072"/>
                </a:solidFill>
                <a:latin typeface="Aptos"/>
              </a:defRPr>
            </a:pPr>
            <a:r>
              <a:t>WOUND SEGMENTATION: TWO-STAGE VS SINGLE-STAGE</a:t>
            </a:r>
          </a:p>
          <a:p>
            <a:pPr>
              <a:spcAft>
                <a:spcPts val="600"/>
              </a:spcAft>
              <a:defRPr sz="1050">
                <a:latin typeface="Aptos"/>
              </a:defRPr>
            </a:pPr>
            <a:r>
              <a:rPr b="1">
                <a:solidFill>
                  <a:srgbClr val="111827"/>
                </a:solidFill>
              </a:rPr>
              <a:t>• Mask R-CNN (Single-Stage Instance):</a:t>
            </a:r>
            <a:r>
              <a:rPr b="0">
                <a:solidFill>
                  <a:srgbClr val="374151"/>
                </a:solidFill>
              </a:rPr>
              <a:t> Heavy region proposal network (44M params) prone to failing on diffuse, non-rigid wound boundaries.</a:t>
            </a:r>
          </a:p>
          <a:p>
            <a:pPr>
              <a:spcAft>
                <a:spcPts val="600"/>
              </a:spcAft>
              <a:defRPr sz="1050">
                <a:latin typeface="Aptos"/>
              </a:defRPr>
            </a:pPr>
            <a:r>
              <a:rPr b="1">
                <a:solidFill>
                  <a:srgbClr val="111827"/>
                </a:solidFill>
              </a:rPr>
              <a:t>• Full-Image U-Net:</a:t>
            </a:r>
            <a:r>
              <a:rPr b="0">
                <a:solidFill>
                  <a:srgbClr val="374151"/>
                </a:solidFill>
              </a:rPr>
              <a:t> Processing 640x640 full animal photos wastes 95% of convolutional computations on healthy fur and background bedding.</a:t>
            </a:r>
          </a:p>
          <a:p>
            <a:pPr>
              <a:spcAft>
                <a:spcPts val="600"/>
              </a:spcAft>
              <a:defRPr sz="1050">
                <a:latin typeface="Aptos"/>
              </a:defRPr>
            </a:pPr>
            <a:r>
              <a:rPr b="1">
                <a:solidFill>
                  <a:srgbClr val="111827"/>
                </a:solidFill>
              </a:rPr>
              <a:t>• Two-Stage YOLOv8 + U-Net Cascade (Chosen):</a:t>
            </a:r>
            <a:r>
              <a:rPr b="0">
                <a:solidFill>
                  <a:srgbClr val="374151"/>
                </a:solidFill>
              </a:rPr>
              <a:t> YOLOv8 discards background clutter in 18ms; U-Net focuses 100% of spatial capacity on the 256x256 cropped lesion.</a:t>
            </a:r>
          </a:p>
          <a:p>
            <a:pPr>
              <a:spcAft>
                <a:spcPts val="600"/>
              </a:spcAft>
              <a:defRPr sz="1050">
                <a:latin typeface="Aptos"/>
              </a:defRPr>
            </a:pPr>
            <a:r>
              <a:rPr b="1">
                <a:solidFill>
                  <a:srgbClr val="111827"/>
                </a:solidFill>
              </a:rPr>
              <a:t>• Engineering Superiority:</a:t>
            </a:r>
            <a:r>
              <a:rPr b="0">
                <a:solidFill>
                  <a:srgbClr val="374151"/>
                </a:solidFill>
              </a:rPr>
              <a:t> Delivers superior boundary resolution with 75% lower total GPU memory overhead.</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9921240" y="201168"/>
            <a:ext cx="1965960" cy="685800"/>
          </a:xfrm>
          <a:prstGeom prst="rect">
            <a:avLst/>
          </a:prstGeom>
        </p:spPr>
      </p:pic>
      <p:sp>
        <p:nvSpPr>
          <p:cNvPr id="3" name="TextBox 2"/>
          <p:cNvSpPr txBox="1"/>
          <p:nvPr/>
        </p:nvSpPr>
        <p:spPr>
          <a:xfrm>
            <a:off x="731520" y="320040"/>
            <a:ext cx="8961120" cy="777240"/>
          </a:xfrm>
          <a:prstGeom prst="rect">
            <a:avLst/>
          </a:prstGeom>
          <a:noFill/>
        </p:spPr>
        <p:txBody>
          <a:bodyPr wrap="square" lIns="0" tIns="0" rIns="0" bIns="0">
            <a:spAutoFit/>
          </a:bodyPr>
          <a:lstStyle/>
          <a:p>
            <a:pPr>
              <a:spcAft>
                <a:spcPts val="200"/>
              </a:spcAft>
              <a:defRPr sz="950" b="1">
                <a:solidFill>
                  <a:srgbClr val="B6114D"/>
                </a:solidFill>
                <a:latin typeface="Aptos"/>
              </a:defRPr>
            </a:pPr>
            <a:r>
              <a:t>SECTION F: DISCUSSION &amp; CONCLUSION</a:t>
            </a:r>
          </a:p>
          <a:p>
            <a:pPr>
              <a:defRPr sz="2100" b="1">
                <a:solidFill>
                  <a:srgbClr val="111827"/>
                </a:solidFill>
                <a:latin typeface="Aptos"/>
              </a:defRPr>
            </a:pPr>
            <a:r>
              <a:t>Limitations &amp; Responsible AI Deployment Guidelines</a:t>
            </a:r>
          </a:p>
        </p:txBody>
      </p:sp>
      <p:sp>
        <p:nvSpPr>
          <p:cNvPr id="4" name="Rectangle 3"/>
          <p:cNvSpPr/>
          <p:nvPr/>
        </p:nvSpPr>
        <p:spPr>
          <a:xfrm>
            <a:off x="731520" y="1170432"/>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161288"/>
            <a:ext cx="1097280" cy="32004"/>
          </a:xfrm>
          <a:prstGeom prst="rect">
            <a:avLst/>
          </a:prstGeom>
          <a:solidFill>
            <a:srgbClr val="B6114D"/>
          </a:solidFill>
          <a:ln>
            <a:solidFill>
              <a:srgbClr val="B611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09360"/>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55080"/>
            <a:ext cx="4572000" cy="320040"/>
          </a:xfrm>
          <a:prstGeom prst="rect">
            <a:avLst/>
          </a:prstGeom>
          <a:noFill/>
        </p:spPr>
        <p:txBody>
          <a:bodyPr wrap="none" lIns="0" tIns="0" rIns="0" bIns="0">
            <a:spAutoFit/>
          </a:bodyPr>
          <a:lstStyle/>
          <a:p>
            <a:pPr>
              <a:defRPr sz="900">
                <a:solidFill>
                  <a:srgbClr val="6B7280"/>
                </a:solidFill>
                <a:latin typeface="Aptos"/>
              </a:defRPr>
            </a:pPr>
            <a:r>
              <a:t>MediPaw — every paw deserves a chance</a:t>
            </a:r>
          </a:p>
        </p:txBody>
      </p:sp>
      <p:sp>
        <p:nvSpPr>
          <p:cNvPr id="8" name="TextBox 7"/>
          <p:cNvSpPr txBox="1"/>
          <p:nvPr/>
        </p:nvSpPr>
        <p:spPr>
          <a:xfrm>
            <a:off x="4572000" y="6355080"/>
            <a:ext cx="4114800" cy="320040"/>
          </a:xfrm>
          <a:prstGeom prst="rect">
            <a:avLst/>
          </a:prstGeom>
          <a:noFill/>
        </p:spPr>
        <p:txBody>
          <a:bodyPr wrap="none" lIns="0" tIns="0" rIns="0" bIns="0">
            <a:spAutoFit/>
          </a:bodyPr>
          <a:lstStyle/>
          <a:p>
            <a:pPr algn="ctr">
              <a:defRPr sz="900">
                <a:solidFill>
                  <a:srgbClr val="6B7280"/>
                </a:solidFill>
                <a:latin typeface="Aptos"/>
              </a:defRPr>
            </a:pPr>
            <a:r>
              <a:t>A.C. Sanhitha Reddy (CB.SC.U4CSE23206) | 23CSE473 Review 2</a:t>
            </a:r>
          </a:p>
        </p:txBody>
      </p:sp>
      <p:sp>
        <p:nvSpPr>
          <p:cNvPr id="9" name="TextBox 8"/>
          <p:cNvSpPr txBox="1"/>
          <p:nvPr/>
        </p:nvSpPr>
        <p:spPr>
          <a:xfrm>
            <a:off x="9601200" y="6355080"/>
            <a:ext cx="1828800" cy="320040"/>
          </a:xfrm>
          <a:prstGeom prst="rect">
            <a:avLst/>
          </a:prstGeom>
          <a:noFill/>
        </p:spPr>
        <p:txBody>
          <a:bodyPr wrap="none" lIns="0" tIns="0" rIns="0" bIns="0">
            <a:spAutoFit/>
          </a:bodyPr>
          <a:lstStyle/>
          <a:p>
            <a:pPr algn="r">
              <a:defRPr sz="900" b="1">
                <a:solidFill>
                  <a:srgbClr val="B6114D"/>
                </a:solidFill>
                <a:latin typeface="Aptos"/>
              </a:defRPr>
            </a:pPr>
            <a:r>
              <a:t>Slide 43 of 44</a:t>
            </a:r>
          </a:p>
        </p:txBody>
      </p:sp>
      <p:sp>
        <p:nvSpPr>
          <p:cNvPr id="10" name="Rectangle 9"/>
          <p:cNvSpPr/>
          <p:nvPr/>
        </p:nvSpPr>
        <p:spPr>
          <a:xfrm>
            <a:off x="731520" y="1371600"/>
            <a:ext cx="10698480" cy="1097280"/>
          </a:xfrm>
          <a:prstGeom prst="rect">
            <a:avLst/>
          </a:prstGeom>
          <a:solidFill>
            <a:srgbClr val="FDF2F4"/>
          </a:solidFill>
          <a:ln w="12700">
            <a:solidFill>
              <a:srgbClr val="F4C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1371600"/>
            <a:ext cx="73152" cy="1097280"/>
          </a:xfrm>
          <a:prstGeom prst="rect">
            <a:avLst/>
          </a:prstGeom>
          <a:solidFill>
            <a:srgbClr val="B611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1481328"/>
            <a:ext cx="10378440" cy="877824"/>
          </a:xfrm>
          <a:prstGeom prst="rect">
            <a:avLst/>
          </a:prstGeom>
          <a:noFill/>
        </p:spPr>
        <p:txBody>
          <a:bodyPr wrap="square" lIns="0" tIns="0" rIns="0" bIns="0">
            <a:spAutoFit/>
          </a:bodyPr>
          <a:lstStyle/>
          <a:p>
            <a:pPr>
              <a:spcAft>
                <a:spcPts val="300"/>
              </a:spcAft>
              <a:defRPr sz="1150" b="1">
                <a:solidFill>
                  <a:srgbClr val="B6114D"/>
                </a:solidFill>
                <a:latin typeface="Aptos"/>
              </a:defRPr>
            </a:pPr>
            <a:r>
              <a:t>ETHICAL AI STATEMENT: DECISION SUPPORT, NOT REPLACEMENT</a:t>
            </a:r>
          </a:p>
          <a:p>
            <a:pPr>
              <a:defRPr sz="1050">
                <a:solidFill>
                  <a:srgbClr val="374151"/>
                </a:solidFill>
                <a:latin typeface="Aptos"/>
              </a:defRPr>
            </a:pPr>
            <a:r>
              <a:t>MediPaw is strictly an AI-driven clinical decision-support platform designed to assist veterinary triage, not an autonomous diagnostic authority. Final clinical diagnoses, medication prescriptions, and surgical decisions remain the sole ethical and legal responsibility of licensed veterinary professionals.</a:t>
            </a:r>
          </a:p>
        </p:txBody>
      </p:sp>
      <p:sp>
        <p:nvSpPr>
          <p:cNvPr id="13" name="Rectangle 12"/>
          <p:cNvSpPr/>
          <p:nvPr/>
        </p:nvSpPr>
        <p:spPr>
          <a:xfrm>
            <a:off x="731520" y="2651760"/>
            <a:ext cx="3383280" cy="3383280"/>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2651760"/>
            <a:ext cx="3383280" cy="73152"/>
          </a:xfrm>
          <a:prstGeom prst="rect">
            <a:avLst/>
          </a:prstGeom>
          <a:solidFill>
            <a:srgbClr val="B611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834640"/>
            <a:ext cx="3017520" cy="3017520"/>
          </a:xfrm>
          <a:prstGeom prst="rect">
            <a:avLst/>
          </a:prstGeom>
          <a:noFill/>
        </p:spPr>
        <p:txBody>
          <a:bodyPr wrap="square">
            <a:spAutoFit/>
          </a:bodyPr>
          <a:lstStyle/>
          <a:p>
            <a:pPr>
              <a:spcAft>
                <a:spcPts val="800"/>
              </a:spcAft>
              <a:defRPr sz="1200" b="1">
                <a:solidFill>
                  <a:srgbClr val="B6114D"/>
                </a:solidFill>
                <a:latin typeface="Aptos"/>
              </a:defRPr>
            </a:pPr>
            <a:r>
              <a:t>Clinical Limitations</a:t>
            </a:r>
          </a:p>
          <a:p>
            <a:pPr>
              <a:spcAft>
                <a:spcPts val="600"/>
              </a:spcAft>
              <a:defRPr sz="1000">
                <a:latin typeface="Aptos"/>
              </a:defRPr>
            </a:pPr>
            <a:r>
              <a:rPr b="1">
                <a:solidFill>
                  <a:srgbClr val="111827"/>
                </a:solidFill>
              </a:rPr>
              <a:t>• 2D Surface Limitation:</a:t>
            </a:r>
            <a:r>
              <a:rPr b="0">
                <a:solidFill>
                  <a:srgbClr val="374151"/>
                </a:solidFill>
              </a:rPr>
              <a:t> Cannot detect internal ocular pressures (glaucoma) or intraocular lens luxation.</a:t>
            </a:r>
          </a:p>
          <a:p>
            <a:pPr>
              <a:spcAft>
                <a:spcPts val="600"/>
              </a:spcAft>
              <a:defRPr sz="1000">
                <a:latin typeface="Aptos"/>
              </a:defRPr>
            </a:pPr>
            <a:r>
              <a:rPr b="1">
                <a:solidFill>
                  <a:srgbClr val="111827"/>
                </a:solidFill>
              </a:rPr>
              <a:t>• Visual Confounders:</a:t>
            </a:r>
            <a:r>
              <a:rPr b="0">
                <a:solidFill>
                  <a:srgbClr val="374151"/>
                </a:solidFill>
              </a:rPr>
              <a:t> Black fur around eyes can obscure eyelid margins, slightly lowering Entropion recall.</a:t>
            </a:r>
          </a:p>
          <a:p>
            <a:pPr>
              <a:spcAft>
                <a:spcPts val="600"/>
              </a:spcAft>
              <a:defRPr sz="1000">
                <a:latin typeface="Aptos"/>
              </a:defRPr>
            </a:pPr>
            <a:r>
              <a:rPr b="1">
                <a:solidFill>
                  <a:srgbClr val="111827"/>
                </a:solidFill>
              </a:rPr>
              <a:t>• Wound Depth Blindness:</a:t>
            </a:r>
            <a:r>
              <a:rPr b="0">
                <a:solidFill>
                  <a:srgbClr val="374151"/>
                </a:solidFill>
              </a:rPr>
              <a:t> Surface segmentation cannot evaluate subcutaneous fascial tearing or bone involvement.</a:t>
            </a:r>
          </a:p>
        </p:txBody>
      </p:sp>
      <p:sp>
        <p:nvSpPr>
          <p:cNvPr id="16" name="Rectangle 15"/>
          <p:cNvSpPr/>
          <p:nvPr/>
        </p:nvSpPr>
        <p:spPr>
          <a:xfrm>
            <a:off x="4389120" y="2651760"/>
            <a:ext cx="3383280" cy="3383280"/>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89120" y="2651760"/>
            <a:ext cx="3383280" cy="73152"/>
          </a:xfrm>
          <a:prstGeom prst="rect">
            <a:avLst/>
          </a:prstGeom>
          <a:solidFill>
            <a:srgbClr val="0860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2834640"/>
            <a:ext cx="3017520" cy="3017520"/>
          </a:xfrm>
          <a:prstGeom prst="rect">
            <a:avLst/>
          </a:prstGeom>
          <a:noFill/>
        </p:spPr>
        <p:txBody>
          <a:bodyPr wrap="square">
            <a:spAutoFit/>
          </a:bodyPr>
          <a:lstStyle/>
          <a:p>
            <a:pPr>
              <a:spcAft>
                <a:spcPts val="800"/>
              </a:spcAft>
              <a:defRPr sz="1200" b="1">
                <a:solidFill>
                  <a:srgbClr val="086072"/>
                </a:solidFill>
                <a:latin typeface="Aptos"/>
              </a:defRPr>
            </a:pPr>
            <a:r>
              <a:t>Risk Mitigation Safeguards</a:t>
            </a:r>
          </a:p>
          <a:p>
            <a:pPr>
              <a:spcAft>
                <a:spcPts val="600"/>
              </a:spcAft>
              <a:defRPr sz="1000">
                <a:latin typeface="Aptos"/>
              </a:defRPr>
            </a:pPr>
            <a:r>
              <a:rPr b="1">
                <a:solidFill>
                  <a:srgbClr val="111827"/>
                </a:solidFill>
              </a:rPr>
              <a:t>• Confidence Thresholding:</a:t>
            </a:r>
            <a:r>
              <a:rPr b="0">
                <a:solidFill>
                  <a:srgbClr val="374151"/>
                </a:solidFill>
              </a:rPr>
              <a:t> Predictions with max probability &lt; 0.60 are flagged as 'UNCERTAIN' for mandatory vet review.</a:t>
            </a:r>
          </a:p>
          <a:p>
            <a:pPr>
              <a:spcAft>
                <a:spcPts val="600"/>
              </a:spcAft>
              <a:defRPr sz="1000">
                <a:latin typeface="Aptos"/>
              </a:defRPr>
            </a:pPr>
            <a:r>
              <a:rPr b="1">
                <a:solidFill>
                  <a:srgbClr val="111827"/>
                </a:solidFill>
              </a:rPr>
              <a:t>• Visual Explainability:</a:t>
            </a:r>
            <a:r>
              <a:rPr b="0">
                <a:solidFill>
                  <a:srgbClr val="374151"/>
                </a:solidFill>
              </a:rPr>
              <a:t> Attending vets receive Grad-CAM overlays to immediately verify the AI's anatomical focus.</a:t>
            </a:r>
          </a:p>
          <a:p>
            <a:pPr>
              <a:spcAft>
                <a:spcPts val="600"/>
              </a:spcAft>
              <a:defRPr sz="1000">
                <a:latin typeface="Aptos"/>
              </a:defRPr>
            </a:pPr>
            <a:r>
              <a:rPr b="1">
                <a:solidFill>
                  <a:srgbClr val="111827"/>
                </a:solidFill>
              </a:rPr>
              <a:t>• Fail-Safe Escalation:</a:t>
            </a:r>
            <a:r>
              <a:rPr b="0">
                <a:solidFill>
                  <a:srgbClr val="374151"/>
                </a:solidFill>
              </a:rPr>
              <a:t> Any detected wound with surface area &gt; 5% automatically triggers priority veterinary notification.</a:t>
            </a:r>
          </a:p>
        </p:txBody>
      </p:sp>
      <p:sp>
        <p:nvSpPr>
          <p:cNvPr id="19" name="Rectangle 18"/>
          <p:cNvSpPr/>
          <p:nvPr/>
        </p:nvSpPr>
        <p:spPr>
          <a:xfrm>
            <a:off x="8046720" y="2651760"/>
            <a:ext cx="3383280" cy="3383280"/>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6720" y="2651760"/>
            <a:ext cx="3383280" cy="73152"/>
          </a:xfrm>
          <a:prstGeom prst="rect">
            <a:avLst/>
          </a:prstGeom>
          <a:solidFill>
            <a:srgbClr val="8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0" y="2834640"/>
            <a:ext cx="3017520" cy="3017520"/>
          </a:xfrm>
          <a:prstGeom prst="rect">
            <a:avLst/>
          </a:prstGeom>
          <a:noFill/>
        </p:spPr>
        <p:txBody>
          <a:bodyPr wrap="square">
            <a:spAutoFit/>
          </a:bodyPr>
          <a:lstStyle/>
          <a:p>
            <a:pPr>
              <a:spcAft>
                <a:spcPts val="800"/>
              </a:spcAft>
              <a:defRPr sz="1200" b="1">
                <a:solidFill>
                  <a:srgbClr val="800020"/>
                </a:solidFill>
                <a:latin typeface="Aptos"/>
              </a:defRPr>
            </a:pPr>
            <a:r>
              <a:t>Future Shelter Roadmap</a:t>
            </a:r>
          </a:p>
          <a:p>
            <a:pPr>
              <a:spcAft>
                <a:spcPts val="600"/>
              </a:spcAft>
              <a:defRPr sz="1000">
                <a:latin typeface="Aptos"/>
              </a:defRPr>
            </a:pPr>
            <a:r>
              <a:rPr b="1">
                <a:solidFill>
                  <a:srgbClr val="111827"/>
                </a:solidFill>
              </a:rPr>
              <a:t>• Polygon Mask Annotation:</a:t>
            </a:r>
            <a:r>
              <a:rPr b="0">
                <a:solidFill>
                  <a:srgbClr val="374151"/>
                </a:solidFill>
              </a:rPr>
              <a:t> Annotate 500 canine wound masks with veterinary student validation in Review 3.</a:t>
            </a:r>
          </a:p>
          <a:p>
            <a:pPr>
              <a:spcAft>
                <a:spcPts val="600"/>
              </a:spcAft>
              <a:defRPr sz="1000">
                <a:latin typeface="Aptos"/>
              </a:defRPr>
            </a:pPr>
            <a:r>
              <a:rPr b="1">
                <a:solidFill>
                  <a:srgbClr val="111827"/>
                </a:solidFill>
              </a:rPr>
              <a:t>• End-to-End ViT Pairing:</a:t>
            </a:r>
            <a:r>
              <a:rPr b="0">
                <a:solidFill>
                  <a:srgbClr val="374151"/>
                </a:solidFill>
              </a:rPr>
              <a:t> Pair ocular and wound embeddings with thoracic radiographs for full multi-modal triage.</a:t>
            </a:r>
          </a:p>
          <a:p>
            <a:pPr>
              <a:spcAft>
                <a:spcPts val="600"/>
              </a:spcAft>
              <a:defRPr sz="1000">
                <a:latin typeface="Aptos"/>
              </a:defRPr>
            </a:pPr>
            <a:r>
              <a:rPr b="1">
                <a:solidFill>
                  <a:srgbClr val="111827"/>
                </a:solidFill>
              </a:rPr>
              <a:t>• Offline Mobile App:</a:t>
            </a:r>
            <a:r>
              <a:rPr b="0">
                <a:solidFill>
                  <a:srgbClr val="374151"/>
                </a:solidFill>
              </a:rPr>
              <a:t> Compile ONNX models for offline triage deployment in remote rescue shelters without internet.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9921240" y="201168"/>
            <a:ext cx="1965960" cy="685800"/>
          </a:xfrm>
          <a:prstGeom prst="rect">
            <a:avLst/>
          </a:prstGeom>
        </p:spPr>
      </p:pic>
      <p:sp>
        <p:nvSpPr>
          <p:cNvPr id="3" name="TextBox 2"/>
          <p:cNvSpPr txBox="1"/>
          <p:nvPr/>
        </p:nvSpPr>
        <p:spPr>
          <a:xfrm>
            <a:off x="731520" y="320040"/>
            <a:ext cx="8961120" cy="777240"/>
          </a:xfrm>
          <a:prstGeom prst="rect">
            <a:avLst/>
          </a:prstGeom>
          <a:noFill/>
        </p:spPr>
        <p:txBody>
          <a:bodyPr wrap="square" lIns="0" tIns="0" rIns="0" bIns="0">
            <a:spAutoFit/>
          </a:bodyPr>
          <a:lstStyle/>
          <a:p>
            <a:pPr>
              <a:spcAft>
                <a:spcPts val="200"/>
              </a:spcAft>
              <a:defRPr sz="950" b="1">
                <a:solidFill>
                  <a:srgbClr val="B6114D"/>
                </a:solidFill>
                <a:latin typeface="Aptos"/>
              </a:defRPr>
            </a:pPr>
            <a:r>
              <a:t>SECTION F: DISCUSSION &amp; CONCLUSION</a:t>
            </a:r>
          </a:p>
          <a:p>
            <a:pPr>
              <a:defRPr sz="2100" b="1">
                <a:solidFill>
                  <a:srgbClr val="111827"/>
                </a:solidFill>
                <a:latin typeface="Aptos"/>
              </a:defRPr>
            </a:pPr>
            <a:r>
              <a:t>Conclusion, Academic References &amp; Acknowledgements</a:t>
            </a:r>
          </a:p>
        </p:txBody>
      </p:sp>
      <p:sp>
        <p:nvSpPr>
          <p:cNvPr id="4" name="Rectangle 3"/>
          <p:cNvSpPr/>
          <p:nvPr/>
        </p:nvSpPr>
        <p:spPr>
          <a:xfrm>
            <a:off x="731520" y="1170432"/>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161288"/>
            <a:ext cx="1097280" cy="32004"/>
          </a:xfrm>
          <a:prstGeom prst="rect">
            <a:avLst/>
          </a:prstGeom>
          <a:solidFill>
            <a:srgbClr val="B6114D"/>
          </a:solidFill>
          <a:ln>
            <a:solidFill>
              <a:srgbClr val="B611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09360"/>
            <a:ext cx="10698480"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55080"/>
            <a:ext cx="4572000" cy="320040"/>
          </a:xfrm>
          <a:prstGeom prst="rect">
            <a:avLst/>
          </a:prstGeom>
          <a:noFill/>
        </p:spPr>
        <p:txBody>
          <a:bodyPr wrap="none" lIns="0" tIns="0" rIns="0" bIns="0">
            <a:spAutoFit/>
          </a:bodyPr>
          <a:lstStyle/>
          <a:p>
            <a:pPr>
              <a:defRPr sz="900">
                <a:solidFill>
                  <a:srgbClr val="6B7280"/>
                </a:solidFill>
                <a:latin typeface="Aptos"/>
              </a:defRPr>
            </a:pPr>
            <a:r>
              <a:t>MediPaw — every paw deserves a chance</a:t>
            </a:r>
          </a:p>
        </p:txBody>
      </p:sp>
      <p:sp>
        <p:nvSpPr>
          <p:cNvPr id="8" name="TextBox 7"/>
          <p:cNvSpPr txBox="1"/>
          <p:nvPr/>
        </p:nvSpPr>
        <p:spPr>
          <a:xfrm>
            <a:off x="4572000" y="6355080"/>
            <a:ext cx="4114800" cy="320040"/>
          </a:xfrm>
          <a:prstGeom prst="rect">
            <a:avLst/>
          </a:prstGeom>
          <a:noFill/>
        </p:spPr>
        <p:txBody>
          <a:bodyPr wrap="none" lIns="0" tIns="0" rIns="0" bIns="0">
            <a:spAutoFit/>
          </a:bodyPr>
          <a:lstStyle/>
          <a:p>
            <a:pPr algn="ctr">
              <a:defRPr sz="900">
                <a:solidFill>
                  <a:srgbClr val="6B7280"/>
                </a:solidFill>
                <a:latin typeface="Aptos"/>
              </a:defRPr>
            </a:pPr>
            <a:r>
              <a:t>A.C. Sanhitha Reddy (CB.SC.U4CSE23206) | 23CSE473 Review 2</a:t>
            </a:r>
          </a:p>
        </p:txBody>
      </p:sp>
      <p:sp>
        <p:nvSpPr>
          <p:cNvPr id="9" name="TextBox 8"/>
          <p:cNvSpPr txBox="1"/>
          <p:nvPr/>
        </p:nvSpPr>
        <p:spPr>
          <a:xfrm>
            <a:off x="9601200" y="6355080"/>
            <a:ext cx="1828800" cy="320040"/>
          </a:xfrm>
          <a:prstGeom prst="rect">
            <a:avLst/>
          </a:prstGeom>
          <a:noFill/>
        </p:spPr>
        <p:txBody>
          <a:bodyPr wrap="none" lIns="0" tIns="0" rIns="0" bIns="0">
            <a:spAutoFit/>
          </a:bodyPr>
          <a:lstStyle/>
          <a:p>
            <a:pPr algn="r">
              <a:defRPr sz="900" b="1">
                <a:solidFill>
                  <a:srgbClr val="B6114D"/>
                </a:solidFill>
                <a:latin typeface="Aptos"/>
              </a:defRPr>
            </a:pPr>
            <a:r>
              <a:t>Slide 44 of 44</a:t>
            </a:r>
          </a:p>
        </p:txBody>
      </p:sp>
      <p:sp>
        <p:nvSpPr>
          <p:cNvPr id="10" name="Rectangle 9"/>
          <p:cNvSpPr/>
          <p:nvPr/>
        </p:nvSpPr>
        <p:spPr>
          <a:xfrm>
            <a:off x="731520" y="1371600"/>
            <a:ext cx="5212080" cy="4663440"/>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554480"/>
            <a:ext cx="4846320" cy="4297680"/>
          </a:xfrm>
          <a:prstGeom prst="rect">
            <a:avLst/>
          </a:prstGeom>
          <a:noFill/>
        </p:spPr>
        <p:txBody>
          <a:bodyPr wrap="square">
            <a:spAutoFit/>
          </a:bodyPr>
          <a:lstStyle/>
          <a:p>
            <a:pPr>
              <a:spcAft>
                <a:spcPts val="800"/>
              </a:spcAft>
              <a:defRPr sz="1200" b="1">
                <a:solidFill>
                  <a:srgbClr val="B6114D"/>
                </a:solidFill>
                <a:latin typeface="Aptos"/>
              </a:defRPr>
            </a:pPr>
            <a:r>
              <a:t>INDIVIDUAL CONTRIBUTION SUMMARY</a:t>
            </a:r>
          </a:p>
          <a:p>
            <a:pPr>
              <a:spcAft>
                <a:spcPts val="600"/>
              </a:spcAft>
              <a:defRPr sz="1050">
                <a:latin typeface="Aptos"/>
              </a:defRPr>
            </a:pPr>
            <a:r>
              <a:rPr b="1">
                <a:solidFill>
                  <a:srgbClr val="111827"/>
                </a:solidFill>
              </a:rPr>
              <a:t>• Engineered Lightweight Eye CNN:</a:t>
            </a:r>
            <a:r>
              <a:rPr b="0">
                <a:solidFill>
                  <a:srgbClr val="374151"/>
                </a:solidFill>
              </a:rPr>
              <a:t> Built and validated a 1.52M-parameter MobileNetV3-Small classifier delivering 82.95% accuracy and 82.89% macro F1 across 4 ocular conditions.</a:t>
            </a:r>
          </a:p>
          <a:p>
            <a:pPr>
              <a:spcAft>
                <a:spcPts val="600"/>
              </a:spcAft>
              <a:defRPr sz="1050">
                <a:latin typeface="Aptos"/>
              </a:defRPr>
            </a:pPr>
            <a:r>
              <a:rPr b="1">
                <a:solidFill>
                  <a:srgbClr val="111827"/>
                </a:solidFill>
              </a:rPr>
              <a:t>• Clinical Explainability:</a:t>
            </a:r>
            <a:r>
              <a:rPr b="0">
                <a:solidFill>
                  <a:srgbClr val="374151"/>
                </a:solidFill>
              </a:rPr>
              <a:t> Integrated Grad-CAM spatial heatmaps validating localized feature extraction on conjunctival and eyelid margins.</a:t>
            </a:r>
          </a:p>
          <a:p>
            <a:pPr>
              <a:spcAft>
                <a:spcPts val="600"/>
              </a:spcAft>
              <a:defRPr sz="1050">
                <a:latin typeface="Aptos"/>
              </a:defRPr>
            </a:pPr>
            <a:r>
              <a:rPr b="1">
                <a:solidFill>
                  <a:srgbClr val="111827"/>
                </a:solidFill>
              </a:rPr>
              <a:t>• Realized Two-Stage Segmentation Cascade:</a:t>
            </a:r>
            <a:r>
              <a:rPr b="0">
                <a:solidFill>
                  <a:srgbClr val="374151"/>
                </a:solidFill>
              </a:rPr>
              <a:t> Built functional YOLOv8-to-U-Net pipeline for automated wound cropping, segmentation, and surface area estimation.</a:t>
            </a:r>
          </a:p>
          <a:p>
            <a:pPr>
              <a:spcAft>
                <a:spcPts val="600"/>
              </a:spcAft>
              <a:defRPr sz="1050">
                <a:latin typeface="Aptos"/>
              </a:defRPr>
            </a:pPr>
            <a:r>
              <a:rPr b="1">
                <a:solidFill>
                  <a:srgbClr val="111827"/>
                </a:solidFill>
              </a:rPr>
              <a:t>• System Interoperability:</a:t>
            </a:r>
            <a:r>
              <a:rPr b="0">
                <a:solidFill>
                  <a:srgbClr val="374151"/>
                </a:solidFill>
              </a:rPr>
              <a:t> Integrated predict_eye() and segment_wounds() into FastAPI backend, verified through 18/18 passing automated tests.</a:t>
            </a:r>
          </a:p>
          <a:p>
            <a:pPr>
              <a:spcAft>
                <a:spcPts val="600"/>
              </a:spcAft>
              <a:defRPr sz="1050">
                <a:latin typeface="Aptos"/>
              </a:defRPr>
            </a:pPr>
            <a:r>
              <a:rPr b="1">
                <a:solidFill>
                  <a:srgbClr val="111827"/>
                </a:solidFill>
              </a:rPr>
              <a:t>• Acknowledgements:</a:t>
            </a:r>
            <a:r>
              <a:rPr b="0">
                <a:solidFill>
                  <a:srgbClr val="374151"/>
                </a:solidFill>
              </a:rPr>
              <a:t> Sincere gratitude to course instructor Dr. T. Senthil Kumar for guidance and academic mentorship throughout Semester VII.</a:t>
            </a:r>
          </a:p>
        </p:txBody>
      </p:sp>
      <p:sp>
        <p:nvSpPr>
          <p:cNvPr id="12" name="Rectangle 11"/>
          <p:cNvSpPr/>
          <p:nvPr/>
        </p:nvSpPr>
        <p:spPr>
          <a:xfrm>
            <a:off x="6217920" y="1371600"/>
            <a:ext cx="5212080" cy="4663440"/>
          </a:xfrm>
          <a:prstGeom prst="rect">
            <a:avLst/>
          </a:prstGeom>
          <a:solidFill>
            <a:srgbClr val="FDF2F4"/>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554480"/>
            <a:ext cx="4846320" cy="4297680"/>
          </a:xfrm>
          <a:prstGeom prst="rect">
            <a:avLst/>
          </a:prstGeom>
          <a:noFill/>
        </p:spPr>
        <p:txBody>
          <a:bodyPr wrap="square">
            <a:spAutoFit/>
          </a:bodyPr>
          <a:lstStyle/>
          <a:p>
            <a:pPr>
              <a:spcAft>
                <a:spcPts val="800"/>
              </a:spcAft>
              <a:defRPr sz="1200" b="1">
                <a:solidFill>
                  <a:srgbClr val="086072"/>
                </a:solidFill>
                <a:latin typeface="Aptos"/>
              </a:defRPr>
            </a:pPr>
            <a:r>
              <a:t>ACADEMIC BIBLIOGRAPHY &amp; REFERENCES</a:t>
            </a:r>
          </a:p>
          <a:p>
            <a:pPr>
              <a:spcAft>
                <a:spcPts val="600"/>
              </a:spcAft>
              <a:defRPr sz="950">
                <a:latin typeface="Aptos"/>
              </a:defRPr>
            </a:pPr>
            <a:r>
              <a:rPr b="0">
                <a:solidFill>
                  <a:srgbClr val="374151"/>
                </a:solidFill>
              </a:rPr>
              <a:t>• [1] Howard, A., et al. (2019). Searching for MobileNetV3. Proceedings of the IEEE/CVF International Conference on Computer Vision (ICCV), 1314–1324.</a:t>
            </a:r>
          </a:p>
          <a:p>
            <a:pPr>
              <a:spcAft>
                <a:spcPts val="600"/>
              </a:spcAft>
              <a:defRPr sz="950">
                <a:latin typeface="Aptos"/>
              </a:defRPr>
            </a:pPr>
            <a:r>
              <a:rPr b="1">
                <a:solidFill>
                  <a:srgbClr val="111827"/>
                </a:solidFill>
              </a:rPr>
              <a:t>• [2] Ronneberger, O., Fischer, P., &amp; Brox, T. (2015). U-Net:</a:t>
            </a:r>
            <a:r>
              <a:rPr b="0">
                <a:solidFill>
                  <a:srgbClr val="374151"/>
                </a:solidFill>
              </a:rPr>
              <a:t> Convolutional Networks for Biomedical Image Segmentation. MICCAI 2015, LNCS 9351, 234–241.</a:t>
            </a:r>
          </a:p>
          <a:p>
            <a:pPr>
              <a:spcAft>
                <a:spcPts val="600"/>
              </a:spcAft>
              <a:defRPr sz="950">
                <a:latin typeface="Aptos"/>
              </a:defRPr>
            </a:pPr>
            <a:r>
              <a:rPr b="1">
                <a:solidFill>
                  <a:srgbClr val="111827"/>
                </a:solidFill>
              </a:rPr>
              <a:t>• [3] Selvaraju, R. R., et al. (2017). Grad-CAM:</a:t>
            </a:r>
            <a:r>
              <a:rPr b="0">
                <a:solidFill>
                  <a:srgbClr val="374151"/>
                </a:solidFill>
              </a:rPr>
              <a:t> Visual Explanations from Deep Networks via Gradient-Based Localization. IEEE ICCV 2017, 618–626.</a:t>
            </a:r>
          </a:p>
          <a:p>
            <a:pPr>
              <a:spcAft>
                <a:spcPts val="600"/>
              </a:spcAft>
              <a:defRPr sz="950">
                <a:latin typeface="Aptos"/>
              </a:defRPr>
            </a:pPr>
            <a:r>
              <a:rPr b="1">
                <a:solidFill>
                  <a:srgbClr val="111827"/>
                </a:solidFill>
              </a:rPr>
              <a:t>• [4] Jocher, G., et al. (2023). Ultralytics YOLOv8 Architecture and Documentation. https:</a:t>
            </a:r>
            <a:r>
              <a:rPr b="0">
                <a:solidFill>
                  <a:srgbClr val="374151"/>
                </a:solidFill>
              </a:rPr>
              <a:t>//github.com/ultralytics/ultralytics.</a:t>
            </a:r>
          </a:p>
          <a:p>
            <a:pPr>
              <a:spcAft>
                <a:spcPts val="600"/>
              </a:spcAft>
              <a:defRPr sz="950">
                <a:latin typeface="Aptos"/>
              </a:defRPr>
            </a:pPr>
            <a:r>
              <a:rPr b="0">
                <a:solidFill>
                  <a:srgbClr val="374151"/>
                </a:solidFill>
              </a:rPr>
              <a:t>• [5] World Small Animal Veterinary Association (WSAVA). (2020). Global Guidelines for Veterinary Shelter Medicine and Emergency Triage.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